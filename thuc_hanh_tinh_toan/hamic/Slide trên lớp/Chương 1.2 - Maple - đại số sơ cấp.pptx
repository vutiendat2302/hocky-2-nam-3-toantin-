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8" r:id="rId11"/>
    <p:sldId id="269" r:id="rId12"/>
    <p:sldId id="272" r:id="rId13"/>
    <p:sldId id="275" r:id="rId14"/>
    <p:sldId id="276" r:id="rId15"/>
    <p:sldId id="271" r:id="rId16"/>
    <p:sldId id="274" r:id="rId17"/>
    <p:sldId id="277" r:id="rId18"/>
    <p:sldId id="278" r:id="rId19"/>
    <p:sldId id="27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3A126-00A6-4069-BBA4-5C50668CE28E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2D74C-DBF8-4DF9-8AF7-B9CCC46892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7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2D74C-DBF8-4DF9-8AF7-B9CCC468923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43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8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84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61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36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09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5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0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43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20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03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98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6ABA0-A348-4D1A-B2E0-25F6C6DDAED6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34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Chương</a:t>
            </a:r>
            <a:r>
              <a:rPr lang="en-US" dirty="0" smtClean="0"/>
              <a:t> 1.2 – Maple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sơ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44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 smtClean="0"/>
              <a:t>1.2. Maple </a:t>
            </a:r>
            <a:r>
              <a:rPr lang="en-US" b="1" u="sng" dirty="0" err="1" smtClean="0"/>
              <a:t>với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đại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số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sơ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cấp</a:t>
            </a:r>
            <a:endParaRPr lang="en-US" b="1" u="sng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b="1" u="sng" dirty="0" smtClean="0"/>
          </a:p>
          <a:p>
            <a:pPr marL="0" indent="0" algn="ctr">
              <a:buNone/>
            </a:pPr>
            <a:r>
              <a:rPr lang="en-US" dirty="0" smtClean="0"/>
              <a:t>1. </a:t>
            </a:r>
            <a:r>
              <a:rPr lang="en-US" dirty="0" err="1" smtClean="0"/>
              <a:t>Rút</a:t>
            </a:r>
            <a:r>
              <a:rPr lang="en-US" dirty="0" smtClean="0"/>
              <a:t> </a:t>
            </a:r>
            <a:r>
              <a:rPr lang="en-US" dirty="0" err="1" smtClean="0"/>
              <a:t>gọn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2.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triển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3.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4.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578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u="sng" dirty="0" smtClean="0"/>
              <a:t>1. </a:t>
            </a:r>
            <a:r>
              <a:rPr lang="en-US" b="1" i="1" u="sng" dirty="0" err="1" smtClean="0"/>
              <a:t>Rút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gọn</a:t>
            </a:r>
            <a:r>
              <a:rPr lang="en-US" b="1" i="1" u="sng" dirty="0" smtClean="0"/>
              <a:t>                                                        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C00000"/>
                </a:solidFill>
              </a:rPr>
              <a:t>simplify(</a:t>
            </a:r>
            <a:r>
              <a:rPr lang="en-US" dirty="0" err="1" smtClean="0">
                <a:solidFill>
                  <a:srgbClr val="C00000"/>
                </a:solidFill>
              </a:rPr>
              <a:t>exp</a:t>
            </a:r>
            <a:r>
              <a:rPr lang="en-US" dirty="0" smtClean="0">
                <a:solidFill>
                  <a:srgbClr val="C00000"/>
                </a:solidFill>
              </a:rPr>
              <a:t>); simplify(</a:t>
            </a:r>
            <a:r>
              <a:rPr lang="en-US" dirty="0" err="1" smtClean="0">
                <a:solidFill>
                  <a:srgbClr val="C00000"/>
                </a:solidFill>
              </a:rPr>
              <a:t>exp</a:t>
            </a:r>
            <a:r>
              <a:rPr lang="en-US" dirty="0" smtClean="0">
                <a:solidFill>
                  <a:srgbClr val="C00000"/>
                </a:solidFill>
              </a:rPr>
              <a:t>, rule);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: rule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tắc</a:t>
            </a:r>
            <a:r>
              <a:rPr lang="en-US" dirty="0" smtClean="0"/>
              <a:t> </a:t>
            </a:r>
            <a:r>
              <a:rPr lang="en-US" dirty="0" err="1" smtClean="0"/>
              <a:t>rút</a:t>
            </a:r>
            <a:r>
              <a:rPr lang="en-US" dirty="0" smtClean="0"/>
              <a:t> </a:t>
            </a:r>
            <a:r>
              <a:rPr lang="en-US" dirty="0" err="1" smtClean="0"/>
              <a:t>gọn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r</a:t>
            </a:r>
            <a:r>
              <a:rPr lang="en-US" dirty="0" smtClean="0"/>
              <a:t>ule = trig (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rút</a:t>
            </a:r>
            <a:r>
              <a:rPr lang="en-US" dirty="0" smtClean="0"/>
              <a:t> </a:t>
            </a:r>
            <a:r>
              <a:rPr lang="en-US" dirty="0" err="1" smtClean="0"/>
              <a:t>gọn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giác</a:t>
            </a:r>
            <a:r>
              <a:rPr lang="en-US" dirty="0" smtClean="0"/>
              <a:t>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r</a:t>
            </a:r>
            <a:r>
              <a:rPr lang="en-US" dirty="0" smtClean="0"/>
              <a:t>ule = power (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rút</a:t>
            </a:r>
            <a:r>
              <a:rPr lang="en-US" dirty="0" smtClean="0"/>
              <a:t> </a:t>
            </a:r>
            <a:r>
              <a:rPr lang="en-US" dirty="0" err="1" smtClean="0"/>
              <a:t>gọn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,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mũ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logarit</a:t>
            </a:r>
            <a:r>
              <a:rPr lang="en-US" dirty="0" smtClean="0"/>
              <a:t>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rule = radical(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rút</a:t>
            </a:r>
            <a:r>
              <a:rPr lang="en-US" dirty="0" smtClean="0"/>
              <a:t> </a:t>
            </a:r>
            <a:r>
              <a:rPr lang="en-US" dirty="0" err="1" smtClean="0"/>
              <a:t>gọn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hạng</a:t>
            </a:r>
            <a:r>
              <a:rPr lang="en-US" dirty="0" smtClean="0"/>
              <a:t> </a:t>
            </a:r>
            <a:r>
              <a:rPr lang="en-US" dirty="0" err="1" smtClean="0"/>
              <a:t>chứa</a:t>
            </a:r>
            <a:r>
              <a:rPr lang="en-US" dirty="0" smtClean="0"/>
              <a:t> </a:t>
            </a:r>
            <a:r>
              <a:rPr lang="en-US" dirty="0" err="1" smtClean="0"/>
              <a:t>căn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612325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endParaRPr lang="en-US" b="1" dirty="0" smtClean="0">
              <a:solidFill>
                <a:srgbClr val="00B050"/>
              </a:solidFill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</a:t>
            </a: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simplify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087858"/>
              </p:ext>
            </p:extLst>
          </p:nvPr>
        </p:nvGraphicFramePr>
        <p:xfrm>
          <a:off x="3360000" y="2296076"/>
          <a:ext cx="547200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Equation" r:id="rId3" imgW="2895480" imgH="228600" progId="Equation.DSMT4">
                  <p:embed/>
                </p:oleObj>
              </mc:Choice>
              <mc:Fallback>
                <p:oleObj name="Equation" r:id="rId3" imgW="2895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60000" y="2296076"/>
                        <a:ext cx="5472000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8074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u="sng" dirty="0" smtClean="0"/>
              <a:t>2. </a:t>
            </a:r>
            <a:r>
              <a:rPr lang="en-US" b="1" i="1" u="sng" dirty="0" err="1" smtClean="0"/>
              <a:t>Khai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triển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tích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thành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số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hạng</a:t>
            </a:r>
            <a:r>
              <a:rPr lang="en-US" b="1" i="1" u="sng" dirty="0" smtClean="0"/>
              <a:t>, </a:t>
            </a:r>
            <a:r>
              <a:rPr lang="en-US" b="1" i="1" u="sng" dirty="0" err="1" smtClean="0"/>
              <a:t>các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giá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trị</a:t>
            </a:r>
            <a:r>
              <a:rPr lang="en-US" b="1" i="1" u="sng" dirty="0"/>
              <a:t> </a:t>
            </a:r>
            <a:r>
              <a:rPr lang="en-US" b="1" i="1" u="sng" dirty="0" err="1" smtClean="0"/>
              <a:t>lượng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giác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của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tổng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thành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tích</a:t>
            </a:r>
            <a:endParaRPr lang="en-US" b="1" i="1" u="sng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US" dirty="0" smtClean="0">
                <a:solidFill>
                  <a:srgbClr val="C00000"/>
                </a:solidFill>
              </a:rPr>
              <a:t>xpand(</a:t>
            </a:r>
            <a:r>
              <a:rPr lang="en-US" dirty="0" err="1" smtClean="0">
                <a:solidFill>
                  <a:srgbClr val="C00000"/>
                </a:solidFill>
              </a:rPr>
              <a:t>exp</a:t>
            </a:r>
            <a:r>
              <a:rPr lang="en-US" dirty="0" smtClean="0">
                <a:solidFill>
                  <a:srgbClr val="C00000"/>
                </a:solidFill>
              </a:rPr>
              <a:t>);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014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endParaRPr lang="en-US" b="1" dirty="0" smtClean="0">
              <a:solidFill>
                <a:srgbClr val="00B05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So </a:t>
            </a:r>
            <a:r>
              <a:rPr lang="en-US" dirty="0" err="1" smtClean="0"/>
              <a:t>sánh</a:t>
            </a:r>
            <a:r>
              <a:rPr lang="en-US" dirty="0" smtClean="0"/>
              <a:t> </a:t>
            </a: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simplify </a:t>
            </a:r>
            <a:r>
              <a:rPr lang="en-US" dirty="0" err="1" smtClean="0"/>
              <a:t>và</a:t>
            </a:r>
            <a:r>
              <a:rPr lang="en-US" dirty="0" smtClean="0"/>
              <a:t> expand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Exp1 = (x + y + z)</a:t>
            </a:r>
            <a:r>
              <a:rPr lang="en-US" baseline="30000" dirty="0" smtClean="0"/>
              <a:t>2</a:t>
            </a:r>
            <a:r>
              <a:rPr lang="en-US" dirty="0" smtClean="0"/>
              <a:t> – (x + y)</a:t>
            </a:r>
            <a:r>
              <a:rPr lang="en-US" baseline="30000" dirty="0" smtClean="0"/>
              <a:t>2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Exp2 = cos(a + b) – e</a:t>
            </a:r>
            <a:r>
              <a:rPr lang="en-US" baseline="30000" dirty="0" smtClean="0"/>
              <a:t>(a + b)</a:t>
            </a:r>
            <a:r>
              <a:rPr lang="en-US" dirty="0" smtClean="0"/>
              <a:t> + (n + 1)!</a:t>
            </a:r>
            <a:r>
              <a:rPr lang="en-US" baseline="30000" dirty="0" smtClean="0"/>
              <a:t>2</a:t>
            </a:r>
            <a:r>
              <a:rPr lang="en-US" dirty="0" smtClean="0"/>
              <a:t>/n!</a:t>
            </a:r>
            <a:r>
              <a:rPr lang="en-US" baseline="30000" dirty="0" smtClean="0"/>
              <a:t>2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116586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u="sng" dirty="0" smtClean="0"/>
              <a:t>3. </a:t>
            </a:r>
            <a:r>
              <a:rPr lang="en-US" b="1" i="1" u="sng" dirty="0" err="1" smtClean="0"/>
              <a:t>Kết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hợp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các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số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hạng</a:t>
            </a:r>
            <a:endParaRPr lang="en-US" b="1" i="1" u="sng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C00000"/>
                </a:solidFill>
              </a:rPr>
              <a:t>combine(</a:t>
            </a:r>
            <a:r>
              <a:rPr lang="en-US" dirty="0" err="1" smtClean="0">
                <a:solidFill>
                  <a:srgbClr val="C00000"/>
                </a:solidFill>
              </a:rPr>
              <a:t>exp</a:t>
            </a:r>
            <a:r>
              <a:rPr lang="en-US" dirty="0" smtClean="0">
                <a:solidFill>
                  <a:srgbClr val="C00000"/>
                </a:solidFill>
              </a:rPr>
              <a:t>, rule);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rule = trig –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biến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tích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giá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trị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lượng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giác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thành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tổng</a:t>
            </a:r>
            <a:endParaRPr lang="en-US" dirty="0" smtClean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rule =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exp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–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biến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công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thức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tích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các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hàm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số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mũ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thành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hàm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mũ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tổng</a:t>
            </a:r>
            <a:endParaRPr lang="en-US" dirty="0" smtClean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rule = ln –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biến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tổng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logarit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thành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logarit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tích</a:t>
            </a:r>
            <a:endParaRPr lang="en-US" dirty="0" smtClean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rule = power –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biến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tích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các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lũy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thừa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thành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lũy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thừa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của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tổng</a:t>
            </a:r>
            <a:endParaRPr lang="en-US" dirty="0" smtClean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852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endParaRPr lang="en-US" b="1" dirty="0">
              <a:solidFill>
                <a:srgbClr val="00B05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combine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tắc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Eq</a:t>
            </a:r>
            <a:r>
              <a:rPr lang="en-US" dirty="0" smtClean="0"/>
              <a:t> = x</a:t>
            </a:r>
            <a:r>
              <a:rPr lang="en-US" baseline="30000" dirty="0" smtClean="0"/>
              <a:t>2</a:t>
            </a:r>
            <a:r>
              <a:rPr lang="en-US" dirty="0" smtClean="0"/>
              <a:t>(x</a:t>
            </a:r>
            <a:r>
              <a:rPr lang="en-US" baseline="30000" dirty="0" smtClean="0"/>
              <a:t>3</a:t>
            </a:r>
            <a:r>
              <a:rPr lang="en-US" dirty="0" smtClean="0"/>
              <a:t>+1) + 2cos</a:t>
            </a:r>
            <a:r>
              <a:rPr lang="en-US" baseline="30000" dirty="0" smtClean="0"/>
              <a:t>2</a:t>
            </a:r>
            <a:r>
              <a:rPr lang="en-US" dirty="0" smtClean="0"/>
              <a:t>(x/2) + 2lnx – e</a:t>
            </a:r>
            <a:r>
              <a:rPr lang="en-US" baseline="30000" dirty="0" smtClean="0"/>
              <a:t>x</a:t>
            </a:r>
            <a:r>
              <a:rPr lang="en-US" dirty="0" smtClean="0"/>
              <a:t>e</a:t>
            </a:r>
            <a:r>
              <a:rPr lang="en-US" baseline="30000" dirty="0" smtClean="0"/>
              <a:t>2</a:t>
            </a:r>
            <a:r>
              <a:rPr lang="en-US" dirty="0" smtClean="0"/>
              <a:t> - </a:t>
            </a:r>
            <a:r>
              <a:rPr lang="en-US" dirty="0" err="1" smtClean="0"/>
              <a:t>lny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065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u="sng" dirty="0" smtClean="0"/>
              <a:t>4. </a:t>
            </a:r>
            <a:r>
              <a:rPr lang="en-US" b="1" i="1" u="sng" dirty="0" err="1" smtClean="0"/>
              <a:t>Giản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ước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phân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số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bằng</a:t>
            </a:r>
            <a:r>
              <a:rPr lang="en-US" b="1" i="1" u="sng" dirty="0" smtClean="0"/>
              <a:t> normal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C00000"/>
                </a:solidFill>
              </a:rPr>
              <a:t>normal(</a:t>
            </a:r>
            <a:r>
              <a:rPr lang="en-US" dirty="0" err="1" smtClean="0">
                <a:solidFill>
                  <a:srgbClr val="C00000"/>
                </a:solidFill>
              </a:rPr>
              <a:t>exp</a:t>
            </a:r>
            <a:r>
              <a:rPr lang="en-US" dirty="0" smtClean="0">
                <a:solidFill>
                  <a:srgbClr val="C00000"/>
                </a:solidFill>
              </a:rPr>
              <a:t>, expanded);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expanded –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mong</a:t>
            </a:r>
            <a:r>
              <a:rPr lang="en-US" dirty="0" smtClean="0"/>
              <a:t> </a:t>
            </a:r>
            <a:r>
              <a:rPr lang="en-US" dirty="0" err="1" smtClean="0"/>
              <a:t>muốn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mẫu</a:t>
            </a:r>
            <a:r>
              <a:rPr lang="en-US" dirty="0" smtClean="0"/>
              <a:t> </a:t>
            </a:r>
            <a:r>
              <a:rPr lang="en-US" dirty="0" err="1" smtClean="0"/>
              <a:t>dưới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198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u="sng" dirty="0" smtClean="0"/>
              <a:t>5. </a:t>
            </a:r>
            <a:r>
              <a:rPr lang="en-US" b="1" i="1" u="sng" dirty="0" err="1" smtClean="0"/>
              <a:t>Tổ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chức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lại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đa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thức</a:t>
            </a:r>
            <a:r>
              <a:rPr lang="en-US" b="1" i="1" u="sng" dirty="0" smtClean="0"/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C00000"/>
                </a:solidFill>
              </a:rPr>
              <a:t>collect(</a:t>
            </a:r>
            <a:r>
              <a:rPr lang="en-US" dirty="0" err="1" smtClean="0">
                <a:solidFill>
                  <a:srgbClr val="C00000"/>
                </a:solidFill>
              </a:rPr>
              <a:t>exp</a:t>
            </a:r>
            <a:r>
              <a:rPr lang="en-US" dirty="0" smtClean="0">
                <a:solidFill>
                  <a:srgbClr val="C00000"/>
                </a:solidFill>
              </a:rPr>
              <a:t>, </a:t>
            </a:r>
            <a:r>
              <a:rPr lang="en-US" dirty="0" err="1" smtClean="0">
                <a:solidFill>
                  <a:srgbClr val="C00000"/>
                </a:solidFill>
              </a:rPr>
              <a:t>var</a:t>
            </a:r>
            <a:r>
              <a:rPr lang="en-US" dirty="0" smtClean="0">
                <a:solidFill>
                  <a:srgbClr val="C00000"/>
                </a:solidFill>
              </a:rPr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. </a:t>
            </a:r>
            <a:r>
              <a:rPr lang="en-US" dirty="0" smtClean="0"/>
              <a:t>Cho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eq</a:t>
            </a:r>
            <a:r>
              <a:rPr lang="en-US" dirty="0" smtClean="0"/>
              <a:t> = m</a:t>
            </a:r>
            <a:r>
              <a:rPr lang="en-US" baseline="30000" dirty="0" smtClean="0"/>
              <a:t>2</a:t>
            </a:r>
            <a:r>
              <a:rPr lang="en-US" dirty="0" smtClean="0"/>
              <a:t>x</a:t>
            </a:r>
            <a:r>
              <a:rPr lang="en-US" baseline="30000" dirty="0" smtClean="0"/>
              <a:t>2</a:t>
            </a:r>
            <a:r>
              <a:rPr lang="en-US" dirty="0" smtClean="0"/>
              <a:t> + 2mxy + mx</a:t>
            </a:r>
            <a:r>
              <a:rPr lang="en-US" baseline="30000" dirty="0" smtClean="0"/>
              <a:t>2</a:t>
            </a:r>
            <a:r>
              <a:rPr lang="en-US" dirty="0" smtClean="0"/>
              <a:t> + m</a:t>
            </a:r>
            <a:r>
              <a:rPr lang="en-US" baseline="30000" dirty="0" smtClean="0"/>
              <a:t>2</a:t>
            </a:r>
            <a:r>
              <a:rPr lang="en-US" dirty="0" smtClean="0"/>
              <a:t> – 2m + 1. </a:t>
            </a:r>
            <a:r>
              <a:rPr lang="en-US" dirty="0" err="1" smtClean="0"/>
              <a:t>Hãy</a:t>
            </a:r>
            <a:r>
              <a:rPr lang="en-US" dirty="0" smtClean="0"/>
              <a:t> </a:t>
            </a:r>
            <a:r>
              <a:rPr lang="en-US" dirty="0" err="1" smtClean="0"/>
              <a:t>sắp</a:t>
            </a:r>
            <a:r>
              <a:rPr lang="en-US" dirty="0" smtClean="0"/>
              <a:t> </a:t>
            </a:r>
            <a:r>
              <a:rPr lang="en-US" dirty="0" err="1" smtClean="0"/>
              <a:t>xếp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x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collect(</a:t>
            </a:r>
            <a:r>
              <a:rPr lang="en-US" dirty="0" err="1" smtClean="0"/>
              <a:t>eq</a:t>
            </a:r>
            <a:r>
              <a:rPr lang="en-US" dirty="0" smtClean="0"/>
              <a:t>, x);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collect(</a:t>
            </a:r>
            <a:r>
              <a:rPr lang="en-US" dirty="0" err="1" smtClean="0"/>
              <a:t>eq,x,factor</a:t>
            </a:r>
            <a:r>
              <a:rPr lang="en-US" dirty="0" smtClean="0"/>
              <a:t>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factor </a:t>
            </a:r>
            <a:r>
              <a:rPr lang="en-US" dirty="0" err="1" smtClean="0"/>
              <a:t>giúp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dưới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893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u="sng" dirty="0" smtClean="0"/>
              <a:t>6. </a:t>
            </a:r>
            <a:r>
              <a:rPr lang="en-US" b="1" i="1" u="sng" dirty="0" err="1" smtClean="0"/>
              <a:t>Phân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tích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đa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thức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thành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thừa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số</a:t>
            </a:r>
            <a:endParaRPr lang="en-US" b="1" i="1" u="sng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C00000"/>
                </a:solidFill>
              </a:rPr>
              <a:t>factor(</a:t>
            </a:r>
            <a:r>
              <a:rPr lang="en-US" dirty="0" err="1" smtClean="0">
                <a:solidFill>
                  <a:srgbClr val="C00000"/>
                </a:solidFill>
              </a:rPr>
              <a:t>exp</a:t>
            </a:r>
            <a:r>
              <a:rPr lang="en-US" dirty="0" smtClean="0">
                <a:solidFill>
                  <a:srgbClr val="C00000"/>
                </a:solidFill>
              </a:rPr>
              <a:t>); factor(</a:t>
            </a:r>
            <a:r>
              <a:rPr lang="en-US" dirty="0" err="1" smtClean="0">
                <a:solidFill>
                  <a:srgbClr val="C00000"/>
                </a:solidFill>
              </a:rPr>
              <a:t>exp</a:t>
            </a:r>
            <a:r>
              <a:rPr lang="en-US" dirty="0" smtClean="0">
                <a:solidFill>
                  <a:srgbClr val="C00000"/>
                </a:solidFill>
              </a:rPr>
              <a:t>, </a:t>
            </a:r>
            <a:r>
              <a:rPr lang="en-US" dirty="0" err="1" smtClean="0">
                <a:solidFill>
                  <a:srgbClr val="C00000"/>
                </a:solidFill>
              </a:rPr>
              <a:t>trường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số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dirty="0" smtClean="0"/>
              <a:t>.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eq</a:t>
            </a:r>
            <a:r>
              <a:rPr lang="en-US" dirty="0" smtClean="0"/>
              <a:t> = x</a:t>
            </a:r>
            <a:r>
              <a:rPr lang="en-US" baseline="30000" dirty="0" smtClean="0"/>
              <a:t>2</a:t>
            </a:r>
            <a:r>
              <a:rPr lang="en-US" dirty="0" smtClean="0"/>
              <a:t> + 9/4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			factor(</a:t>
            </a:r>
            <a:r>
              <a:rPr lang="en-US" dirty="0" err="1" smtClean="0"/>
              <a:t>eq</a:t>
            </a:r>
            <a:r>
              <a:rPr lang="en-US" dirty="0" smtClean="0"/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			factor(</a:t>
            </a:r>
            <a:r>
              <a:rPr lang="en-US" dirty="0" err="1" smtClean="0"/>
              <a:t>eq</a:t>
            </a:r>
            <a:r>
              <a:rPr lang="en-US" dirty="0" smtClean="0"/>
              <a:t>, I);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I –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379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u="sng" dirty="0" smtClean="0"/>
              <a:t>7. </a:t>
            </a:r>
            <a:r>
              <a:rPr lang="en-US" b="1" i="1" u="sng" dirty="0" err="1" smtClean="0"/>
              <a:t>Số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phức</a:t>
            </a:r>
            <a:endParaRPr lang="en-US" b="1" i="1" u="sng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,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ảo</a:t>
            </a:r>
            <a:r>
              <a:rPr lang="en-US" dirty="0" smtClean="0"/>
              <a:t>,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, </a:t>
            </a:r>
            <a:r>
              <a:rPr lang="en-US" dirty="0" err="1" smtClean="0"/>
              <a:t>modul</a:t>
            </a:r>
            <a:r>
              <a:rPr lang="en-US" dirty="0"/>
              <a:t>,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góc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z = a + </a:t>
            </a:r>
            <a:r>
              <a:rPr lang="en-US" dirty="0" err="1" smtClean="0"/>
              <a:t>ib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err="1" smtClean="0">
                <a:solidFill>
                  <a:srgbClr val="C00000"/>
                </a:solidFill>
              </a:rPr>
              <a:t>Im</a:t>
            </a:r>
            <a:r>
              <a:rPr lang="en-US" dirty="0" smtClean="0">
                <a:solidFill>
                  <a:srgbClr val="C00000"/>
                </a:solidFill>
              </a:rPr>
              <a:t>(z); Re(z); </a:t>
            </a:r>
            <a:r>
              <a:rPr lang="en-US" dirty="0">
                <a:solidFill>
                  <a:srgbClr val="C00000"/>
                </a:solidFill>
              </a:rPr>
              <a:t>abs(z); </a:t>
            </a:r>
            <a:r>
              <a:rPr lang="en-US" dirty="0" smtClean="0">
                <a:solidFill>
                  <a:srgbClr val="C00000"/>
                </a:solidFill>
              </a:rPr>
              <a:t>argument(z); conjugate(z);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59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a + </a:t>
            </a:r>
            <a:r>
              <a:rPr lang="en-US" dirty="0" err="1" smtClean="0"/>
              <a:t>ib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err="1" smtClean="0">
                <a:solidFill>
                  <a:srgbClr val="C00000"/>
                </a:solidFill>
              </a:rPr>
              <a:t>evalc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dirty="0" err="1" smtClean="0">
                <a:solidFill>
                  <a:srgbClr val="C00000"/>
                </a:solidFill>
              </a:rPr>
              <a:t>exp</a:t>
            </a:r>
            <a:r>
              <a:rPr lang="en-US" dirty="0" smtClean="0">
                <a:solidFill>
                  <a:srgbClr val="C00000"/>
                </a:solidFill>
              </a:rPr>
              <a:t>);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evalc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exp1 + </a:t>
            </a:r>
            <a:r>
              <a:rPr lang="en-US" dirty="0" err="1" smtClean="0"/>
              <a:t>i</a:t>
            </a:r>
            <a:r>
              <a:rPr lang="en-US" dirty="0" smtClean="0"/>
              <a:t>*exp2,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(combine)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139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. </a:t>
            </a:r>
            <a:r>
              <a:rPr lang="en-US" dirty="0" smtClean="0"/>
              <a:t>Cho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Hãy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,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,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ảo</a:t>
            </a:r>
            <a:r>
              <a:rPr lang="en-US" dirty="0" smtClean="0"/>
              <a:t>, </a:t>
            </a:r>
            <a:r>
              <a:rPr lang="en-US" dirty="0" err="1" smtClean="0"/>
              <a:t>modul</a:t>
            </a:r>
            <a:r>
              <a:rPr lang="en-US" dirty="0" smtClean="0"/>
              <a:t>,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góc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z. </a:t>
            </a:r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506393"/>
              </p:ext>
            </p:extLst>
          </p:nvPr>
        </p:nvGraphicFramePr>
        <p:xfrm>
          <a:off x="5181600" y="1522413"/>
          <a:ext cx="14160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name="Equation" r:id="rId3" imgW="749160" imgH="228600" progId="Equation.DSMT4">
                  <p:embed/>
                </p:oleObj>
              </mc:Choice>
              <mc:Fallback>
                <p:oleObj name="Equation" r:id="rId3" imgW="749160" imgH="2286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81600" y="1522413"/>
                        <a:ext cx="141605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4611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chemeClr val="accent2">
                    <a:lumMod val="50000"/>
                  </a:schemeClr>
                </a:solidFill>
              </a:rPr>
              <a:t>Bài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accent2">
                    <a:lumMod val="50000"/>
                  </a:schemeClr>
                </a:solidFill>
              </a:rPr>
              <a:t>tập</a:t>
            </a:r>
            <a:endParaRPr lang="en-US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(a + b+ c)(a</a:t>
            </a:r>
            <a:r>
              <a:rPr lang="en-US" baseline="30000" dirty="0" smtClean="0"/>
              <a:t>2</a:t>
            </a:r>
            <a:r>
              <a:rPr lang="en-US" dirty="0" smtClean="0"/>
              <a:t> + b</a:t>
            </a:r>
            <a:r>
              <a:rPr lang="en-US" baseline="30000" dirty="0" smtClean="0"/>
              <a:t>2</a:t>
            </a:r>
            <a:r>
              <a:rPr lang="en-US" dirty="0" smtClean="0"/>
              <a:t> + c</a:t>
            </a:r>
            <a:r>
              <a:rPr lang="en-US" baseline="30000" dirty="0" smtClean="0"/>
              <a:t>2</a:t>
            </a:r>
            <a:r>
              <a:rPr lang="en-US" dirty="0" smtClean="0"/>
              <a:t> – ab – </a:t>
            </a:r>
            <a:r>
              <a:rPr lang="en-US" dirty="0" err="1" smtClean="0"/>
              <a:t>bc</a:t>
            </a:r>
            <a:r>
              <a:rPr lang="en-US" dirty="0" smtClean="0"/>
              <a:t> – ca)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: x</a:t>
            </a:r>
            <a:r>
              <a:rPr lang="en-US" baseline="30000" dirty="0" smtClean="0"/>
              <a:t>10</a:t>
            </a:r>
            <a:r>
              <a:rPr lang="en-US" dirty="0" smtClean="0"/>
              <a:t> – x</a:t>
            </a:r>
            <a:r>
              <a:rPr lang="en-US" baseline="30000" dirty="0" smtClean="0"/>
              <a:t>8</a:t>
            </a:r>
            <a:r>
              <a:rPr lang="en-US" dirty="0" smtClean="0"/>
              <a:t> – 2x</a:t>
            </a:r>
            <a:r>
              <a:rPr lang="en-US" baseline="30000" dirty="0" smtClean="0"/>
              <a:t>7</a:t>
            </a:r>
            <a:r>
              <a:rPr lang="en-US" dirty="0" smtClean="0"/>
              <a:t> – x</a:t>
            </a:r>
            <a:r>
              <a:rPr lang="en-US" baseline="30000" dirty="0" smtClean="0"/>
              <a:t>6</a:t>
            </a:r>
            <a:r>
              <a:rPr lang="en-US" dirty="0" smtClean="0"/>
              <a:t> – x</a:t>
            </a:r>
            <a:r>
              <a:rPr lang="en-US" baseline="30000" dirty="0" smtClean="0"/>
              <a:t>4</a:t>
            </a:r>
            <a:r>
              <a:rPr lang="en-US" dirty="0" smtClean="0"/>
              <a:t> + x</a:t>
            </a:r>
            <a:r>
              <a:rPr lang="en-US" baseline="30000" dirty="0" smtClean="0"/>
              <a:t>2</a:t>
            </a:r>
            <a:r>
              <a:rPr lang="en-US" dirty="0" smtClean="0"/>
              <a:t> + 2x + 1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cos(</a:t>
            </a:r>
            <a:r>
              <a:rPr lang="el-GR" dirty="0" smtClean="0"/>
              <a:t>π</a:t>
            </a:r>
            <a:r>
              <a:rPr lang="en-US" dirty="0" smtClean="0"/>
              <a:t>/30)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smtClean="0"/>
              <a:t>Cho a</a:t>
            </a:r>
            <a:r>
              <a:rPr lang="en-US" baseline="-25000" dirty="0" smtClean="0"/>
              <a:t>0</a:t>
            </a:r>
            <a:r>
              <a:rPr lang="en-US" dirty="0" smtClean="0"/>
              <a:t> = 0, a</a:t>
            </a:r>
            <a:r>
              <a:rPr lang="en-US" baseline="-25000" dirty="0" smtClean="0"/>
              <a:t>1</a:t>
            </a:r>
            <a:r>
              <a:rPr lang="en-US" dirty="0" smtClean="0"/>
              <a:t> = 1/2 </a:t>
            </a:r>
            <a:r>
              <a:rPr lang="en-US" dirty="0" err="1" smtClean="0"/>
              <a:t>và</a:t>
            </a:r>
            <a:r>
              <a:rPr lang="en-US" dirty="0" smtClean="0"/>
              <a:t>                               .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a</a:t>
            </a:r>
            <a:r>
              <a:rPr lang="en-US" baseline="-25000" dirty="0" smtClean="0"/>
              <a:t>n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86764"/>
              </p:ext>
            </p:extLst>
          </p:nvPr>
        </p:nvGraphicFramePr>
        <p:xfrm>
          <a:off x="4638875" y="4282848"/>
          <a:ext cx="2424853" cy="9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" name="Equation" r:id="rId3" imgW="1130040" imgH="419040" progId="Equation.DSMT4">
                  <p:embed/>
                </p:oleObj>
              </mc:Choice>
              <mc:Fallback>
                <p:oleObj name="Equation" r:id="rId3" imgW="1130040" imgH="41904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38875" y="4282848"/>
                        <a:ext cx="2424853" cy="90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898656"/>
              </p:ext>
            </p:extLst>
          </p:nvPr>
        </p:nvGraphicFramePr>
        <p:xfrm>
          <a:off x="2796820" y="3495838"/>
          <a:ext cx="1265237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7" name="Equation" r:id="rId5" imgW="660240" imgH="431640" progId="Equation.DSMT4">
                  <p:embed/>
                </p:oleObj>
              </mc:Choice>
              <mc:Fallback>
                <p:oleObj name="Equation" r:id="rId5" imgW="660240" imgH="43164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96820" y="3495838"/>
                        <a:ext cx="1265237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9800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/>
              <a:t>Phụ</a:t>
            </a:r>
            <a:r>
              <a:rPr lang="en-US" b="1" dirty="0" smtClean="0"/>
              <a:t> </a:t>
            </a:r>
            <a:r>
              <a:rPr lang="en-US" b="1" dirty="0" err="1" smtClean="0"/>
              <a:t>lục</a:t>
            </a:r>
            <a:endParaRPr lang="en-US" b="1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-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dãy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C00000"/>
                </a:solidFill>
              </a:rPr>
              <a:t>rsolve</a:t>
            </a:r>
            <a:r>
              <a:rPr lang="en-US" b="1" dirty="0" smtClean="0">
                <a:solidFill>
                  <a:srgbClr val="C00000"/>
                </a:solidFill>
              </a:rPr>
              <a:t>(</a:t>
            </a:r>
            <a:r>
              <a:rPr lang="en-US" b="1" dirty="0" err="1" smtClean="0">
                <a:solidFill>
                  <a:srgbClr val="C00000"/>
                </a:solidFill>
              </a:rPr>
              <a:t>eqns</a:t>
            </a:r>
            <a:r>
              <a:rPr lang="en-US" b="1" dirty="0" smtClean="0">
                <a:solidFill>
                  <a:srgbClr val="C00000"/>
                </a:solidFill>
              </a:rPr>
              <a:t>, </a:t>
            </a:r>
            <a:r>
              <a:rPr lang="en-US" b="1" dirty="0" err="1" smtClean="0">
                <a:solidFill>
                  <a:srgbClr val="C00000"/>
                </a:solidFill>
              </a:rPr>
              <a:t>fcns</a:t>
            </a:r>
            <a:r>
              <a:rPr lang="en-US" b="1" dirty="0" smtClean="0">
                <a:solidFill>
                  <a:srgbClr val="C00000"/>
                </a:solidFill>
              </a:rPr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rsolve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eqns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fcns</a:t>
            </a:r>
            <a:r>
              <a:rPr lang="en-US" dirty="0" smtClean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119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/>
              <a:t>Ví</a:t>
            </a:r>
            <a:r>
              <a:rPr lang="en-US" b="1" dirty="0" smtClean="0"/>
              <a:t> </a:t>
            </a:r>
            <a:r>
              <a:rPr lang="en-US" b="1" dirty="0" err="1" smtClean="0"/>
              <a:t>dụ</a:t>
            </a:r>
            <a:r>
              <a:rPr lang="en-US" b="1" dirty="0" smtClean="0"/>
              <a:t>.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dãy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a</a:t>
            </a:r>
            <a:r>
              <a:rPr lang="en-US" baseline="-25000" dirty="0" smtClean="0"/>
              <a:t>1</a:t>
            </a:r>
            <a:r>
              <a:rPr lang="en-US" dirty="0" smtClean="0"/>
              <a:t> = 2, a</a:t>
            </a:r>
            <a:r>
              <a:rPr lang="en-US" baseline="-25000" dirty="0" smtClean="0"/>
              <a:t>n</a:t>
            </a:r>
            <a:r>
              <a:rPr lang="en-US" dirty="0" smtClean="0"/>
              <a:t>(a</a:t>
            </a:r>
            <a:r>
              <a:rPr lang="en-US" baseline="-25000" dirty="0" smtClean="0"/>
              <a:t>n – 1 </a:t>
            </a:r>
            <a:r>
              <a:rPr lang="en-US" dirty="0" smtClean="0"/>
              <a:t>+ 3) </a:t>
            </a:r>
            <a:r>
              <a:rPr lang="en-US" dirty="0"/>
              <a:t>= a</a:t>
            </a:r>
            <a:r>
              <a:rPr lang="en-US" baseline="-25000" dirty="0"/>
              <a:t>n – </a:t>
            </a:r>
            <a:r>
              <a:rPr lang="en-US" baseline="-25000" dirty="0" smtClean="0"/>
              <a:t>1 </a:t>
            </a:r>
            <a:r>
              <a:rPr lang="en-US" dirty="0" smtClean="0"/>
              <a:t>+ 2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LG. </a:t>
            </a:r>
            <a:r>
              <a:rPr lang="en-US" dirty="0" err="1" smtClean="0"/>
              <a:t>eqns</a:t>
            </a:r>
            <a:r>
              <a:rPr lang="en-US" dirty="0" smtClean="0"/>
              <a:t>:={a(n)*(a(n-1) + 3) = a(n-1) + 2, a(1) = 2};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dirty="0" err="1" smtClean="0"/>
              <a:t>rsolve</a:t>
            </a:r>
            <a:r>
              <a:rPr lang="en-US" dirty="0" smtClean="0"/>
              <a:t>(</a:t>
            </a:r>
            <a:r>
              <a:rPr lang="en-US" dirty="0" err="1" smtClean="0"/>
              <a:t>eqns</a:t>
            </a:r>
            <a:r>
              <a:rPr lang="en-US" dirty="0" smtClean="0"/>
              <a:t>, a(n));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 </a:t>
            </a:r>
            <a:r>
              <a:rPr lang="en-US" dirty="0" smtClean="0"/>
              <a:t>     limit(%,n=infinity);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      factor(%);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292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liêp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hạng</a:t>
            </a:r>
            <a:r>
              <a:rPr lang="en-US" dirty="0" smtClean="0"/>
              <a:t>,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tố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C00000"/>
                </a:solidFill>
              </a:rPr>
              <a:t>product(f(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>
                <a:solidFill>
                  <a:srgbClr val="C00000"/>
                </a:solidFill>
              </a:rPr>
              <a:t>),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>
                <a:solidFill>
                  <a:srgbClr val="C00000"/>
                </a:solidFill>
              </a:rPr>
              <a:t> = </a:t>
            </a:r>
            <a:r>
              <a:rPr lang="en-US" dirty="0" err="1" smtClean="0">
                <a:solidFill>
                  <a:srgbClr val="C00000"/>
                </a:solidFill>
              </a:rPr>
              <a:t>cận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dưới</a:t>
            </a:r>
            <a:r>
              <a:rPr lang="en-US" dirty="0" smtClean="0">
                <a:solidFill>
                  <a:srgbClr val="C00000"/>
                </a:solidFill>
              </a:rPr>
              <a:t>..</a:t>
            </a:r>
            <a:r>
              <a:rPr lang="en-US" dirty="0" err="1" smtClean="0">
                <a:solidFill>
                  <a:srgbClr val="C00000"/>
                </a:solidFill>
              </a:rPr>
              <a:t>cận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trên</a:t>
            </a:r>
            <a:r>
              <a:rPr lang="en-US" dirty="0" smtClean="0">
                <a:solidFill>
                  <a:srgbClr val="C00000"/>
                </a:solidFill>
              </a:rPr>
              <a:t>);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err="1" smtClean="0">
                <a:solidFill>
                  <a:srgbClr val="C00000"/>
                </a:solidFill>
              </a:rPr>
              <a:t>ifactor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dirty="0" err="1" smtClean="0">
                <a:solidFill>
                  <a:srgbClr val="C00000"/>
                </a:solidFill>
              </a:rPr>
              <a:t>exp</a:t>
            </a:r>
            <a:r>
              <a:rPr lang="en-US" dirty="0" smtClean="0">
                <a:solidFill>
                  <a:srgbClr val="C00000"/>
                </a:solidFill>
              </a:rPr>
              <a:t>);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08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1.  </a:t>
            </a:r>
            <a:r>
              <a:rPr lang="en-US" dirty="0" err="1" smtClean="0"/>
              <a:t>Chứng</a:t>
            </a:r>
            <a:r>
              <a:rPr lang="en-US" dirty="0" smtClean="0"/>
              <a:t> minh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/>
              <a:t>Ví</a:t>
            </a:r>
            <a:r>
              <a:rPr lang="en-US" b="1" dirty="0" smtClean="0"/>
              <a:t> </a:t>
            </a:r>
            <a:r>
              <a:rPr lang="en-US" b="1" dirty="0" err="1" smtClean="0"/>
              <a:t>dụ</a:t>
            </a:r>
            <a:r>
              <a:rPr lang="en-US" b="1" dirty="0" smtClean="0"/>
              <a:t> 2</a:t>
            </a:r>
            <a:r>
              <a:rPr lang="en-US" dirty="0" smtClean="0"/>
              <a:t>.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tố</a:t>
            </a:r>
            <a:r>
              <a:rPr lang="en-US" dirty="0" smtClean="0"/>
              <a:t>: 289764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802545"/>
              </p:ext>
            </p:extLst>
          </p:nvPr>
        </p:nvGraphicFramePr>
        <p:xfrm>
          <a:off x="4054410" y="494522"/>
          <a:ext cx="19224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3" imgW="1002960" imgH="431640" progId="Equation.DSMT4">
                  <p:embed/>
                </p:oleObj>
              </mc:Choice>
              <mc:Fallback>
                <p:oleObj name="Equation" r:id="rId3" imgW="1002960" imgH="43164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54410" y="494522"/>
                        <a:ext cx="1922463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0611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754</Words>
  <Application>Microsoft Office PowerPoint</Application>
  <PresentationFormat>Widescreen</PresentationFormat>
  <Paragraphs>80</Paragraphs>
  <Slides>19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Equation</vt:lpstr>
      <vt:lpstr>Chương 1.2 – Maple với đại số sơ cấp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3 - Maple</dc:title>
  <dc:creator>admin</dc:creator>
  <cp:lastModifiedBy>Admin</cp:lastModifiedBy>
  <cp:revision>65</cp:revision>
  <dcterms:created xsi:type="dcterms:W3CDTF">2022-01-05T07:42:19Z</dcterms:created>
  <dcterms:modified xsi:type="dcterms:W3CDTF">2023-02-27T01:18:09Z</dcterms:modified>
</cp:coreProperties>
</file>