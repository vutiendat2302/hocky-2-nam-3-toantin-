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3" r:id="rId8"/>
    <p:sldId id="263" r:id="rId9"/>
    <p:sldId id="261" r:id="rId10"/>
    <p:sldId id="264" r:id="rId11"/>
    <p:sldId id="265" r:id="rId12"/>
    <p:sldId id="266" r:id="rId13"/>
    <p:sldId id="267" r:id="rId14"/>
    <p:sldId id="268" r:id="rId15"/>
    <p:sldId id="271" r:id="rId16"/>
    <p:sldId id="270" r:id="rId17"/>
    <p:sldId id="272" r:id="rId18"/>
    <p:sldId id="269" r:id="rId19"/>
    <p:sldId id="278" r:id="rId20"/>
    <p:sldId id="276" r:id="rId21"/>
    <p:sldId id="280" r:id="rId22"/>
    <p:sldId id="277" r:id="rId23"/>
    <p:sldId id="279" r:id="rId24"/>
    <p:sldId id="281" r:id="rId25"/>
    <p:sldId id="282" r:id="rId26"/>
    <p:sldId id="275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8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8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24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5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4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90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0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0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8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4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7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14B06-83D1-469F-83B4-52258B315104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0B892-CE33-4F21-8240-E454ADE0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3290" y="1184988"/>
            <a:ext cx="9144000" cy="1121326"/>
          </a:xfrm>
        </p:spPr>
        <p:txBody>
          <a:bodyPr/>
          <a:lstStyle/>
          <a:p>
            <a:r>
              <a:rPr lang="en-US" dirty="0" err="1" smtClean="0"/>
              <a:t>Chương</a:t>
            </a:r>
            <a:r>
              <a:rPr lang="en-US" dirty="0" smtClean="0"/>
              <a:t> 1.5 – Maple –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53951"/>
            <a:ext cx="9144000" cy="2803849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 smtClean="0"/>
              <a:t>1</a:t>
            </a:r>
            <a:r>
              <a:rPr lang="en-US" dirty="0"/>
              <a:t>.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cực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giải</a:t>
            </a:r>
            <a:endParaRPr lang="en-US" dirty="0"/>
          </a:p>
          <a:p>
            <a:pPr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802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0070C0"/>
                </a:solidFill>
              </a:rPr>
              <a:t>1. </a:t>
            </a:r>
            <a:r>
              <a:rPr lang="en-US" b="1" u="sng" dirty="0" err="1" smtClean="0">
                <a:solidFill>
                  <a:srgbClr val="0070C0"/>
                </a:solidFill>
              </a:rPr>
              <a:t>Đồ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thị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trong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không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gian</a:t>
            </a:r>
            <a:r>
              <a:rPr lang="en-US" b="1" u="sng" dirty="0" smtClean="0">
                <a:solidFill>
                  <a:srgbClr val="0070C0"/>
                </a:solidFill>
              </a:rPr>
              <a:t> 2 </a:t>
            </a:r>
            <a:r>
              <a:rPr lang="en-US" b="1" u="sng" dirty="0" err="1" smtClean="0">
                <a:solidFill>
                  <a:srgbClr val="0070C0"/>
                </a:solidFill>
              </a:rPr>
              <a:t>chiều</a:t>
            </a:r>
            <a:endParaRPr lang="en-US" b="1" u="sng" dirty="0" smtClean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plot: with(plots);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&gt;plot(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, </a:t>
            </a:r>
            <a:r>
              <a:rPr lang="en-US" dirty="0" err="1" smtClean="0"/>
              <a:t>biến</a:t>
            </a:r>
            <a:r>
              <a:rPr lang="en-US" dirty="0" smtClean="0"/>
              <a:t> = </a:t>
            </a:r>
            <a:r>
              <a:rPr lang="en-US" dirty="0" err="1" smtClean="0"/>
              <a:t>khoảng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thiên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);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11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9208"/>
            <a:ext cx="10515600" cy="617686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err="1" smtClean="0">
                <a:solidFill>
                  <a:srgbClr val="C00000"/>
                </a:solidFill>
              </a:rPr>
              <a:t>Các</a:t>
            </a:r>
            <a:r>
              <a:rPr lang="en-US" b="1" u="sng" dirty="0" smtClean="0">
                <a:solidFill>
                  <a:srgbClr val="C00000"/>
                </a:solidFill>
              </a:rPr>
              <a:t> </a:t>
            </a:r>
            <a:r>
              <a:rPr lang="en-US" b="1" u="sng" dirty="0" err="1" smtClean="0">
                <a:solidFill>
                  <a:srgbClr val="C00000"/>
                </a:solidFill>
              </a:rPr>
              <a:t>tùy</a:t>
            </a:r>
            <a:r>
              <a:rPr lang="en-US" b="1" u="sng" dirty="0" smtClean="0">
                <a:solidFill>
                  <a:srgbClr val="C00000"/>
                </a:solidFill>
              </a:rPr>
              <a:t> </a:t>
            </a:r>
            <a:r>
              <a:rPr lang="en-US" b="1" u="sng" dirty="0" err="1" smtClean="0">
                <a:solidFill>
                  <a:srgbClr val="C00000"/>
                </a:solidFill>
              </a:rPr>
              <a:t>chọn</a:t>
            </a:r>
            <a:endParaRPr lang="en-US" b="1" u="sng" dirty="0" smtClean="0">
              <a:solidFill>
                <a:srgbClr val="C00000"/>
              </a:solidFill>
            </a:endParaRP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title = ‘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’ -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phía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style = point(</a:t>
            </a:r>
            <a:r>
              <a:rPr lang="en-US" dirty="0" err="1" smtClean="0"/>
              <a:t>nét</a:t>
            </a:r>
            <a:r>
              <a:rPr lang="en-US" dirty="0" smtClean="0"/>
              <a:t> </a:t>
            </a:r>
            <a:r>
              <a:rPr lang="en-US" dirty="0" err="1" smtClean="0"/>
              <a:t>đứt</a:t>
            </a:r>
            <a:r>
              <a:rPr lang="en-US" dirty="0" smtClean="0"/>
              <a:t>)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nét</a:t>
            </a:r>
            <a:r>
              <a:rPr lang="en-US" dirty="0" smtClean="0"/>
              <a:t> </a:t>
            </a:r>
            <a:r>
              <a:rPr lang="en-US" dirty="0" err="1" smtClean="0"/>
              <a:t>liền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numpoints</a:t>
            </a:r>
            <a:r>
              <a:rPr lang="en-US" dirty="0" smtClean="0"/>
              <a:t> = </a:t>
            </a:r>
            <a:r>
              <a:rPr lang="en-US" dirty="0" err="1" smtClean="0"/>
              <a:t>số</a:t>
            </a:r>
            <a:r>
              <a:rPr lang="en-US" dirty="0" smtClean="0"/>
              <a:t> -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biết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nét</a:t>
            </a:r>
            <a:r>
              <a:rPr lang="en-US" dirty="0" smtClean="0"/>
              <a:t> </a:t>
            </a:r>
            <a:r>
              <a:rPr lang="en-US" dirty="0" err="1" smtClean="0"/>
              <a:t>đứt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symbol = cross (box, </a:t>
            </a:r>
            <a:r>
              <a:rPr lang="en-US" dirty="0" err="1" smtClean="0"/>
              <a:t>solidcircle</a:t>
            </a:r>
            <a:r>
              <a:rPr lang="en-US" dirty="0" smtClean="0"/>
              <a:t>, circle) –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kí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/>
              <a:t>c</a:t>
            </a:r>
            <a:r>
              <a:rPr lang="en-US" dirty="0" smtClean="0"/>
              <a:t>oordinates = polar(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),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Đề-các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thickness = </a:t>
            </a:r>
            <a:r>
              <a:rPr lang="en-US" dirty="0" err="1" smtClean="0"/>
              <a:t>số</a:t>
            </a:r>
            <a:r>
              <a:rPr lang="en-US" dirty="0" smtClean="0"/>
              <a:t> -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biết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dày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nét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color = red (blue, magenta, …) – </a:t>
            </a:r>
            <a:r>
              <a:rPr lang="en-US" dirty="0" err="1" smtClean="0"/>
              <a:t>màu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61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1</a:t>
            </a:r>
            <a:r>
              <a:rPr lang="en-US" dirty="0" smtClean="0"/>
              <a:t>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y = </a:t>
            </a:r>
            <a:r>
              <a:rPr lang="en-US" dirty="0" err="1" smtClean="0"/>
              <a:t>sinx</a:t>
            </a:r>
            <a:r>
              <a:rPr lang="en-US" dirty="0" smtClean="0"/>
              <a:t>,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-2</a:t>
            </a:r>
            <a:r>
              <a:rPr lang="el-GR" dirty="0" smtClean="0"/>
              <a:t>π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2</a:t>
            </a:r>
            <a:r>
              <a:rPr lang="el-GR" dirty="0" smtClean="0"/>
              <a:t>π</a:t>
            </a:r>
            <a:r>
              <a:rPr lang="en-US" dirty="0" smtClean="0"/>
              <a:t>, </a:t>
            </a:r>
            <a:r>
              <a:rPr lang="en-US" dirty="0" err="1" smtClean="0"/>
              <a:t>màu</a:t>
            </a:r>
            <a:r>
              <a:rPr lang="en-US" dirty="0" smtClean="0"/>
              <a:t> </a:t>
            </a:r>
            <a:r>
              <a:rPr lang="en-US" dirty="0" err="1" smtClean="0"/>
              <a:t>đỏ</a:t>
            </a:r>
            <a:r>
              <a:rPr lang="en-US" dirty="0" smtClean="0"/>
              <a:t>,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đậm</a:t>
            </a:r>
            <a:r>
              <a:rPr lang="en-US" dirty="0" smtClean="0"/>
              <a:t> = 2, </a:t>
            </a:r>
            <a:r>
              <a:rPr lang="en-US" dirty="0" err="1" smtClean="0"/>
              <a:t>tên</a:t>
            </a:r>
            <a:r>
              <a:rPr lang="en-US" dirty="0" smtClean="0"/>
              <a:t> –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sinx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&gt;with(plots);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&gt;plot(</a:t>
            </a:r>
            <a:r>
              <a:rPr lang="en-US" dirty="0" err="1" smtClean="0"/>
              <a:t>sinx</a:t>
            </a:r>
            <a:r>
              <a:rPr lang="en-US" dirty="0" smtClean="0"/>
              <a:t>, x = -2</a:t>
            </a:r>
            <a:r>
              <a:rPr lang="el-GR" dirty="0" smtClean="0"/>
              <a:t>π</a:t>
            </a:r>
            <a:r>
              <a:rPr lang="en-US" dirty="0" smtClean="0"/>
              <a:t> .. 2</a:t>
            </a:r>
            <a:r>
              <a:rPr lang="el-GR" dirty="0" smtClean="0"/>
              <a:t>π</a:t>
            </a:r>
            <a:r>
              <a:rPr lang="en-US" dirty="0" smtClean="0"/>
              <a:t>, color = red, thickness = 2, title = ‘do </a:t>
            </a:r>
            <a:r>
              <a:rPr lang="en-US" dirty="0" err="1" smtClean="0"/>
              <a:t>thi</a:t>
            </a:r>
            <a:r>
              <a:rPr lang="en-US" dirty="0" smtClean="0"/>
              <a:t> ham </a:t>
            </a:r>
            <a:r>
              <a:rPr lang="en-US" dirty="0" err="1" smtClean="0"/>
              <a:t>sinx</a:t>
            </a:r>
            <a:r>
              <a:rPr lang="en-US" dirty="0" smtClean="0"/>
              <a:t>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52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/>
              <a:t>Vẽ</a:t>
            </a:r>
            <a:r>
              <a:rPr lang="en-US" b="1" i="1" dirty="0" smtClean="0"/>
              <a:t> </a:t>
            </a:r>
            <a:r>
              <a:rPr lang="en-US" b="1" i="1" dirty="0" err="1" smtClean="0"/>
              <a:t>các</a:t>
            </a:r>
            <a:r>
              <a:rPr lang="en-US" b="1" i="1" dirty="0" smtClean="0"/>
              <a:t> </a:t>
            </a:r>
            <a:r>
              <a:rPr lang="en-US" b="1" i="1" dirty="0" err="1" smtClean="0"/>
              <a:t>điểm</a:t>
            </a:r>
            <a:r>
              <a:rPr lang="en-US" b="1" i="1" dirty="0" smtClean="0"/>
              <a:t> </a:t>
            </a:r>
            <a:r>
              <a:rPr lang="en-US" b="1" i="1" dirty="0" err="1" smtClean="0"/>
              <a:t>trên</a:t>
            </a:r>
            <a:r>
              <a:rPr lang="en-US" b="1" i="1" dirty="0" smtClean="0"/>
              <a:t> </a:t>
            </a:r>
            <a:r>
              <a:rPr lang="en-US" b="1" i="1" dirty="0" err="1" smtClean="0"/>
              <a:t>mặt</a:t>
            </a:r>
            <a:r>
              <a:rPr lang="en-US" b="1" i="1" dirty="0" smtClean="0"/>
              <a:t> </a:t>
            </a:r>
            <a:r>
              <a:rPr lang="en-US" b="1" i="1" dirty="0" err="1" smtClean="0"/>
              <a:t>phẳng</a:t>
            </a:r>
            <a:endParaRPr lang="en-US" b="1" i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&gt;plot([[x1,y1],…,[</a:t>
            </a:r>
            <a:r>
              <a:rPr lang="en-US" dirty="0" err="1" smtClean="0"/>
              <a:t>xn,yn</a:t>
            </a:r>
            <a:r>
              <a:rPr lang="en-US" dirty="0" smtClean="0"/>
              <a:t>]],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);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Đôi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Maple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,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gốc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, </a:t>
            </a:r>
            <a:r>
              <a:rPr lang="en-US" dirty="0" err="1" smtClean="0"/>
              <a:t>chọn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view = [</a:t>
            </a:r>
            <a:r>
              <a:rPr lang="en-US" dirty="0" err="1" smtClean="0"/>
              <a:t>xmin</a:t>
            </a:r>
            <a:r>
              <a:rPr lang="en-US" dirty="0" smtClean="0"/>
              <a:t>…</a:t>
            </a:r>
            <a:r>
              <a:rPr lang="en-US" dirty="0" err="1" smtClean="0"/>
              <a:t>xmax</a:t>
            </a:r>
            <a:r>
              <a:rPr lang="en-US" dirty="0" smtClean="0"/>
              <a:t>, </a:t>
            </a:r>
            <a:r>
              <a:rPr lang="en-US" dirty="0" err="1" smtClean="0"/>
              <a:t>ymin</a:t>
            </a:r>
            <a:r>
              <a:rPr lang="en-US" dirty="0" smtClean="0"/>
              <a:t>…</a:t>
            </a:r>
            <a:r>
              <a:rPr lang="en-US" dirty="0" err="1" smtClean="0"/>
              <a:t>ymax</a:t>
            </a:r>
            <a:r>
              <a:rPr lang="en-US" dirty="0" smtClean="0"/>
              <a:t>]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khung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5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2</a:t>
            </a:r>
            <a:r>
              <a:rPr lang="en-US" dirty="0" smtClean="0"/>
              <a:t>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(1, 2), (2, 3) </a:t>
            </a:r>
            <a:r>
              <a:rPr lang="en-US" dirty="0" err="1" smtClean="0"/>
              <a:t>và</a:t>
            </a:r>
            <a:r>
              <a:rPr lang="en-US" dirty="0" smtClean="0"/>
              <a:t> (3, 1)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mặt</a:t>
            </a:r>
            <a:r>
              <a:rPr lang="en-US" dirty="0" smtClean="0"/>
              <a:t> Oxy.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style = line (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đoạn</a:t>
            </a:r>
            <a:r>
              <a:rPr lang="en-US" dirty="0" smtClean="0"/>
              <a:t> </a:t>
            </a:r>
            <a:r>
              <a:rPr lang="en-US" dirty="0" err="1" smtClean="0"/>
              <a:t>thẳng</a:t>
            </a:r>
            <a:r>
              <a:rPr lang="en-US" dirty="0" smtClean="0"/>
              <a:t> –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), style = point (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–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đoạn</a:t>
            </a:r>
            <a:r>
              <a:rPr lang="en-US" dirty="0" smtClean="0"/>
              <a:t> </a:t>
            </a:r>
            <a:r>
              <a:rPr lang="en-US" dirty="0" err="1" smtClean="0"/>
              <a:t>thẳng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)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/>
              <a:t>Vẽ</a:t>
            </a:r>
            <a:r>
              <a:rPr lang="en-US" b="1" i="1" dirty="0" smtClean="0"/>
              <a:t> </a:t>
            </a:r>
            <a:r>
              <a:rPr lang="en-US" b="1" i="1" dirty="0" err="1" smtClean="0"/>
              <a:t>đồ</a:t>
            </a:r>
            <a:r>
              <a:rPr lang="en-US" b="1" i="1" dirty="0" smtClean="0"/>
              <a:t> </a:t>
            </a:r>
            <a:r>
              <a:rPr lang="en-US" b="1" i="1" dirty="0" err="1" smtClean="0"/>
              <a:t>thị</a:t>
            </a:r>
            <a:r>
              <a:rPr lang="en-US" b="1" i="1" dirty="0" smtClean="0"/>
              <a:t> </a:t>
            </a:r>
            <a:r>
              <a:rPr lang="en-US" b="1" i="1" dirty="0" err="1" smtClean="0"/>
              <a:t>các</a:t>
            </a:r>
            <a:r>
              <a:rPr lang="en-US" b="1" i="1" dirty="0" smtClean="0"/>
              <a:t> </a:t>
            </a:r>
            <a:r>
              <a:rPr lang="en-US" b="1" i="1" dirty="0" err="1" smtClean="0"/>
              <a:t>đường</a:t>
            </a:r>
            <a:r>
              <a:rPr lang="en-US" b="1" i="1" dirty="0" smtClean="0"/>
              <a:t> </a:t>
            </a:r>
            <a:r>
              <a:rPr lang="en-US" b="1" i="1" dirty="0" err="1" smtClean="0"/>
              <a:t>gấp</a:t>
            </a:r>
            <a:r>
              <a:rPr lang="en-US" b="1" i="1" dirty="0" smtClean="0"/>
              <a:t> </a:t>
            </a:r>
            <a:r>
              <a:rPr lang="en-US" b="1" i="1" dirty="0" err="1" smtClean="0"/>
              <a:t>khúc</a:t>
            </a:r>
            <a:r>
              <a:rPr lang="en-US" b="1" i="1" dirty="0" smtClean="0"/>
              <a:t> (</a:t>
            </a:r>
            <a:r>
              <a:rPr lang="en-US" b="1" i="1" dirty="0" err="1" smtClean="0"/>
              <a:t>có</a:t>
            </a:r>
            <a:r>
              <a:rPr lang="en-US" b="1" i="1" dirty="0" smtClean="0"/>
              <a:t> </a:t>
            </a:r>
            <a:r>
              <a:rPr lang="en-US" b="1" i="1" dirty="0" err="1" smtClean="0"/>
              <a:t>điểm</a:t>
            </a:r>
            <a:r>
              <a:rPr lang="en-US" b="1" i="1" dirty="0" smtClean="0"/>
              <a:t> </a:t>
            </a:r>
            <a:r>
              <a:rPr lang="en-US" b="1" i="1" dirty="0" err="1" smtClean="0"/>
              <a:t>và</a:t>
            </a:r>
            <a:r>
              <a:rPr lang="en-US" b="1" i="1" dirty="0" smtClean="0"/>
              <a:t> </a:t>
            </a:r>
            <a:r>
              <a:rPr lang="en-US" b="1" i="1" dirty="0" err="1" smtClean="0"/>
              <a:t>đoạn</a:t>
            </a:r>
            <a:r>
              <a:rPr lang="en-US" b="1" i="1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3</a:t>
            </a:r>
            <a:r>
              <a:rPr lang="en-US" dirty="0" smtClean="0"/>
              <a:t>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gấp</a:t>
            </a:r>
            <a:r>
              <a:rPr lang="en-US" dirty="0" smtClean="0"/>
              <a:t> </a:t>
            </a:r>
            <a:r>
              <a:rPr lang="en-US" dirty="0" err="1" smtClean="0"/>
              <a:t>khúc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qua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/>
              <a:t>(1, 2), (2, 3) </a:t>
            </a:r>
            <a:r>
              <a:rPr lang="en-US" dirty="0" err="1"/>
              <a:t>và</a:t>
            </a:r>
            <a:r>
              <a:rPr lang="en-US" dirty="0"/>
              <a:t> (3, 1) 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&gt;r:=plot([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], style = point, symbol = </a:t>
            </a:r>
            <a:r>
              <a:rPr lang="en-US" dirty="0" err="1" smtClean="0"/>
              <a:t>solidcircle,symbolsize</a:t>
            </a:r>
            <a:r>
              <a:rPr lang="en-US" dirty="0" smtClean="0"/>
              <a:t> = 15);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&gt;s:=plot([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], thickness = 3, view = []);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&gt;display({</a:t>
            </a:r>
            <a:r>
              <a:rPr lang="en-US" dirty="0" err="1" smtClean="0"/>
              <a:t>r,s</a:t>
            </a:r>
            <a:r>
              <a:rPr lang="en-US" dirty="0" smtClean="0"/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46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/>
              <a:t>Vẽ</a:t>
            </a:r>
            <a:r>
              <a:rPr lang="en-US" b="1" i="1" dirty="0" smtClean="0"/>
              <a:t> </a:t>
            </a:r>
            <a:r>
              <a:rPr lang="en-US" b="1" i="1" dirty="0" err="1" smtClean="0"/>
              <a:t>dãy</a:t>
            </a:r>
            <a:r>
              <a:rPr lang="en-US" b="1" i="1" dirty="0" smtClean="0"/>
              <a:t> </a:t>
            </a:r>
            <a:r>
              <a:rPr lang="en-US" b="1" i="1" dirty="0" err="1" smtClean="0"/>
              <a:t>các</a:t>
            </a:r>
            <a:r>
              <a:rPr lang="en-US" b="1" i="1" dirty="0" smtClean="0"/>
              <a:t> </a:t>
            </a:r>
            <a:r>
              <a:rPr lang="en-US" b="1" i="1" dirty="0" err="1" smtClean="0"/>
              <a:t>điểm</a:t>
            </a:r>
            <a:endParaRPr lang="en-US" b="1" i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&gt;plot([xi, </a:t>
            </a:r>
            <a:r>
              <a:rPr lang="en-US" dirty="0" err="1" smtClean="0"/>
              <a:t>yi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…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],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3.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tròn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&gt;plot([cost, </a:t>
            </a:r>
            <a:r>
              <a:rPr lang="en-US" dirty="0" err="1" smtClean="0"/>
              <a:t>sint</a:t>
            </a:r>
            <a:r>
              <a:rPr lang="en-US" dirty="0" smtClean="0"/>
              <a:t>, t = 0..2*Pi]);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822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/>
              <a:t>Vẽ</a:t>
            </a:r>
            <a:r>
              <a:rPr lang="en-US" b="1" i="1" dirty="0" smtClean="0"/>
              <a:t> </a:t>
            </a:r>
            <a:r>
              <a:rPr lang="en-US" b="1" i="1" dirty="0" err="1" smtClean="0"/>
              <a:t>nhiều</a:t>
            </a:r>
            <a:r>
              <a:rPr lang="en-US" b="1" i="1" dirty="0" smtClean="0"/>
              <a:t> </a:t>
            </a:r>
            <a:r>
              <a:rPr lang="en-US" b="1" i="1" dirty="0" err="1" smtClean="0"/>
              <a:t>đồ</a:t>
            </a:r>
            <a:r>
              <a:rPr lang="en-US" b="1" i="1" dirty="0" smtClean="0"/>
              <a:t> </a:t>
            </a:r>
            <a:r>
              <a:rPr lang="en-US" b="1" i="1" dirty="0" err="1" smtClean="0"/>
              <a:t>thị</a:t>
            </a:r>
            <a:r>
              <a:rPr lang="en-US" b="1" i="1" dirty="0" smtClean="0"/>
              <a:t> </a:t>
            </a:r>
            <a:r>
              <a:rPr lang="en-US" b="1" i="1" dirty="0" err="1" smtClean="0"/>
              <a:t>trên</a:t>
            </a:r>
            <a:r>
              <a:rPr lang="en-US" b="1" i="1" dirty="0" smtClean="0"/>
              <a:t> </a:t>
            </a:r>
            <a:r>
              <a:rPr lang="en-US" b="1" i="1" dirty="0" err="1" smtClean="0"/>
              <a:t>cùng</a:t>
            </a:r>
            <a:r>
              <a:rPr lang="en-US" b="1" i="1" dirty="0" smtClean="0"/>
              <a:t> </a:t>
            </a:r>
            <a:r>
              <a:rPr lang="en-US" b="1" i="1" dirty="0" err="1" smtClean="0"/>
              <a:t>một</a:t>
            </a:r>
            <a:r>
              <a:rPr lang="en-US" b="1" i="1" dirty="0" smtClean="0"/>
              <a:t> </a:t>
            </a:r>
            <a:r>
              <a:rPr lang="en-US" b="1" i="1" dirty="0" err="1" smtClean="0"/>
              <a:t>hệ</a:t>
            </a:r>
            <a:r>
              <a:rPr lang="en-US" b="1" i="1" dirty="0" smtClean="0"/>
              <a:t> </a:t>
            </a:r>
            <a:r>
              <a:rPr lang="en-US" b="1" i="1" dirty="0" err="1" smtClean="0"/>
              <a:t>trục</a:t>
            </a:r>
            <a:r>
              <a:rPr lang="en-US" b="1" i="1" dirty="0" smtClean="0"/>
              <a:t> </a:t>
            </a:r>
            <a:r>
              <a:rPr lang="en-US" b="1" i="1" dirty="0" err="1" smtClean="0"/>
              <a:t>tọa</a:t>
            </a:r>
            <a:r>
              <a:rPr lang="en-US" b="1" i="1" dirty="0" smtClean="0"/>
              <a:t> </a:t>
            </a:r>
            <a:r>
              <a:rPr lang="en-US" b="1" i="1" dirty="0" err="1" smtClean="0"/>
              <a:t>độ</a:t>
            </a:r>
            <a:endParaRPr lang="en-US" b="1" i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&gt;A:=plot(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1);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&gt;B:= plot(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2);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&gt;display({A,B});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382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/>
              <a:t>Vẽ</a:t>
            </a:r>
            <a:r>
              <a:rPr lang="en-US" b="1" i="1" dirty="0" smtClean="0"/>
              <a:t> </a:t>
            </a:r>
            <a:r>
              <a:rPr lang="en-US" b="1" i="1" dirty="0" err="1" smtClean="0"/>
              <a:t>đồ</a:t>
            </a:r>
            <a:r>
              <a:rPr lang="en-US" b="1" i="1" dirty="0" smtClean="0"/>
              <a:t> </a:t>
            </a:r>
            <a:r>
              <a:rPr lang="en-US" b="1" i="1" dirty="0" err="1" smtClean="0"/>
              <a:t>thị</a:t>
            </a:r>
            <a:r>
              <a:rPr lang="en-US" b="1" i="1" dirty="0" smtClean="0"/>
              <a:t> </a:t>
            </a:r>
            <a:r>
              <a:rPr lang="en-US" b="1" i="1" dirty="0" err="1" smtClean="0"/>
              <a:t>trong</a:t>
            </a:r>
            <a:r>
              <a:rPr lang="en-US" b="1" i="1" dirty="0" smtClean="0"/>
              <a:t> </a:t>
            </a:r>
            <a:r>
              <a:rPr lang="en-US" b="1" i="1" dirty="0" err="1" smtClean="0"/>
              <a:t>hệ</a:t>
            </a:r>
            <a:r>
              <a:rPr lang="en-US" b="1" i="1" dirty="0" smtClean="0"/>
              <a:t> </a:t>
            </a:r>
            <a:r>
              <a:rPr lang="en-US" b="1" i="1" dirty="0" err="1" smtClean="0"/>
              <a:t>tọa</a:t>
            </a:r>
            <a:r>
              <a:rPr lang="en-US" b="1" i="1" dirty="0" smtClean="0"/>
              <a:t> </a:t>
            </a:r>
            <a:r>
              <a:rPr lang="en-US" b="1" i="1" dirty="0" err="1" smtClean="0"/>
              <a:t>độ</a:t>
            </a:r>
            <a:r>
              <a:rPr lang="en-US" b="1" i="1" dirty="0" smtClean="0"/>
              <a:t> </a:t>
            </a:r>
            <a:r>
              <a:rPr lang="en-US" b="1" i="1" dirty="0" err="1" smtClean="0"/>
              <a:t>cực</a:t>
            </a:r>
            <a:endParaRPr lang="en-US" b="1" i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</a:t>
            </a:r>
            <a:r>
              <a:rPr lang="en-US" dirty="0" err="1" smtClean="0"/>
              <a:t>polarplot</a:t>
            </a:r>
            <a:r>
              <a:rPr lang="en-US" dirty="0" smtClean="0"/>
              <a:t>(r(</a:t>
            </a:r>
            <a:r>
              <a:rPr lang="el-GR" dirty="0" smtClean="0"/>
              <a:t>ϕ</a:t>
            </a:r>
            <a:r>
              <a:rPr lang="en-US" dirty="0" smtClean="0"/>
              <a:t>), </a:t>
            </a:r>
            <a:r>
              <a:rPr lang="el-GR" dirty="0" smtClean="0"/>
              <a:t>ϕ</a:t>
            </a:r>
            <a:r>
              <a:rPr lang="en-US" dirty="0" smtClean="0"/>
              <a:t> = </a:t>
            </a:r>
            <a:r>
              <a:rPr lang="en-US" dirty="0" err="1" smtClean="0"/>
              <a:t>a..b</a:t>
            </a:r>
            <a:r>
              <a:rPr lang="en-US" dirty="0" smtClean="0"/>
              <a:t>,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4</a:t>
            </a:r>
            <a:r>
              <a:rPr lang="en-US" dirty="0" smtClean="0"/>
              <a:t>: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tim</a:t>
            </a:r>
            <a:r>
              <a:rPr lang="en-US" dirty="0" smtClean="0"/>
              <a:t> r = 1 + cos</a:t>
            </a:r>
            <a:r>
              <a:rPr lang="el-GR" dirty="0" smtClean="0"/>
              <a:t>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996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0070C0"/>
                </a:solidFill>
              </a:rPr>
              <a:t>2. </a:t>
            </a:r>
            <a:r>
              <a:rPr lang="en-US" b="1" u="sng" dirty="0" err="1" smtClean="0">
                <a:solidFill>
                  <a:srgbClr val="0070C0"/>
                </a:solidFill>
              </a:rPr>
              <a:t>Đồ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thị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trong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không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gian</a:t>
            </a:r>
            <a:r>
              <a:rPr lang="en-US" b="1" u="sng" dirty="0" smtClean="0">
                <a:solidFill>
                  <a:srgbClr val="0070C0"/>
                </a:solidFill>
              </a:rPr>
              <a:t> 3 </a:t>
            </a:r>
            <a:r>
              <a:rPr lang="en-US" b="1" u="sng" dirty="0" err="1" smtClean="0">
                <a:solidFill>
                  <a:srgbClr val="0070C0"/>
                </a:solidFill>
              </a:rPr>
              <a:t>chiều</a:t>
            </a:r>
            <a:endParaRPr lang="en-US" b="1" u="sng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&gt;plot3d(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f(</a:t>
            </a:r>
            <a:r>
              <a:rPr lang="en-US" dirty="0" err="1" smtClean="0"/>
              <a:t>x,y</a:t>
            </a:r>
            <a:r>
              <a:rPr lang="en-US" dirty="0" smtClean="0"/>
              <a:t>), </a:t>
            </a:r>
            <a:r>
              <a:rPr lang="en-US" dirty="0" err="1" smtClean="0"/>
              <a:t>miền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thiên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84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>
                <a:solidFill>
                  <a:srgbClr val="C00000"/>
                </a:solidFill>
              </a:rPr>
              <a:t>Các</a:t>
            </a:r>
            <a:r>
              <a:rPr lang="en-US" b="1" i="1" dirty="0" smtClean="0">
                <a:solidFill>
                  <a:srgbClr val="C00000"/>
                </a:solidFill>
              </a:rPr>
              <a:t> </a:t>
            </a:r>
            <a:r>
              <a:rPr lang="en-US" b="1" i="1" dirty="0" err="1" smtClean="0">
                <a:solidFill>
                  <a:srgbClr val="C00000"/>
                </a:solidFill>
              </a:rPr>
              <a:t>tùy</a:t>
            </a:r>
            <a:r>
              <a:rPr lang="en-US" b="1" i="1" dirty="0" smtClean="0">
                <a:solidFill>
                  <a:srgbClr val="C00000"/>
                </a:solidFill>
              </a:rPr>
              <a:t> </a:t>
            </a:r>
            <a:r>
              <a:rPr lang="en-US" b="1" i="1" dirty="0" err="1" smtClean="0">
                <a:solidFill>
                  <a:srgbClr val="C00000"/>
                </a:solidFill>
              </a:rPr>
              <a:t>chọn</a:t>
            </a:r>
            <a:endParaRPr lang="en-US" b="1" i="1" dirty="0" smtClean="0">
              <a:solidFill>
                <a:srgbClr val="C00000"/>
              </a:solidFill>
            </a:endParaRP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axes = boxed (normal, frame, none-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khung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view = [</a:t>
            </a:r>
            <a:r>
              <a:rPr lang="en-US" dirty="0" err="1" smtClean="0"/>
              <a:t>xmin</a:t>
            </a:r>
            <a:r>
              <a:rPr lang="en-US" dirty="0" smtClean="0"/>
              <a:t>..</a:t>
            </a:r>
            <a:r>
              <a:rPr lang="en-US" dirty="0" err="1" smtClean="0"/>
              <a:t>xmax</a:t>
            </a:r>
            <a:r>
              <a:rPr lang="en-US" dirty="0" smtClean="0"/>
              <a:t>,…] –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khung</a:t>
            </a:r>
            <a:r>
              <a:rPr lang="en-US" dirty="0" smtClean="0"/>
              <a:t> </a:t>
            </a:r>
            <a:r>
              <a:rPr lang="en-US" dirty="0" err="1" smtClean="0"/>
              <a:t>nhìn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style = point (patch, </a:t>
            </a:r>
            <a:r>
              <a:rPr lang="en-US" dirty="0" err="1" smtClean="0"/>
              <a:t>patchcontour</a:t>
            </a:r>
            <a:r>
              <a:rPr lang="en-US" dirty="0" smtClean="0"/>
              <a:t>, contour, wireframe, hidden,…) –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pp </a:t>
            </a:r>
            <a:r>
              <a:rPr lang="en-US" dirty="0" err="1" smtClean="0"/>
              <a:t>vẽ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741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/>
              <a:t>Vẽ</a:t>
            </a:r>
            <a:r>
              <a:rPr lang="en-US" b="1" i="1" dirty="0" smtClean="0"/>
              <a:t> </a:t>
            </a:r>
            <a:r>
              <a:rPr lang="en-US" b="1" i="1" dirty="0" err="1" smtClean="0"/>
              <a:t>theo</a:t>
            </a:r>
            <a:r>
              <a:rPr lang="en-US" b="1" i="1" dirty="0" smtClean="0"/>
              <a:t> </a:t>
            </a:r>
            <a:r>
              <a:rPr lang="en-US" b="1" i="1" dirty="0" err="1" smtClean="0"/>
              <a:t>các</a:t>
            </a:r>
            <a:r>
              <a:rPr lang="en-US" b="1" i="1" dirty="0" smtClean="0"/>
              <a:t> </a:t>
            </a:r>
            <a:r>
              <a:rPr lang="en-US" b="1" i="1" dirty="0" err="1" smtClean="0"/>
              <a:t>điểm</a:t>
            </a:r>
            <a:endParaRPr lang="en-US" b="1" i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&gt;plot3d([</a:t>
            </a:r>
            <a:r>
              <a:rPr lang="en-US" dirty="0" err="1" smtClean="0"/>
              <a:t>x,y,z</a:t>
            </a:r>
            <a:r>
              <a:rPr lang="en-US" dirty="0" smtClean="0"/>
              <a:t>], x = </a:t>
            </a:r>
            <a:r>
              <a:rPr lang="en-US" dirty="0" err="1" smtClean="0"/>
              <a:t>a..b</a:t>
            </a:r>
            <a:r>
              <a:rPr lang="en-US" dirty="0" smtClean="0"/>
              <a:t>, y = </a:t>
            </a:r>
            <a:r>
              <a:rPr lang="en-US" dirty="0" err="1" smtClean="0"/>
              <a:t>c..d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5</a:t>
            </a:r>
            <a:r>
              <a:rPr lang="en-US" dirty="0" smtClean="0"/>
              <a:t>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bán</a:t>
            </a:r>
            <a:r>
              <a:rPr lang="en-US" dirty="0" smtClean="0"/>
              <a:t> </a:t>
            </a:r>
            <a:r>
              <a:rPr lang="en-US" dirty="0" err="1" smtClean="0"/>
              <a:t>kính</a:t>
            </a:r>
            <a:r>
              <a:rPr lang="en-US" dirty="0" smtClean="0"/>
              <a:t> 1, </a:t>
            </a:r>
            <a:r>
              <a:rPr lang="en-US" dirty="0" err="1" smtClean="0"/>
              <a:t>tâm</a:t>
            </a:r>
            <a:r>
              <a:rPr lang="en-US" dirty="0" smtClean="0"/>
              <a:t> ở </a:t>
            </a:r>
            <a:r>
              <a:rPr lang="en-US" dirty="0" err="1" smtClean="0"/>
              <a:t>gốc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&gt;plot3d([cos(x)*sin(y), sin(x)*sin(y), cos(y)], x = 0..2*Pi, y = -</a:t>
            </a:r>
            <a:r>
              <a:rPr lang="en-US" dirty="0" err="1" smtClean="0"/>
              <a:t>Pi..Pi</a:t>
            </a:r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006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6</a:t>
            </a:r>
            <a:r>
              <a:rPr lang="en-US" dirty="0" smtClean="0"/>
              <a:t>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trụ</a:t>
            </a:r>
            <a:r>
              <a:rPr lang="en-US" dirty="0" smtClean="0"/>
              <a:t> x</a:t>
            </a:r>
            <a:r>
              <a:rPr lang="en-US" baseline="30000" dirty="0" smtClean="0"/>
              <a:t>2</a:t>
            </a:r>
            <a:r>
              <a:rPr lang="en-US" dirty="0" smtClean="0"/>
              <a:t> + y</a:t>
            </a:r>
            <a:r>
              <a:rPr lang="en-US" baseline="30000" dirty="0" smtClean="0"/>
              <a:t>2</a:t>
            </a:r>
            <a:r>
              <a:rPr lang="en-US" dirty="0" smtClean="0"/>
              <a:t> = 4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&gt;plot3d([2*cos(x), 2*sin(x), z], x = 0..2*Pi, z = -1..1);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525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7</a:t>
            </a:r>
            <a:r>
              <a:rPr lang="en-US" dirty="0" smtClean="0"/>
              <a:t>. </a:t>
            </a:r>
            <a:r>
              <a:rPr lang="en-US" dirty="0" err="1" smtClean="0"/>
              <a:t>Vẽ</a:t>
            </a:r>
            <a:r>
              <a:rPr lang="en-US" dirty="0" smtClean="0"/>
              <a:t> paraboloid z = x</a:t>
            </a:r>
            <a:r>
              <a:rPr lang="en-US" baseline="30000" dirty="0" smtClean="0"/>
              <a:t>2</a:t>
            </a:r>
            <a:r>
              <a:rPr lang="en-US" dirty="0" smtClean="0"/>
              <a:t> + y</a:t>
            </a:r>
            <a:r>
              <a:rPr lang="en-US" baseline="30000" dirty="0" smtClean="0"/>
              <a:t>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 plot3d(x^2+y^2,x=-1..1,y=-</a:t>
            </a:r>
            <a:r>
              <a:rPr lang="en-US" dirty="0" err="1" smtClean="0"/>
              <a:t>sqrt</a:t>
            </a:r>
            <a:r>
              <a:rPr lang="en-US" dirty="0" smtClean="0"/>
              <a:t>(1-x^2)..</a:t>
            </a:r>
            <a:r>
              <a:rPr lang="en-US" dirty="0" err="1" smtClean="0"/>
              <a:t>sqrt</a:t>
            </a:r>
            <a:r>
              <a:rPr lang="en-US" dirty="0" smtClean="0"/>
              <a:t>(1-x^2));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667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0070C0"/>
                </a:solidFill>
              </a:rPr>
              <a:t>3. </a:t>
            </a:r>
            <a:r>
              <a:rPr lang="en-US" b="1" u="sng" dirty="0" err="1" smtClean="0">
                <a:solidFill>
                  <a:srgbClr val="0070C0"/>
                </a:solidFill>
              </a:rPr>
              <a:t>Vẽ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đồ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thị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hàm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ẩn</a:t>
            </a:r>
            <a:endParaRPr lang="en-US" b="1" u="sng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</a:t>
            </a:r>
            <a:r>
              <a:rPr lang="en-US" dirty="0" err="1" smtClean="0"/>
              <a:t>implicitplot</a:t>
            </a:r>
            <a:r>
              <a:rPr lang="en-US" dirty="0" smtClean="0"/>
              <a:t>(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ẩn</a:t>
            </a:r>
            <a:r>
              <a:rPr lang="en-US" dirty="0" smtClean="0"/>
              <a:t>, x = </a:t>
            </a:r>
            <a:r>
              <a:rPr lang="en-US" dirty="0" err="1" smtClean="0"/>
              <a:t>a..b</a:t>
            </a:r>
            <a:r>
              <a:rPr lang="en-US" dirty="0" smtClean="0"/>
              <a:t>, y=</a:t>
            </a:r>
            <a:r>
              <a:rPr lang="en-US" dirty="0" err="1"/>
              <a:t>c</a:t>
            </a:r>
            <a:r>
              <a:rPr lang="en-US" dirty="0" err="1" smtClean="0"/>
              <a:t>..d</a:t>
            </a:r>
            <a:r>
              <a:rPr lang="en-US" dirty="0" smtClean="0"/>
              <a:t>,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&gt;implicitplot3d(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ẩn</a:t>
            </a:r>
            <a:r>
              <a:rPr lang="en-US" dirty="0" smtClean="0"/>
              <a:t>, x = </a:t>
            </a:r>
            <a:r>
              <a:rPr lang="en-US" dirty="0" err="1" smtClean="0"/>
              <a:t>a..b</a:t>
            </a:r>
            <a:r>
              <a:rPr lang="en-US" dirty="0" smtClean="0"/>
              <a:t>, y = </a:t>
            </a:r>
            <a:r>
              <a:rPr lang="en-US" dirty="0" err="1" smtClean="0"/>
              <a:t>c..d</a:t>
            </a:r>
            <a:r>
              <a:rPr lang="en-US" dirty="0" smtClean="0"/>
              <a:t>, z = </a:t>
            </a:r>
            <a:r>
              <a:rPr lang="en-US" dirty="0" err="1" smtClean="0"/>
              <a:t>r..s</a:t>
            </a:r>
            <a:r>
              <a:rPr lang="en-US" dirty="0" smtClean="0"/>
              <a:t>,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8</a:t>
            </a:r>
            <a:r>
              <a:rPr lang="en-US" dirty="0" smtClean="0"/>
              <a:t>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tròn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(1,1), </a:t>
            </a:r>
            <a:r>
              <a:rPr lang="en-US" dirty="0" err="1" smtClean="0"/>
              <a:t>bán</a:t>
            </a:r>
            <a:r>
              <a:rPr lang="en-US" dirty="0" smtClean="0"/>
              <a:t> </a:t>
            </a:r>
            <a:r>
              <a:rPr lang="en-US" dirty="0" err="1" smtClean="0"/>
              <a:t>kính</a:t>
            </a:r>
            <a:r>
              <a:rPr lang="en-US" dirty="0" smtClean="0"/>
              <a:t> = 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</a:t>
            </a:r>
            <a:r>
              <a:rPr lang="en-US" dirty="0" err="1" smtClean="0"/>
              <a:t>implicitplot</a:t>
            </a:r>
            <a:r>
              <a:rPr lang="en-US" dirty="0" smtClean="0"/>
              <a:t>((x-1)^2+(y-1)^2=4,x=-1..3,y=-1..3);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88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99958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9.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hyperbolid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tầng</a:t>
            </a:r>
            <a:r>
              <a:rPr lang="en-US" dirty="0" smtClean="0"/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&gt;implicitplot3d(</a:t>
            </a:r>
            <a:r>
              <a:rPr lang="en-US" dirty="0" err="1" smtClean="0"/>
              <a:t>pt</a:t>
            </a:r>
            <a:r>
              <a:rPr lang="en-US" dirty="0" smtClean="0"/>
              <a:t>, x = -4..4, y = -6..6, z = -6..6, grid=[20,20,20], axes = normal)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grid = …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,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i="1" dirty="0" err="1" smtClean="0"/>
              <a:t>Đề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nghị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học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viên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thay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đổi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miền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biến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thiên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của</a:t>
            </a:r>
            <a:r>
              <a:rPr lang="en-US" sz="2400" i="1" dirty="0" smtClean="0"/>
              <a:t> x, y, z </a:t>
            </a:r>
            <a:r>
              <a:rPr lang="en-US" sz="2400" i="1" dirty="0" err="1" smtClean="0"/>
              <a:t>để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phân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biệt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được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ảnh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hưởng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của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việc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chọn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miền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vẽ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hình</a:t>
            </a:r>
            <a:r>
              <a:rPr lang="en-US" sz="2400" i="1" dirty="0" smtClean="0"/>
              <a:t>. </a:t>
            </a:r>
            <a:r>
              <a:rPr lang="en-US" sz="2400" i="1" dirty="0" err="1" smtClean="0"/>
              <a:t>Học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viên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bỏ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tùy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chọn</a:t>
            </a:r>
            <a:r>
              <a:rPr lang="en-US" sz="2400" i="1" dirty="0" smtClean="0"/>
              <a:t> grid </a:t>
            </a:r>
            <a:r>
              <a:rPr lang="en-US" sz="2400" i="1" dirty="0" err="1" smtClean="0"/>
              <a:t>để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thấy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được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vai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trò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của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nó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671601"/>
              </p:ext>
            </p:extLst>
          </p:nvPr>
        </p:nvGraphicFramePr>
        <p:xfrm>
          <a:off x="4704572" y="1678312"/>
          <a:ext cx="2032368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3" imgW="1028520" imgH="419040" progId="Equation.DSMT4">
                  <p:embed/>
                </p:oleObj>
              </mc:Choice>
              <mc:Fallback>
                <p:oleObj name="Equation" r:id="rId3" imgW="10285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04572" y="1678312"/>
                        <a:ext cx="2032368" cy="82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9144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0070C0"/>
                </a:solidFill>
              </a:rPr>
              <a:t>4. </a:t>
            </a:r>
            <a:r>
              <a:rPr lang="en-US" b="1" u="sng" dirty="0" err="1" smtClean="0">
                <a:solidFill>
                  <a:srgbClr val="0070C0"/>
                </a:solidFill>
              </a:rPr>
              <a:t>Vẽ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hình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chuyển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  <a:r>
              <a:rPr lang="en-US" b="1" u="sng" dirty="0" err="1" smtClean="0">
                <a:solidFill>
                  <a:srgbClr val="0070C0"/>
                </a:solidFill>
              </a:rPr>
              <a:t>động</a:t>
            </a:r>
            <a:endParaRPr lang="en-US" b="1" u="sng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a. </a:t>
            </a:r>
            <a:r>
              <a:rPr lang="en-US" b="1" i="1" dirty="0" err="1" smtClean="0"/>
              <a:t>Trong</a:t>
            </a:r>
            <a:r>
              <a:rPr lang="en-US" b="1" i="1" dirty="0" smtClean="0"/>
              <a:t> </a:t>
            </a:r>
            <a:r>
              <a:rPr lang="en-US" b="1" i="1" dirty="0" err="1" smtClean="0"/>
              <a:t>không</a:t>
            </a:r>
            <a:r>
              <a:rPr lang="en-US" b="1" i="1" dirty="0" smtClean="0"/>
              <a:t> </a:t>
            </a:r>
            <a:r>
              <a:rPr lang="en-US" b="1" i="1" dirty="0" err="1" smtClean="0"/>
              <a:t>gian</a:t>
            </a:r>
            <a:r>
              <a:rPr lang="en-US" b="1" i="1" dirty="0" smtClean="0"/>
              <a:t> 2 </a:t>
            </a:r>
            <a:r>
              <a:rPr lang="en-US" b="1" i="1" dirty="0" err="1" smtClean="0"/>
              <a:t>chiều</a:t>
            </a:r>
            <a:endParaRPr lang="en-US" b="1" i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</a:t>
            </a:r>
            <a:r>
              <a:rPr lang="en-US" dirty="0" err="1" smtClean="0"/>
              <a:t>animatecurve</a:t>
            </a:r>
            <a:r>
              <a:rPr lang="en-US" dirty="0" smtClean="0"/>
              <a:t>(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, x = </a:t>
            </a:r>
            <a:r>
              <a:rPr lang="en-US" dirty="0" err="1" smtClean="0"/>
              <a:t>a..b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</a:t>
            </a:r>
            <a:r>
              <a:rPr lang="en-US" dirty="0" err="1" smtClean="0"/>
              <a:t>animatecurve</a:t>
            </a:r>
            <a:r>
              <a:rPr lang="en-US" dirty="0" smtClean="0"/>
              <a:t>({</a:t>
            </a:r>
            <a:r>
              <a:rPr lang="en-US" dirty="0" err="1" smtClean="0"/>
              <a:t>hàm</a:t>
            </a:r>
            <a:r>
              <a:rPr lang="en-US" dirty="0" smtClean="0"/>
              <a:t> 1, </a:t>
            </a:r>
            <a:r>
              <a:rPr lang="en-US" dirty="0" err="1" smtClean="0"/>
              <a:t>hàm</a:t>
            </a:r>
            <a:r>
              <a:rPr lang="en-US" dirty="0" smtClean="0"/>
              <a:t> 2, …}, x = </a:t>
            </a:r>
            <a:r>
              <a:rPr lang="en-US" dirty="0" err="1" smtClean="0"/>
              <a:t>a..b</a:t>
            </a:r>
            <a:r>
              <a:rPr lang="en-US" dirty="0" smtClean="0"/>
              <a:t>,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012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9167"/>
            <a:ext cx="10515600" cy="560779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, </a:t>
            </a:r>
            <a:r>
              <a:rPr lang="en-US" dirty="0" err="1" smtClean="0"/>
              <a:t>bấm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miền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nút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thanh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animation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ở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872" y="1577056"/>
            <a:ext cx="5258256" cy="1165961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3965510" y="1763486"/>
            <a:ext cx="671804" cy="1222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056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10.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sinx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</a:t>
            </a:r>
            <a:r>
              <a:rPr lang="en-US" dirty="0" err="1" smtClean="0"/>
              <a:t>animatecurve</a:t>
            </a:r>
            <a:r>
              <a:rPr lang="en-US" dirty="0" smtClean="0"/>
              <a:t>(</a:t>
            </a:r>
            <a:r>
              <a:rPr lang="en-US" dirty="0" err="1" smtClean="0"/>
              <a:t>sint</a:t>
            </a:r>
            <a:r>
              <a:rPr lang="en-US" dirty="0" smtClean="0"/>
              <a:t>, t = 0..4*Pi, thickness = 2, frames = 50, scaling = constrained);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frames = n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n </a:t>
            </a:r>
            <a:r>
              <a:rPr lang="en-US" dirty="0" err="1" smtClean="0"/>
              <a:t>ảnh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scaling = constrained (</a:t>
            </a:r>
            <a:r>
              <a:rPr lang="en-US" dirty="0" err="1" smtClean="0"/>
              <a:t>tỉ</a:t>
            </a:r>
            <a:r>
              <a:rPr lang="en-US" dirty="0" smtClean="0"/>
              <a:t> </a:t>
            </a:r>
            <a:r>
              <a:rPr lang="en-US" dirty="0" err="1" smtClean="0"/>
              <a:t>lệ</a:t>
            </a:r>
            <a:r>
              <a:rPr lang="en-US" dirty="0" smtClean="0"/>
              <a:t> chia </a:t>
            </a:r>
            <a:r>
              <a:rPr lang="en-US" dirty="0" err="1" smtClean="0"/>
              <a:t>khoảng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)/unconstrained (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01174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b. </a:t>
            </a:r>
            <a:r>
              <a:rPr lang="en-US" b="1" i="1" dirty="0" err="1" smtClean="0"/>
              <a:t>Trong</a:t>
            </a:r>
            <a:r>
              <a:rPr lang="en-US" b="1" i="1" dirty="0" smtClean="0"/>
              <a:t> </a:t>
            </a:r>
            <a:r>
              <a:rPr lang="en-US" b="1" i="1" dirty="0" err="1" smtClean="0"/>
              <a:t>không</a:t>
            </a:r>
            <a:r>
              <a:rPr lang="en-US" b="1" i="1" dirty="0" smtClean="0"/>
              <a:t> </a:t>
            </a:r>
            <a:r>
              <a:rPr lang="en-US" b="1" i="1" dirty="0" err="1" smtClean="0"/>
              <a:t>gian</a:t>
            </a:r>
            <a:r>
              <a:rPr lang="en-US" b="1" i="1" dirty="0" smtClean="0"/>
              <a:t> 2 </a:t>
            </a:r>
            <a:r>
              <a:rPr lang="en-US" b="1" i="1" dirty="0" err="1" smtClean="0"/>
              <a:t>hoặc</a:t>
            </a:r>
            <a:r>
              <a:rPr lang="en-US" b="1" i="1" dirty="0" smtClean="0"/>
              <a:t> 3 </a:t>
            </a:r>
            <a:r>
              <a:rPr lang="en-US" b="1" i="1" dirty="0" err="1" smtClean="0"/>
              <a:t>chiều</a:t>
            </a:r>
            <a:endParaRPr lang="en-US" b="1" i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&gt;animate(</a:t>
            </a:r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, [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,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], </a:t>
            </a:r>
            <a:r>
              <a:rPr lang="en-US" dirty="0" err="1" smtClean="0"/>
              <a:t>miền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thiên</a:t>
            </a:r>
            <a:r>
              <a:rPr lang="en-US" dirty="0" smtClean="0"/>
              <a:t>,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79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 plot, plot3d, </a:t>
            </a:r>
            <a:r>
              <a:rPr lang="en-US" dirty="0" err="1"/>
              <a:t>implicitplot</a:t>
            </a:r>
            <a:r>
              <a:rPr lang="en-US" dirty="0"/>
              <a:t>, …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 smtClean="0"/>
              <a:t>chọn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trace = m (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m = 0 - </a:t>
            </a:r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, m&gt;0 –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giữ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paraminfo</a:t>
            </a:r>
            <a:r>
              <a:rPr lang="en-US" dirty="0" smtClean="0"/>
              <a:t> = false (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,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= true –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…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679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11</a:t>
            </a:r>
            <a:r>
              <a:rPr lang="en-US" dirty="0" smtClean="0"/>
              <a:t>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f(x) = </a:t>
            </a:r>
            <a:r>
              <a:rPr lang="en-US" dirty="0" err="1" smtClean="0"/>
              <a:t>sinx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phía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f(x) + c.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&gt;animate(plot,[sin(x) + a, x = -2*Pi..2*Pi], a = 0..4, trace = 2);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842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12</a:t>
            </a:r>
            <a:r>
              <a:rPr lang="en-US" dirty="0" smtClean="0"/>
              <a:t>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cycloid x = t – </a:t>
            </a:r>
            <a:r>
              <a:rPr lang="en-US" dirty="0" err="1" smtClean="0"/>
              <a:t>sint</a:t>
            </a:r>
            <a:r>
              <a:rPr lang="en-US" dirty="0" smtClean="0"/>
              <a:t>, y = 1- cost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quay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tròn</a:t>
            </a:r>
            <a:r>
              <a:rPr lang="en-US" dirty="0" smtClean="0"/>
              <a:t> </a:t>
            </a:r>
            <a:r>
              <a:rPr lang="en-US" dirty="0" err="1" smtClean="0"/>
              <a:t>bán</a:t>
            </a:r>
            <a:r>
              <a:rPr lang="en-US" dirty="0" smtClean="0"/>
              <a:t> </a:t>
            </a:r>
            <a:r>
              <a:rPr lang="en-US" dirty="0" err="1" smtClean="0"/>
              <a:t>kính</a:t>
            </a:r>
            <a:r>
              <a:rPr lang="en-US" dirty="0" smtClean="0"/>
              <a:t> 1 </a:t>
            </a:r>
            <a:r>
              <a:rPr lang="en-US" dirty="0" err="1" smtClean="0"/>
              <a:t>dọc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Ox.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&gt;animate({[</a:t>
            </a:r>
            <a:r>
              <a:rPr lang="en-US" dirty="0" err="1" smtClean="0"/>
              <a:t>s+cos</a:t>
            </a:r>
            <a:r>
              <a:rPr lang="en-US" dirty="0" smtClean="0"/>
              <a:t>(t), 1 + sin(t), t = 0..2*Pi], [t –sin(t), 1 – cos(t), t = 0..4*Pi], [s –t*sin(t), 1 – t*cos(t), t = 0..1]}, s = 0..4*Pi, scaling = constrained, frames = 50);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007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c. </a:t>
            </a:r>
            <a:r>
              <a:rPr lang="en-US" b="1" i="1" dirty="0" err="1" smtClean="0"/>
              <a:t>Vẽ</a:t>
            </a:r>
            <a:r>
              <a:rPr lang="en-US" b="1" i="1" dirty="0" smtClean="0"/>
              <a:t> </a:t>
            </a:r>
            <a:r>
              <a:rPr lang="en-US" b="1" i="1" dirty="0" err="1" smtClean="0"/>
              <a:t>hình</a:t>
            </a:r>
            <a:r>
              <a:rPr lang="en-US" b="1" i="1" dirty="0" smtClean="0"/>
              <a:t> </a:t>
            </a:r>
            <a:r>
              <a:rPr lang="en-US" b="1" i="1" dirty="0" err="1" smtClean="0"/>
              <a:t>trong</a:t>
            </a:r>
            <a:r>
              <a:rPr lang="en-US" b="1" i="1" dirty="0" smtClean="0"/>
              <a:t> </a:t>
            </a:r>
            <a:r>
              <a:rPr lang="en-US" b="1" i="1" dirty="0" err="1" smtClean="0"/>
              <a:t>không</a:t>
            </a:r>
            <a:r>
              <a:rPr lang="en-US" b="1" i="1" dirty="0" smtClean="0"/>
              <a:t> </a:t>
            </a:r>
            <a:r>
              <a:rPr lang="en-US" b="1" i="1" dirty="0" err="1" smtClean="0"/>
              <a:t>gian</a:t>
            </a:r>
            <a:r>
              <a:rPr lang="en-US" b="1" i="1" dirty="0" smtClean="0"/>
              <a:t> 3 </a:t>
            </a:r>
            <a:r>
              <a:rPr lang="en-US" b="1" i="1" dirty="0" err="1" smtClean="0"/>
              <a:t>chiều</a:t>
            </a:r>
            <a:endParaRPr lang="en-US" b="1" i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&gt;animate3d(f(</a:t>
            </a:r>
            <a:r>
              <a:rPr lang="en-US" dirty="0" err="1" smtClean="0"/>
              <a:t>x,y,t</a:t>
            </a:r>
            <a:r>
              <a:rPr lang="en-US" dirty="0" smtClean="0"/>
              <a:t>), x = </a:t>
            </a:r>
            <a:r>
              <a:rPr lang="en-US" dirty="0" err="1" smtClean="0"/>
              <a:t>a..b</a:t>
            </a:r>
            <a:r>
              <a:rPr lang="en-US" dirty="0" smtClean="0"/>
              <a:t>, y = </a:t>
            </a:r>
            <a:r>
              <a:rPr lang="en-US" dirty="0" err="1" smtClean="0"/>
              <a:t>c..d</a:t>
            </a:r>
            <a:r>
              <a:rPr lang="en-US" dirty="0" smtClean="0"/>
              <a:t>, t = </a:t>
            </a:r>
            <a:r>
              <a:rPr lang="en-US" dirty="0" err="1" smtClean="0"/>
              <a:t>r..s</a:t>
            </a:r>
            <a:r>
              <a:rPr lang="en-US" dirty="0" smtClean="0"/>
              <a:t>,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655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Bài</a:t>
            </a:r>
            <a:r>
              <a:rPr lang="en-US" b="1" dirty="0" smtClean="0"/>
              <a:t> </a:t>
            </a:r>
            <a:r>
              <a:rPr lang="en-US" b="1" dirty="0" err="1" smtClean="0"/>
              <a:t>tập</a:t>
            </a:r>
            <a:r>
              <a:rPr lang="en-US" b="1" dirty="0" smtClean="0"/>
              <a:t> </a:t>
            </a:r>
            <a:r>
              <a:rPr lang="en-US" b="1" dirty="0" err="1" smtClean="0"/>
              <a:t>luyện</a:t>
            </a:r>
            <a:r>
              <a:rPr lang="en-US" b="1" dirty="0" smtClean="0"/>
              <a:t> </a:t>
            </a:r>
            <a:r>
              <a:rPr lang="en-US" b="1" dirty="0" err="1" smtClean="0"/>
              <a:t>tập</a:t>
            </a:r>
            <a:endParaRPr lang="en-US" b="1" dirty="0" smtClean="0"/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ngũ</a:t>
            </a:r>
            <a:r>
              <a:rPr lang="en-US" dirty="0" smtClean="0"/>
              <a:t> </a:t>
            </a:r>
            <a:r>
              <a:rPr lang="en-US" dirty="0" err="1" smtClean="0"/>
              <a:t>giác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(0,0), (4,0), (4,2), (2,4), (0, 4).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err="1" smtClean="0"/>
              <a:t>chấm</a:t>
            </a:r>
            <a:r>
              <a:rPr lang="en-US" dirty="0" smtClean="0"/>
              <a:t> </a:t>
            </a:r>
            <a:r>
              <a:rPr lang="en-US" dirty="0" err="1" smtClean="0"/>
              <a:t>tròn</a:t>
            </a:r>
            <a:r>
              <a:rPr lang="en-US" dirty="0" smtClean="0"/>
              <a:t>.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mặt</a:t>
            </a:r>
            <a:r>
              <a:rPr lang="en-US" dirty="0" smtClean="0"/>
              <a:t> </a:t>
            </a:r>
            <a:r>
              <a:rPr lang="en-US" dirty="0" err="1" smtClean="0"/>
              <a:t>trụ</a:t>
            </a:r>
            <a:r>
              <a:rPr lang="en-US" dirty="0" smtClean="0"/>
              <a:t> parabolic x</a:t>
            </a:r>
            <a:r>
              <a:rPr lang="en-US" baseline="30000" dirty="0" smtClean="0"/>
              <a:t>2</a:t>
            </a:r>
            <a:r>
              <a:rPr lang="en-US" dirty="0" smtClean="0"/>
              <a:t> + 2y = 0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nón</a:t>
            </a:r>
            <a:r>
              <a:rPr lang="en-US" dirty="0" smtClean="0"/>
              <a:t> elliptic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mặt</a:t>
            </a:r>
            <a:r>
              <a:rPr lang="en-US" dirty="0" smtClean="0"/>
              <a:t> hyperboloid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tầng</a:t>
            </a:r>
            <a:r>
              <a:rPr lang="en-US" dirty="0" smtClean="0"/>
              <a:t> 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mặt</a:t>
            </a:r>
            <a:r>
              <a:rPr lang="en-US" dirty="0" smtClean="0"/>
              <a:t> hyperbolic paraboloid 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395204"/>
              </p:ext>
            </p:extLst>
          </p:nvPr>
        </p:nvGraphicFramePr>
        <p:xfrm>
          <a:off x="4340680" y="3684394"/>
          <a:ext cx="1944004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Equation" r:id="rId3" imgW="1028520" imgH="419040" progId="Equation.DSMT4">
                  <p:embed/>
                </p:oleObj>
              </mc:Choice>
              <mc:Fallback>
                <p:oleObj name="Equation" r:id="rId3" imgW="10285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40680" y="3684394"/>
                        <a:ext cx="1944004" cy="79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158647"/>
              </p:ext>
            </p:extLst>
          </p:nvPr>
        </p:nvGraphicFramePr>
        <p:xfrm>
          <a:off x="5575300" y="4476750"/>
          <a:ext cx="211296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Equation" r:id="rId5" imgW="1117440" imgH="419040" progId="Equation.DSMT4">
                  <p:embed/>
                </p:oleObj>
              </mc:Choice>
              <mc:Fallback>
                <p:oleObj name="Equation" r:id="rId5" imgW="1117440" imgH="41904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5300" y="4476750"/>
                        <a:ext cx="2112963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455029"/>
              </p:ext>
            </p:extLst>
          </p:nvPr>
        </p:nvGraphicFramePr>
        <p:xfrm>
          <a:off x="5808598" y="5175607"/>
          <a:ext cx="18002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Equation" r:id="rId7" imgW="952200" imgH="419040" progId="Equation.DSMT4">
                  <p:embed/>
                </p:oleObj>
              </mc:Choice>
              <mc:Fallback>
                <p:oleObj name="Equation" r:id="rId7" imgW="952200" imgH="4190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08598" y="5175607"/>
                        <a:ext cx="1800225" cy="792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2807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9796"/>
            <a:ext cx="10515600" cy="547716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6.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tim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l-GR" dirty="0" smtClean="0"/>
              <a:t>ρ</a:t>
            </a:r>
            <a:r>
              <a:rPr lang="en-US" dirty="0" smtClean="0"/>
              <a:t> = 1 + cos</a:t>
            </a:r>
            <a:r>
              <a:rPr lang="el-GR" dirty="0" smtClean="0"/>
              <a:t>ϕ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“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tim</a:t>
            </a:r>
            <a:r>
              <a:rPr lang="en-US" dirty="0" smtClean="0"/>
              <a:t>”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7.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x = 4cos</a:t>
            </a:r>
            <a:r>
              <a:rPr lang="en-US" baseline="30000" dirty="0" smtClean="0"/>
              <a:t>3</a:t>
            </a:r>
            <a:r>
              <a:rPr lang="en-US" dirty="0" smtClean="0"/>
              <a:t>t, y = 2sin</a:t>
            </a:r>
            <a:r>
              <a:rPr lang="en-US" baseline="30000" dirty="0" smtClean="0"/>
              <a:t>3</a:t>
            </a:r>
            <a:r>
              <a:rPr lang="en-US" dirty="0" smtClean="0"/>
              <a:t>t (0 ≤ t ≤ 2</a:t>
            </a:r>
            <a:r>
              <a:rPr lang="el-GR" dirty="0" smtClean="0"/>
              <a:t>π</a:t>
            </a:r>
            <a:r>
              <a:rPr lang="en-US" dirty="0" smtClean="0"/>
              <a:t>) </a:t>
            </a:r>
            <a:r>
              <a:rPr lang="en-US" dirty="0" err="1" smtClean="0"/>
              <a:t>nằm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elip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8. Minh </a:t>
            </a:r>
            <a:r>
              <a:rPr lang="en-US" dirty="0" err="1" smtClean="0"/>
              <a:t>họa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astroid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tròn</a:t>
            </a:r>
            <a:r>
              <a:rPr lang="en-US" dirty="0" smtClean="0"/>
              <a:t>. 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547514"/>
              </p:ext>
            </p:extLst>
          </p:nvPr>
        </p:nvGraphicFramePr>
        <p:xfrm>
          <a:off x="5411999" y="2247479"/>
          <a:ext cx="1368002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3" imgW="723600" imgH="419040" progId="Equation.DSMT4">
                  <p:embed/>
                </p:oleObj>
              </mc:Choice>
              <mc:Fallback>
                <p:oleObj name="Equation" r:id="rId3" imgW="7236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1999" y="2247479"/>
                        <a:ext cx="1368002" cy="79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5786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1473</Words>
  <Application>Microsoft Office PowerPoint</Application>
  <PresentationFormat>Widescreen</PresentationFormat>
  <Paragraphs>109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Equation</vt:lpstr>
      <vt:lpstr>Chương 1.5 – Maple – Đồ thị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3.5 – Maple – Đồ thị</dc:title>
  <dc:creator>admin</dc:creator>
  <cp:lastModifiedBy>Admin</cp:lastModifiedBy>
  <cp:revision>52</cp:revision>
  <dcterms:created xsi:type="dcterms:W3CDTF">2022-02-26T13:25:28Z</dcterms:created>
  <dcterms:modified xsi:type="dcterms:W3CDTF">2023-02-20T07:52:20Z</dcterms:modified>
</cp:coreProperties>
</file>