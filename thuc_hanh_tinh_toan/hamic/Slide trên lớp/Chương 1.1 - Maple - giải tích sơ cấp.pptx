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66" r:id="rId15"/>
    <p:sldId id="270" r:id="rId16"/>
    <p:sldId id="272" r:id="rId17"/>
    <p:sldId id="275" r:id="rId18"/>
    <p:sldId id="276" r:id="rId19"/>
    <p:sldId id="273" r:id="rId20"/>
    <p:sldId id="279" r:id="rId21"/>
    <p:sldId id="280" r:id="rId22"/>
    <p:sldId id="271" r:id="rId23"/>
    <p:sldId id="274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4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2-01-09T01:29:06.982"/>
    </inkml:context>
    <inkml:brush xml:id="br0">
      <inkml:brushProperty name="width" value="0.08333" units="cm"/>
      <inkml:brushProperty name="height" value="0.08333" units="cm"/>
      <inkml:brushProperty name="fitToCurve" value="1"/>
    </inkml:brush>
  </inkml:definitions>
  <inkml:traceGroup>
    <inkml:annotationXML>
      <emma:emma xmlns:emma="http://www.w3.org/2003/04/emma" version="1.0">
        <emma:interpretation id="{8D99A732-8B0A-4962-8866-07B18CA0A434}" emma:medium="tactile" emma:mode="ink">
          <msink:context xmlns:msink="http://schemas.microsoft.com/ink/2010/main" type="writingRegion" rotatedBoundingBox="8267,5080 13192,5080 13192,6520 8267,6520"/>
        </emma:interpretation>
      </emma:emma>
    </inkml:annotationXML>
    <inkml:traceGroup>
      <inkml:annotationXML>
        <emma:emma xmlns:emma="http://www.w3.org/2003/04/emma" version="1.0">
          <emma:interpretation id="{8BD9C75E-65EA-4D76-B1DE-7B522FF6315B}" emma:medium="tactile" emma:mode="ink">
            <msink:context xmlns:msink="http://schemas.microsoft.com/ink/2010/main" type="paragraph" rotatedBoundingBox="8267,5080 13192,5080 13192,6520 8267,652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D771EA4-E53E-4232-B9FA-E15F3980CFB5}" emma:medium="tactile" emma:mode="ink">
              <msink:context xmlns:msink="http://schemas.microsoft.com/ink/2010/main" type="line" rotatedBoundingBox="8267,5080 13192,5080 13192,6520 8267,6520"/>
            </emma:interpretation>
          </emma:emma>
        </inkml:annotationXML>
        <inkml:traceGroup>
          <inkml:annotationXML>
            <emma:emma xmlns:emma="http://www.w3.org/2003/04/emma" version="1.0">
              <emma:interpretation id="{0548E2FD-B469-407E-BB29-DB74BF1754D8}" emma:medium="tactile" emma:mode="ink">
                <msink:context xmlns:msink="http://schemas.microsoft.com/ink/2010/main" type="inkWord" rotatedBoundingBox="8267,6505 8282,6505 8282,6520 8267,6520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,</emma:literal>
                </emma:interpretation>
                <emma:interpretation id="interp2" emma:lang="" emma:confidence="0">
                  <emma:literal>\</emma:literal>
                </emma:interpretation>
                <emma:interpretation id="interp3" emma:lang="" emma:confidence="0">
                  <emma:literal>`</emma:literal>
                </emma:interpretation>
                <emma:interpretation id="interp4" emma:lang="" emma:confidence="0">
                  <emma:literal>'</emma:literal>
                </emma:interpretation>
              </emma:one-of>
            </emma:emma>
          </inkml:annotationXML>
          <inkml:trace contextRef="#ctx0" brushRef="#br0">0 0 0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48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284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96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3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60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5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0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43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0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103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9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56ABA0-A348-4D1A-B2E0-25F6C6DDAED6}" type="datetimeFigureOut">
              <a:rPr lang="en-US" smtClean="0"/>
              <a:t>2/13/2023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E488A-2BC0-4967-AD3C-CDB90BCBB8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34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4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4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6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6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2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Chương</a:t>
            </a:r>
            <a:r>
              <a:rPr lang="en-US" dirty="0" smtClean="0"/>
              <a:t> 1.1 – Maple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sơ</a:t>
            </a:r>
            <a:r>
              <a:rPr lang="en-US" dirty="0" smtClean="0"/>
              <a:t> </a:t>
            </a:r>
            <a:r>
              <a:rPr lang="en-US" dirty="0" err="1" smtClean="0"/>
              <a:t>cấp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4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u="sng" dirty="0" smtClean="0"/>
              <a:t>1.1. Maple </a:t>
            </a:r>
            <a:r>
              <a:rPr lang="en-US" b="1" u="sng" dirty="0" err="1" smtClean="0"/>
              <a:t>với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giải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tích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sơ</a:t>
            </a:r>
            <a:r>
              <a:rPr lang="en-US" b="1" u="sng" dirty="0" smtClean="0"/>
              <a:t> </a:t>
            </a:r>
            <a:r>
              <a:rPr lang="en-US" b="1" u="sng" dirty="0" err="1" smtClean="0"/>
              <a:t>cấp</a:t>
            </a:r>
            <a:endParaRPr lang="en-US" b="1" u="sng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b="1" u="sng" dirty="0" smtClean="0"/>
          </a:p>
          <a:p>
            <a:pPr marL="0" indent="0" algn="ctr">
              <a:buNone/>
            </a:pPr>
            <a:r>
              <a:rPr lang="en-US" dirty="0" smtClean="0"/>
              <a:t>1.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2.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/>
              <a:t>hạn</a:t>
            </a:r>
            <a:r>
              <a:rPr lang="en-US" dirty="0"/>
              <a:t>,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, </a:t>
            </a:r>
            <a:r>
              <a:rPr lang="en-US" dirty="0" err="1" smtClean="0"/>
              <a:t>chuỗi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3.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4.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5.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max, min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578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1. </a:t>
            </a:r>
            <a:r>
              <a:rPr lang="en-US" b="1" i="1" u="sng" dirty="0" err="1" smtClean="0"/>
              <a:t>Giải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các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phương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trình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đại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số</a:t>
            </a:r>
            <a:endParaRPr lang="en-US" b="1" i="1" u="sng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solve(</a:t>
            </a:r>
            <a:r>
              <a:rPr lang="en-US" dirty="0" err="1" smtClean="0">
                <a:solidFill>
                  <a:srgbClr val="C00000"/>
                </a:solidFill>
              </a:rPr>
              <a:t>eq,var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eq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,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,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,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bpt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- </a:t>
            </a:r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/>
              <a:t>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25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endParaRPr lang="en-US" b="1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1.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solve(x</a:t>
            </a:r>
            <a:r>
              <a:rPr lang="en-US" baseline="30000" dirty="0" smtClean="0"/>
              <a:t>2</a:t>
            </a:r>
            <a:r>
              <a:rPr lang="en-US" dirty="0" smtClean="0"/>
              <a:t> – 3x + 2 = 0, 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2.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solve(mx</a:t>
            </a:r>
            <a:r>
              <a:rPr lang="en-US" baseline="30000" dirty="0" smtClean="0"/>
              <a:t>2</a:t>
            </a:r>
            <a:r>
              <a:rPr lang="en-US" dirty="0" smtClean="0"/>
              <a:t> – 3x + 2 = 0, 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3.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solve({x + 2y = 3, 4x + 5y = 6}, {</a:t>
            </a:r>
            <a:r>
              <a:rPr lang="en-US" dirty="0" err="1" smtClean="0"/>
              <a:t>x,y</a:t>
            </a:r>
            <a:r>
              <a:rPr lang="en-US" dirty="0" smtClean="0"/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074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4.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solve(2(x + 3) &lt; 5x – 12, 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5.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pt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solve({3 + 5x &lt; 4 – 2x, (x – 1)/2 &lt; x/4 + 1}, x);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14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2. </a:t>
            </a:r>
            <a:r>
              <a:rPr lang="en-US" b="1" i="1" u="sng" dirty="0" err="1" smtClean="0"/>
              <a:t>Tính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giới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hạn</a:t>
            </a:r>
            <a:endParaRPr lang="en-US" b="1" i="1" u="sng" dirty="0" smtClean="0"/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Giới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hạn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2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phía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r>
              <a:rPr lang="en-US" dirty="0" smtClean="0">
                <a:solidFill>
                  <a:srgbClr val="C00000"/>
                </a:solidFill>
              </a:rPr>
              <a:t> limit(f(x), x = a)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Giới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hạn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một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phía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:</a:t>
            </a:r>
            <a:r>
              <a:rPr lang="en-US" dirty="0" smtClean="0">
                <a:solidFill>
                  <a:srgbClr val="C00000"/>
                </a:solidFill>
              </a:rPr>
              <a:t> limit(f(x), x = a, opt)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Ở </a:t>
            </a:r>
            <a:r>
              <a:rPr lang="en-US" dirty="0" err="1" smtClean="0"/>
              <a:t>đây</a:t>
            </a:r>
            <a:r>
              <a:rPr lang="en-US" dirty="0" smtClean="0"/>
              <a:t> x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a, opt = left, right, 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vô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(infinity)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21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endParaRPr lang="en-US" b="1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limit(sin(x)/x, x = 0);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limit(e^(-x), x = infinity);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limit(e^(-x), x = – infinity);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limit(1/x, x = 0, left);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58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3. </a:t>
            </a:r>
            <a:r>
              <a:rPr lang="en-US" b="1" i="1" u="sng" dirty="0" err="1" smtClean="0"/>
              <a:t>Tính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tổng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của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chuỗi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số</a:t>
            </a:r>
            <a:endParaRPr lang="en-US" b="1" i="1" u="sng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sum(f(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),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r>
              <a:rPr lang="en-US" dirty="0" smtClean="0">
                <a:solidFill>
                  <a:srgbClr val="C00000"/>
                </a:solidFill>
              </a:rPr>
              <a:t> = </a:t>
            </a:r>
            <a:r>
              <a:rPr lang="en-US" dirty="0" err="1" smtClean="0">
                <a:solidFill>
                  <a:srgbClr val="C00000"/>
                </a:solidFill>
              </a:rPr>
              <a:t>cận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dưới</a:t>
            </a:r>
            <a:r>
              <a:rPr lang="en-US" smtClean="0">
                <a:solidFill>
                  <a:srgbClr val="C00000"/>
                </a:solidFill>
              </a:rPr>
              <a:t> .. </a:t>
            </a:r>
            <a:r>
              <a:rPr lang="en-US" dirty="0" err="1" smtClean="0">
                <a:solidFill>
                  <a:srgbClr val="C00000"/>
                </a:solidFill>
              </a:rPr>
              <a:t>cận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trên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Cận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trên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là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một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số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hữu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hạn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nếu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chuỗi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là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hữu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hạn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,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là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vô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hạn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nếu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chuỗi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là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vô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</a:rPr>
              <a:t>hạn</a:t>
            </a:r>
            <a:endParaRPr lang="en-US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2" name="Ink 61"/>
              <p14:cNvContentPartPr/>
              <p14:nvPr/>
            </p14:nvContentPartPr>
            <p14:xfrm>
              <a:off x="2976392" y="2341822"/>
              <a:ext cx="360" cy="360"/>
            </p14:xfrm>
          </p:contentPart>
        </mc:Choice>
        <mc:Fallback xmlns="">
          <p:pic>
            <p:nvPicPr>
              <p:cNvPr id="62" name="Ink 61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1272" y="1809742"/>
                <a:ext cx="1803600" cy="54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31852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endParaRPr lang="en-US" b="1" dirty="0">
              <a:solidFill>
                <a:srgbClr val="00B050"/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 </a:t>
            </a:r>
            <a:r>
              <a:rPr lang="en-US" dirty="0" err="1" smtClean="0"/>
              <a:t>liên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1 </a:t>
            </a:r>
            <a:r>
              <a:rPr lang="en-US" dirty="0" err="1" smtClean="0"/>
              <a:t>đến</a:t>
            </a:r>
            <a:r>
              <a:rPr lang="en-US" dirty="0" smtClean="0"/>
              <a:t> n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sum(i^2, </a:t>
            </a:r>
            <a:r>
              <a:rPr lang="en-US" dirty="0" err="1" smtClean="0"/>
              <a:t>i</a:t>
            </a:r>
            <a:r>
              <a:rPr lang="en-US" dirty="0" smtClean="0"/>
              <a:t> = 1..n);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2.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tổng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sum(–1/3^n, n = 1..infinity); </a:t>
            </a:r>
            <a:endParaRPr lang="en-US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871053"/>
              </p:ext>
            </p:extLst>
          </p:nvPr>
        </p:nvGraphicFramePr>
        <p:xfrm>
          <a:off x="4248275" y="2772975"/>
          <a:ext cx="1217645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Equation" r:id="rId3" imgW="634680" imgH="431640" progId="Equation.DSMT4">
                  <p:embed/>
                </p:oleObj>
              </mc:Choice>
              <mc:Fallback>
                <p:oleObj name="Equation" r:id="rId3" imgW="634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48275" y="2772975"/>
                        <a:ext cx="1217645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6065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4. </a:t>
            </a:r>
            <a:r>
              <a:rPr lang="en-US" b="1" i="1" u="sng" dirty="0" err="1" smtClean="0"/>
              <a:t>Chuỗi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lũy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thừa</a:t>
            </a:r>
            <a:endParaRPr lang="en-US" b="1" i="1" u="sng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dưới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lũy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series(f(x), x = a, </a:t>
            </a:r>
            <a:r>
              <a:rPr lang="en-US" dirty="0" err="1" smtClean="0">
                <a:solidFill>
                  <a:srgbClr val="C00000"/>
                </a:solidFill>
              </a:rPr>
              <a:t>bậc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lũy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thừa</a:t>
            </a:r>
            <a:r>
              <a:rPr lang="en-US" dirty="0" smtClean="0">
                <a:solidFill>
                  <a:srgbClr val="C00000"/>
                </a:solidFill>
              </a:rPr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endParaRPr lang="en-US" b="1" dirty="0" smtClean="0">
              <a:solidFill>
                <a:srgbClr val="00B05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Taylor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lnx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x = 1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lũy</a:t>
            </a:r>
            <a:r>
              <a:rPr lang="en-US" dirty="0" smtClean="0"/>
              <a:t> </a:t>
            </a:r>
            <a:r>
              <a:rPr lang="en-US" dirty="0" err="1" smtClean="0"/>
              <a:t>thừa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4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/>
              <a:t>s</a:t>
            </a:r>
            <a:r>
              <a:rPr lang="en-US" dirty="0" smtClean="0"/>
              <a:t>eries(ln(x), x=1, 4);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9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khai</a:t>
            </a:r>
            <a:r>
              <a:rPr lang="en-US" dirty="0" smtClean="0"/>
              <a:t> </a:t>
            </a:r>
            <a:r>
              <a:rPr lang="en-US" dirty="0" err="1" smtClean="0"/>
              <a:t>triển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xấp</a:t>
            </a:r>
            <a:r>
              <a:rPr lang="en-US" dirty="0" smtClean="0"/>
              <a:t> </a:t>
            </a:r>
            <a:r>
              <a:rPr lang="en-US" dirty="0" err="1" smtClean="0"/>
              <a:t>xỉ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ln(1.1)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series(ln(x), x=1, 4);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P:=convert(%, </a:t>
            </a:r>
            <a:r>
              <a:rPr lang="en-US" dirty="0" err="1" smtClean="0"/>
              <a:t>polynom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subs( x = 1.1, P);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502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5. </a:t>
            </a:r>
            <a:r>
              <a:rPr lang="en-US" b="1" i="1" u="sng" dirty="0" err="1" smtClean="0"/>
              <a:t>Đạo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hàm</a:t>
            </a:r>
            <a:endParaRPr lang="en-US" b="1" i="1" u="sng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diff(f(x), 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n: </a:t>
            </a:r>
            <a:r>
              <a:rPr lang="en-US" dirty="0" smtClean="0">
                <a:solidFill>
                  <a:srgbClr val="C00000"/>
                </a:solidFill>
              </a:rPr>
              <a:t>diff(f(x),</a:t>
            </a:r>
            <a:r>
              <a:rPr lang="en-US" dirty="0" err="1" smtClean="0">
                <a:solidFill>
                  <a:srgbClr val="C00000"/>
                </a:solidFill>
              </a:rPr>
              <a:t>x$n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riêng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diff(f(</a:t>
            </a:r>
            <a:r>
              <a:rPr lang="en-US" dirty="0" err="1" smtClean="0">
                <a:solidFill>
                  <a:srgbClr val="C00000"/>
                </a:solidFill>
              </a:rPr>
              <a:t>x,y</a:t>
            </a:r>
            <a:r>
              <a:rPr lang="en-US" dirty="0" smtClean="0">
                <a:solidFill>
                  <a:srgbClr val="C00000"/>
                </a:solidFill>
              </a:rPr>
              <a:t>),x); diff(f(</a:t>
            </a:r>
            <a:r>
              <a:rPr lang="en-US" dirty="0" err="1" smtClean="0">
                <a:solidFill>
                  <a:srgbClr val="C00000"/>
                </a:solidFill>
              </a:rPr>
              <a:t>x,y</a:t>
            </a:r>
            <a:r>
              <a:rPr lang="en-US" dirty="0" smtClean="0">
                <a:solidFill>
                  <a:srgbClr val="C00000"/>
                </a:solidFill>
              </a:rPr>
              <a:t>), x, y);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893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6. </a:t>
            </a:r>
            <a:r>
              <a:rPr lang="en-US" b="1" i="1" u="sng" dirty="0" err="1" smtClean="0"/>
              <a:t>Tích</a:t>
            </a:r>
            <a:r>
              <a:rPr lang="en-US" b="1" i="1" u="sng" dirty="0" smtClean="0"/>
              <a:t> </a:t>
            </a:r>
            <a:r>
              <a:rPr lang="en-US" b="1" i="1" u="sng" dirty="0" err="1" smtClean="0"/>
              <a:t>phân</a:t>
            </a:r>
            <a:endParaRPr lang="en-US" b="1" i="1" u="sng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int</a:t>
            </a:r>
            <a:r>
              <a:rPr lang="en-US" dirty="0" smtClean="0">
                <a:solidFill>
                  <a:srgbClr val="C00000"/>
                </a:solidFill>
              </a:rPr>
              <a:t>(f(x), x = </a:t>
            </a:r>
            <a:r>
              <a:rPr lang="en-US" dirty="0" err="1" smtClean="0">
                <a:solidFill>
                  <a:srgbClr val="C00000"/>
                </a:solidFill>
              </a:rPr>
              <a:t>cận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dưới</a:t>
            </a:r>
            <a:r>
              <a:rPr lang="en-US" dirty="0" smtClean="0">
                <a:solidFill>
                  <a:srgbClr val="C00000"/>
                </a:solidFill>
              </a:rPr>
              <a:t> .. </a:t>
            </a:r>
            <a:r>
              <a:rPr lang="en-US" dirty="0" err="1">
                <a:solidFill>
                  <a:srgbClr val="C00000"/>
                </a:solidFill>
              </a:rPr>
              <a:t>c</a:t>
            </a:r>
            <a:r>
              <a:rPr lang="en-US" dirty="0" err="1" smtClean="0">
                <a:solidFill>
                  <a:srgbClr val="C00000"/>
                </a:solidFill>
              </a:rPr>
              <a:t>ận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trên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Maple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379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int</a:t>
            </a:r>
            <a:r>
              <a:rPr lang="en-US" dirty="0" smtClean="0"/>
              <a:t>(tan(x),x);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int</a:t>
            </a:r>
            <a:r>
              <a:rPr lang="en-US" dirty="0" smtClean="0"/>
              <a:t>(x^3*</a:t>
            </a:r>
            <a:r>
              <a:rPr lang="en-US" dirty="0" err="1" smtClean="0"/>
              <a:t>sqrt</a:t>
            </a:r>
            <a:r>
              <a:rPr lang="en-US" dirty="0" smtClean="0"/>
              <a:t>(x^2 – a^2), x = a..2*a);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int</a:t>
            </a:r>
            <a:r>
              <a:rPr lang="en-US" dirty="0" smtClean="0"/>
              <a:t>(x*</a:t>
            </a:r>
            <a:r>
              <a:rPr lang="en-US" dirty="0" err="1" smtClean="0"/>
              <a:t>exp</a:t>
            </a:r>
            <a:r>
              <a:rPr lang="en-US" dirty="0" smtClean="0"/>
              <a:t>(-x), x= 0..infinity);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int</a:t>
            </a:r>
            <a:r>
              <a:rPr lang="en-US" dirty="0" smtClean="0"/>
              <a:t>(1/</a:t>
            </a:r>
            <a:r>
              <a:rPr lang="en-US" dirty="0" err="1" smtClean="0"/>
              <a:t>sqrt</a:t>
            </a:r>
            <a:r>
              <a:rPr lang="en-US" dirty="0" smtClean="0"/>
              <a:t>(x), x = 0..1);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1412271"/>
              </p:ext>
            </p:extLst>
          </p:nvPr>
        </p:nvGraphicFramePr>
        <p:xfrm>
          <a:off x="3405187" y="1251890"/>
          <a:ext cx="5381625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3" imgW="2806560" imgH="469800" progId="Equation.DSMT4">
                  <p:embed/>
                </p:oleObj>
              </mc:Choice>
              <mc:Fallback>
                <p:oleObj name="Equation" r:id="rId3" imgW="2806560" imgH="469800" progId="Equation.DSMT4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05187" y="1251890"/>
                        <a:ext cx="5381625" cy="900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709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Tồn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Maple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,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xấp</a:t>
            </a:r>
            <a:r>
              <a:rPr lang="en-US" dirty="0" smtClean="0"/>
              <a:t> </a:t>
            </a:r>
            <a:r>
              <a:rPr lang="en-US" dirty="0" err="1" smtClean="0"/>
              <a:t>xỉ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(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xấp</a:t>
            </a:r>
            <a:r>
              <a:rPr lang="en-US" dirty="0" smtClean="0"/>
              <a:t> </a:t>
            </a:r>
            <a:r>
              <a:rPr lang="en-US" dirty="0" err="1" smtClean="0"/>
              <a:t>xỉ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tích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int</a:t>
            </a:r>
            <a:r>
              <a:rPr lang="en-US" dirty="0" smtClean="0"/>
              <a:t>(1/(x + </a:t>
            </a:r>
            <a:r>
              <a:rPr lang="en-US" dirty="0" err="1" smtClean="0"/>
              <a:t>exp</a:t>
            </a:r>
            <a:r>
              <a:rPr lang="en-US" dirty="0" smtClean="0"/>
              <a:t>(x), x = 0..1);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evalf</a:t>
            </a:r>
            <a:r>
              <a:rPr lang="en-US" dirty="0" smtClean="0"/>
              <a:t>(%);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160660"/>
              </p:ext>
            </p:extLst>
          </p:nvPr>
        </p:nvGraphicFramePr>
        <p:xfrm>
          <a:off x="5570473" y="2547549"/>
          <a:ext cx="1290637" cy="900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Equation" r:id="rId3" imgW="672840" imgH="469800" progId="Equation.DSMT4">
                  <p:embed/>
                </p:oleObj>
              </mc:Choice>
              <mc:Fallback>
                <p:oleObj name="Equation" r:id="rId3" imgW="672840" imgH="4698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70473" y="2547549"/>
                        <a:ext cx="1290637" cy="900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7246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i="1" u="sng" dirty="0" smtClean="0"/>
              <a:t>7. </a:t>
            </a:r>
            <a:r>
              <a:rPr lang="en-US" b="1" i="1" u="sng" dirty="0" err="1" smtClean="0"/>
              <a:t>Tìm</a:t>
            </a:r>
            <a:r>
              <a:rPr lang="en-US" b="1" i="1" u="sng" dirty="0" smtClean="0"/>
              <a:t> min </a:t>
            </a:r>
            <a:r>
              <a:rPr lang="en-US" b="1" i="1" u="sng" dirty="0" err="1" smtClean="0"/>
              <a:t>và</a:t>
            </a:r>
            <a:r>
              <a:rPr lang="en-US" b="1" i="1" u="sng" dirty="0" smtClean="0"/>
              <a:t> max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 err="1"/>
              <a:t>T</a:t>
            </a:r>
            <a:r>
              <a:rPr lang="en-US" dirty="0" err="1" smtClean="0"/>
              <a:t>ìm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tới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with(Student[Calculus1]);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CriticalPoints</a:t>
            </a:r>
            <a:r>
              <a:rPr lang="en-US" dirty="0" smtClean="0">
                <a:solidFill>
                  <a:srgbClr val="C00000"/>
                </a:solidFill>
              </a:rPr>
              <a:t>(f(x), x); </a:t>
            </a:r>
            <a:r>
              <a:rPr lang="en-US" dirty="0" err="1" smtClean="0">
                <a:solidFill>
                  <a:srgbClr val="C00000"/>
                </a:solidFill>
              </a:rPr>
              <a:t>CriticalPoints</a:t>
            </a:r>
            <a:r>
              <a:rPr lang="en-US" dirty="0" smtClean="0">
                <a:solidFill>
                  <a:srgbClr val="C00000"/>
                </a:solidFill>
              </a:rPr>
              <a:t>(f(x), x = </a:t>
            </a:r>
            <a:r>
              <a:rPr lang="en-US" dirty="0" err="1" smtClean="0">
                <a:solidFill>
                  <a:srgbClr val="C00000"/>
                </a:solidFill>
              </a:rPr>
              <a:t>a..b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-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uốn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with(</a:t>
            </a:r>
            <a:r>
              <a:rPr lang="en-US" dirty="0" smtClean="0">
                <a:solidFill>
                  <a:srgbClr val="C00000"/>
                </a:solidFill>
              </a:rPr>
              <a:t>Student[Calculus1]);</a:t>
            </a: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InflectionPoints</a:t>
            </a:r>
            <a:r>
              <a:rPr lang="en-US" dirty="0" smtClean="0">
                <a:solidFill>
                  <a:srgbClr val="C00000"/>
                </a:solidFill>
              </a:rPr>
              <a:t>(f(x</a:t>
            </a:r>
            <a:r>
              <a:rPr lang="en-US" dirty="0">
                <a:solidFill>
                  <a:srgbClr val="C00000"/>
                </a:solidFill>
              </a:rPr>
              <a:t>), x); </a:t>
            </a:r>
            <a:r>
              <a:rPr lang="en-US" dirty="0" err="1">
                <a:solidFill>
                  <a:srgbClr val="C00000"/>
                </a:solidFill>
              </a:rPr>
              <a:t>Inflection</a:t>
            </a:r>
            <a:r>
              <a:rPr lang="en-US" dirty="0" err="1" smtClean="0">
                <a:solidFill>
                  <a:srgbClr val="C00000"/>
                </a:solidFill>
              </a:rPr>
              <a:t>Points</a:t>
            </a:r>
            <a:r>
              <a:rPr lang="en-US" dirty="0" smtClean="0">
                <a:solidFill>
                  <a:srgbClr val="C00000"/>
                </a:solidFill>
              </a:rPr>
              <a:t>(f(x</a:t>
            </a:r>
            <a:r>
              <a:rPr lang="en-US" dirty="0">
                <a:solidFill>
                  <a:srgbClr val="C00000"/>
                </a:solidFill>
              </a:rPr>
              <a:t>), x = </a:t>
            </a:r>
            <a:r>
              <a:rPr lang="en-US" dirty="0" err="1">
                <a:solidFill>
                  <a:srgbClr val="C00000"/>
                </a:solidFill>
              </a:rPr>
              <a:t>a..b</a:t>
            </a:r>
            <a:r>
              <a:rPr lang="en-US" dirty="0">
                <a:solidFill>
                  <a:srgbClr val="C00000"/>
                </a:solidFill>
              </a:rPr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59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tiệm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with(</a:t>
            </a:r>
            <a:r>
              <a:rPr lang="en-US" dirty="0" smtClean="0">
                <a:solidFill>
                  <a:srgbClr val="C00000"/>
                </a:solidFill>
              </a:rPr>
              <a:t>Student[Calculus1]);</a:t>
            </a: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Asymptotes(f(x</a:t>
            </a:r>
            <a:r>
              <a:rPr lang="en-US" dirty="0">
                <a:solidFill>
                  <a:srgbClr val="C00000"/>
                </a:solidFill>
              </a:rPr>
              <a:t>), x); Asymptotes(f(x), </a:t>
            </a:r>
            <a:r>
              <a:rPr lang="en-US" dirty="0" smtClean="0">
                <a:solidFill>
                  <a:srgbClr val="C00000"/>
                </a:solidFill>
              </a:rPr>
              <a:t>x = </a:t>
            </a:r>
            <a:r>
              <a:rPr lang="en-US" dirty="0" err="1" smtClean="0">
                <a:solidFill>
                  <a:srgbClr val="C00000"/>
                </a:solidFill>
              </a:rPr>
              <a:t>a..b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  <a:endParaRPr lang="en-US" dirty="0">
              <a:solidFill>
                <a:srgbClr val="C00000"/>
              </a:solidFill>
            </a:endParaRPr>
          </a:p>
          <a:p>
            <a:pPr algn="just">
              <a:lnSpc>
                <a:spcPct val="150000"/>
              </a:lnSpc>
              <a:buFontTx/>
              <a:buChar char="-"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dirty="0" smtClean="0"/>
              <a:t>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tiệm</a:t>
            </a:r>
            <a:r>
              <a:rPr lang="en-US" dirty="0" smtClean="0"/>
              <a:t> </a:t>
            </a:r>
            <a:r>
              <a:rPr lang="en-US" dirty="0" err="1" smtClean="0"/>
              <a:t>cận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2568719"/>
              </p:ext>
            </p:extLst>
          </p:nvPr>
        </p:nvGraphicFramePr>
        <p:xfrm>
          <a:off x="5160121" y="4329858"/>
          <a:ext cx="170497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2" name="Equation" r:id="rId3" imgW="888840" imgH="393480" progId="Equation.DSMT4">
                  <p:embed/>
                </p:oleObj>
              </mc:Choice>
              <mc:Fallback>
                <p:oleObj name="Equation" r:id="rId3" imgW="88884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0121" y="4329858"/>
                        <a:ext cx="1704975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9481179"/>
              </p:ext>
            </p:extLst>
          </p:nvPr>
        </p:nvGraphicFramePr>
        <p:xfrm>
          <a:off x="5160121" y="5340723"/>
          <a:ext cx="23129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73" name="Equation" r:id="rId5" imgW="1206360" imgH="419040" progId="Equation.DSMT4">
                  <p:embed/>
                </p:oleObj>
              </mc:Choice>
              <mc:Fallback>
                <p:oleObj name="Equation" r:id="rId5" imgW="1206360" imgH="4190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60121" y="5340723"/>
                        <a:ext cx="2312987" cy="80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91399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-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>
                <a:solidFill>
                  <a:srgbClr val="C00000"/>
                </a:solidFill>
              </a:rPr>
              <a:t>with(</a:t>
            </a:r>
            <a:r>
              <a:rPr lang="en-US" dirty="0" smtClean="0">
                <a:solidFill>
                  <a:srgbClr val="C00000"/>
                </a:solidFill>
              </a:rPr>
              <a:t>Student[Calculus1]);</a:t>
            </a:r>
            <a:endParaRPr lang="en-US" dirty="0">
              <a:solidFill>
                <a:srgbClr val="C0000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ExtremePoints</a:t>
            </a:r>
            <a:r>
              <a:rPr lang="en-US" dirty="0" smtClean="0">
                <a:solidFill>
                  <a:srgbClr val="C00000"/>
                </a:solidFill>
              </a:rPr>
              <a:t>(f(x</a:t>
            </a:r>
            <a:r>
              <a:rPr lang="en-US" dirty="0">
                <a:solidFill>
                  <a:srgbClr val="C00000"/>
                </a:solidFill>
              </a:rPr>
              <a:t>), x); </a:t>
            </a:r>
            <a:r>
              <a:rPr lang="en-US" dirty="0" smtClean="0">
                <a:solidFill>
                  <a:srgbClr val="C00000"/>
                </a:solidFill>
              </a:rPr>
              <a:t>- </a:t>
            </a:r>
            <a:r>
              <a:rPr lang="en-US" dirty="0" err="1" smtClean="0">
                <a:solidFill>
                  <a:srgbClr val="C00000"/>
                </a:solidFill>
              </a:rPr>
              <a:t>điểm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cực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trị</a:t>
            </a:r>
            <a:endParaRPr lang="en-US" dirty="0" smtClean="0">
              <a:solidFill>
                <a:srgbClr val="C0000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err="1" smtClean="0">
                <a:solidFill>
                  <a:srgbClr val="C00000"/>
                </a:solidFill>
              </a:rPr>
              <a:t>ExtremePoints</a:t>
            </a:r>
            <a:r>
              <a:rPr lang="en-US" dirty="0" smtClean="0">
                <a:solidFill>
                  <a:srgbClr val="C00000"/>
                </a:solidFill>
              </a:rPr>
              <a:t>(f(x</a:t>
            </a:r>
            <a:r>
              <a:rPr lang="en-US" dirty="0">
                <a:solidFill>
                  <a:srgbClr val="C00000"/>
                </a:solidFill>
              </a:rPr>
              <a:t>), x = </a:t>
            </a:r>
            <a:r>
              <a:rPr lang="en-US" dirty="0" err="1">
                <a:solidFill>
                  <a:srgbClr val="C00000"/>
                </a:solidFill>
              </a:rPr>
              <a:t>a..b</a:t>
            </a:r>
            <a:r>
              <a:rPr lang="en-US" dirty="0" smtClean="0">
                <a:solidFill>
                  <a:srgbClr val="C00000"/>
                </a:solidFill>
              </a:rPr>
              <a:t>); - </a:t>
            </a:r>
            <a:r>
              <a:rPr lang="en-US" dirty="0" err="1" smtClean="0">
                <a:solidFill>
                  <a:srgbClr val="C00000"/>
                </a:solidFill>
              </a:rPr>
              <a:t>điểm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lớn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nhất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và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nhỏ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nhất</a:t>
            </a:r>
            <a:endParaRPr lang="en-US" dirty="0">
              <a:solidFill>
                <a:srgbClr val="C00000"/>
              </a:solidFill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451502"/>
              </p:ext>
            </p:extLst>
          </p:nvPr>
        </p:nvGraphicFramePr>
        <p:xfrm>
          <a:off x="4557356" y="4456080"/>
          <a:ext cx="32639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9" name="Equation" r:id="rId3" imgW="1701720" imgH="228600" progId="Equation.DSMT4">
                  <p:embed/>
                </p:oleObj>
              </mc:Choice>
              <mc:Fallback>
                <p:oleObj name="Equation" r:id="rId3" imgW="1701720" imgH="22860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57356" y="4456080"/>
                        <a:ext cx="326390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4611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 -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with(Optimization);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Maximize(f(x), </a:t>
            </a:r>
            <a:r>
              <a:rPr lang="en-US" dirty="0" err="1" smtClean="0">
                <a:solidFill>
                  <a:srgbClr val="C00000"/>
                </a:solidFill>
              </a:rPr>
              <a:t>tập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hợp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các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điều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kiện</a:t>
            </a:r>
            <a:r>
              <a:rPr lang="en-US" dirty="0" smtClean="0">
                <a:solidFill>
                  <a:srgbClr val="C00000"/>
                </a:solidFill>
              </a:rPr>
              <a:t>, </a:t>
            </a:r>
            <a:r>
              <a:rPr lang="en-US" dirty="0" err="1" smtClean="0">
                <a:solidFill>
                  <a:srgbClr val="C00000"/>
                </a:solidFill>
              </a:rPr>
              <a:t>miền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biến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đổi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của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biến</a:t>
            </a:r>
            <a:r>
              <a:rPr lang="en-US" dirty="0" smtClean="0">
                <a:solidFill>
                  <a:srgbClr val="C00000"/>
                </a:solidFill>
              </a:rPr>
              <a:t>);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>
                <a:solidFill>
                  <a:srgbClr val="C00000"/>
                </a:solidFill>
              </a:rPr>
              <a:t>Minimize(</a:t>
            </a:r>
            <a:r>
              <a:rPr lang="en-US" dirty="0">
                <a:solidFill>
                  <a:srgbClr val="C00000"/>
                </a:solidFill>
              </a:rPr>
              <a:t>f(x), </a:t>
            </a:r>
            <a:r>
              <a:rPr lang="en-US" dirty="0" err="1">
                <a:solidFill>
                  <a:srgbClr val="C00000"/>
                </a:solidFill>
              </a:rPr>
              <a:t>tập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hợp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các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điều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kiện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 err="1">
                <a:solidFill>
                  <a:srgbClr val="C00000"/>
                </a:solidFill>
              </a:rPr>
              <a:t>miền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biến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đổi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của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biến</a:t>
            </a:r>
            <a:r>
              <a:rPr lang="en-US" dirty="0">
                <a:solidFill>
                  <a:srgbClr val="C00000"/>
                </a:solidFill>
              </a:rPr>
              <a:t>);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(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,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)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maximize(f(x),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thiên</a:t>
            </a:r>
            <a:r>
              <a:rPr lang="en-US" dirty="0" smtClean="0"/>
              <a:t>);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	</a:t>
            </a:r>
            <a:r>
              <a:rPr lang="en-US" dirty="0" smtClean="0"/>
              <a:t>minimize(f(x), </a:t>
            </a:r>
            <a:r>
              <a:rPr lang="en-US" dirty="0" err="1" smtClean="0"/>
              <a:t>miền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thiên</a:t>
            </a:r>
            <a:r>
              <a:rPr lang="en-US" dirty="0" smtClean="0"/>
              <a:t>)</a:t>
            </a: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532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rgbClr val="00B050"/>
                </a:solidFill>
              </a:rPr>
              <a:t>Ví</a:t>
            </a:r>
            <a:r>
              <a:rPr lang="en-US" b="1" dirty="0" smtClean="0">
                <a:solidFill>
                  <a:srgbClr val="00B050"/>
                </a:solidFill>
              </a:rPr>
              <a:t> </a:t>
            </a:r>
            <a:r>
              <a:rPr lang="en-US" b="1" dirty="0" err="1" smtClean="0">
                <a:solidFill>
                  <a:srgbClr val="00B050"/>
                </a:solidFill>
              </a:rPr>
              <a:t>dụ</a:t>
            </a:r>
            <a:r>
              <a:rPr lang="en-US" b="1" dirty="0" smtClean="0">
                <a:solidFill>
                  <a:srgbClr val="00B050"/>
                </a:solidFill>
              </a:rPr>
              <a:t>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pPr marL="0" indent="0" algn="just">
              <a:lnSpc>
                <a:spcPct val="150000"/>
              </a:lnSpc>
              <a:buNone/>
            </a:pPr>
            <a:endParaRPr lang="en-US" dirty="0" smtClean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-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            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3x + 4y = 10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052799"/>
              </p:ext>
            </p:extLst>
          </p:nvPr>
        </p:nvGraphicFramePr>
        <p:xfrm>
          <a:off x="4538696" y="1330325"/>
          <a:ext cx="32639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Equation" r:id="rId3" imgW="1701720" imgH="228600" progId="Equation.DSMT4">
                  <p:embed/>
                </p:oleObj>
              </mc:Choice>
              <mc:Fallback>
                <p:oleObj name="Equation" r:id="rId3" imgW="1701720" imgH="2286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38696" y="1330325"/>
                        <a:ext cx="326390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8047091"/>
              </p:ext>
            </p:extLst>
          </p:nvPr>
        </p:nvGraphicFramePr>
        <p:xfrm>
          <a:off x="4697311" y="3009511"/>
          <a:ext cx="901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6" name="Equation" r:id="rId5" imgW="469800" imgH="228600" progId="Equation.DSMT4">
                  <p:embed/>
                </p:oleObj>
              </mc:Choice>
              <mc:Fallback>
                <p:oleObj name="Equation" r:id="rId5" imgW="469800" imgH="2286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97311" y="3009511"/>
                        <a:ext cx="901700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8905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0560"/>
            <a:ext cx="10515600" cy="550640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lớn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endParaRPr lang="en-US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Maximize(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, {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}, bound, opts)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For either form of input, non-negativity of the variables is not assumed by default, but can be specified using the </a:t>
            </a:r>
            <a:r>
              <a:rPr lang="en-US" b="1" dirty="0"/>
              <a:t>assume = nonnegative</a:t>
            </a:r>
            <a:r>
              <a:rPr lang="en-US" dirty="0"/>
              <a:t> option.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103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Bài</a:t>
            </a:r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b="1" dirty="0" err="1" smtClean="0">
                <a:solidFill>
                  <a:schemeClr val="accent2">
                    <a:lumMod val="50000"/>
                  </a:schemeClr>
                </a:solidFill>
              </a:rPr>
              <a:t>tập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f(x) </a:t>
            </a:r>
            <a:r>
              <a:rPr lang="en-US" dirty="0" err="1" smtClean="0"/>
              <a:t>thỏa</a:t>
            </a:r>
            <a:r>
              <a:rPr lang="en-US" dirty="0" smtClean="0"/>
              <a:t> </a:t>
            </a:r>
            <a:r>
              <a:rPr lang="en-US" dirty="0" err="1" smtClean="0"/>
              <a:t>mãn</a:t>
            </a:r>
            <a:r>
              <a:rPr lang="en-US" dirty="0" smtClean="0"/>
              <a:t> f</a:t>
            </a:r>
            <a:r>
              <a:rPr lang="en-US" baseline="30000" dirty="0" smtClean="0"/>
              <a:t>2</a:t>
            </a:r>
            <a:r>
              <a:rPr lang="en-US" dirty="0" smtClean="0"/>
              <a:t>(x) – 2f(x) = x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phía</a:t>
            </a:r>
            <a:r>
              <a:rPr lang="en-US" dirty="0" smtClean="0"/>
              <a:t> 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</a:p>
          <a:p>
            <a:pPr marL="514350" indent="-514350" algn="just">
              <a:lnSpc>
                <a:spcPct val="150000"/>
              </a:lnSpc>
              <a:buAutoNum type="arabicPeriod"/>
            </a:pPr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đạo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bậc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                      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l-GR" dirty="0" smtClean="0"/>
              <a:t>π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l-GR" dirty="0" smtClean="0"/>
              <a:t>π</a:t>
            </a:r>
            <a:r>
              <a:rPr lang="en-US" dirty="0" smtClean="0"/>
              <a:t>/2 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509969"/>
              </p:ext>
            </p:extLst>
          </p:nvPr>
        </p:nvGraphicFramePr>
        <p:xfrm>
          <a:off x="3354907" y="2079010"/>
          <a:ext cx="2046287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" name="Equation" r:id="rId3" imgW="1066680" imgH="393480" progId="Equation.DSMT4">
                  <p:embed/>
                </p:oleObj>
              </mc:Choice>
              <mc:Fallback>
                <p:oleObj name="Equation" r:id="rId3" imgW="106668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4907" y="2079010"/>
                        <a:ext cx="2046287" cy="754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379128"/>
              </p:ext>
            </p:extLst>
          </p:nvPr>
        </p:nvGraphicFramePr>
        <p:xfrm>
          <a:off x="4919663" y="2838450"/>
          <a:ext cx="1851025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" name="Equation" r:id="rId5" imgW="965160" imgH="393480" progId="Equation.DSMT4">
                  <p:embed/>
                </p:oleObj>
              </mc:Choice>
              <mc:Fallback>
                <p:oleObj name="Equation" r:id="rId5" imgW="965160" imgH="39348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19663" y="2838450"/>
                        <a:ext cx="1851025" cy="754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82380"/>
              </p:ext>
            </p:extLst>
          </p:nvPr>
        </p:nvGraphicFramePr>
        <p:xfrm>
          <a:off x="2342339" y="3582988"/>
          <a:ext cx="194945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8" name="Equation" r:id="rId7" imgW="1015920" imgH="419040" progId="Equation.DSMT4">
                  <p:embed/>
                </p:oleObj>
              </mc:Choice>
              <mc:Fallback>
                <p:oleObj name="Equation" r:id="rId7" imgW="1015920" imgH="4190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42339" y="3582988"/>
                        <a:ext cx="1949450" cy="801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332829"/>
              </p:ext>
            </p:extLst>
          </p:nvPr>
        </p:nvGraphicFramePr>
        <p:xfrm>
          <a:off x="5243512" y="4324513"/>
          <a:ext cx="1704975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" name="Equation" r:id="rId9" imgW="888840" imgH="444240" progId="Equation.DSMT4">
                  <p:embed/>
                </p:oleObj>
              </mc:Choice>
              <mc:Fallback>
                <p:oleObj name="Equation" r:id="rId9" imgW="888840" imgH="44424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43512" y="4324513"/>
                        <a:ext cx="1704975" cy="852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09800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4522"/>
            <a:ext cx="10515600" cy="590627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6.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                .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(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đại</a:t>
            </a:r>
            <a:r>
              <a:rPr lang="en-US" dirty="0" smtClean="0"/>
              <a:t>, </a:t>
            </a:r>
            <a:r>
              <a:rPr lang="en-US" dirty="0" err="1" smtClean="0"/>
              <a:t>cực</a:t>
            </a:r>
            <a:r>
              <a:rPr lang="en-US" dirty="0" smtClean="0"/>
              <a:t> </a:t>
            </a:r>
            <a:r>
              <a:rPr lang="en-US" dirty="0" err="1" smtClean="0"/>
              <a:t>tiểu</a:t>
            </a:r>
            <a:r>
              <a:rPr lang="en-US" dirty="0" smtClean="0"/>
              <a:t>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7. </a:t>
            </a:r>
            <a:r>
              <a:rPr lang="en-US" dirty="0" err="1" smtClean="0"/>
              <a:t>Tìm</a:t>
            </a:r>
            <a:r>
              <a:rPr lang="en-US" dirty="0" smtClean="0"/>
              <a:t> GTLN </a:t>
            </a:r>
            <a:r>
              <a:rPr lang="en-US" dirty="0" err="1" smtClean="0"/>
              <a:t>và</a:t>
            </a:r>
            <a:r>
              <a:rPr lang="en-US" dirty="0" smtClean="0"/>
              <a:t> GTNN </a:t>
            </a:r>
            <a:r>
              <a:rPr lang="en-US" dirty="0" err="1" smtClean="0"/>
              <a:t>của</a:t>
            </a:r>
            <a:r>
              <a:rPr lang="en-US" dirty="0" smtClean="0"/>
              <a:t>                      </a:t>
            </a:r>
            <a:r>
              <a:rPr lang="en-US" dirty="0" err="1" smtClean="0"/>
              <a:t>trên</a:t>
            </a:r>
            <a:r>
              <a:rPr lang="en-US" dirty="0" smtClean="0"/>
              <a:t> [1,2]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8. </a:t>
            </a:r>
            <a:r>
              <a:rPr lang="en-US" dirty="0" err="1" smtClean="0"/>
              <a:t>Tìm</a:t>
            </a:r>
            <a:r>
              <a:rPr lang="en-US" dirty="0" smtClean="0"/>
              <a:t> GTLN </a:t>
            </a:r>
            <a:r>
              <a:rPr lang="en-US" dirty="0" err="1" smtClean="0"/>
              <a:t>và</a:t>
            </a:r>
            <a:r>
              <a:rPr lang="en-US" dirty="0" smtClean="0"/>
              <a:t> GTNN </a:t>
            </a:r>
            <a:r>
              <a:rPr lang="en-US" dirty="0" err="1" smtClean="0"/>
              <a:t>của</a:t>
            </a:r>
            <a:r>
              <a:rPr lang="en-US" dirty="0" smtClean="0"/>
              <a:t> x + 2y </a:t>
            </a:r>
            <a:r>
              <a:rPr lang="en-US" dirty="0" err="1" smtClean="0"/>
              <a:t>biết</a:t>
            </a:r>
            <a:r>
              <a:rPr lang="en-US" dirty="0" smtClean="0"/>
              <a:t> x</a:t>
            </a:r>
            <a:r>
              <a:rPr lang="en-US" baseline="30000" dirty="0" smtClean="0"/>
              <a:t>2</a:t>
            </a:r>
            <a:r>
              <a:rPr lang="en-US" dirty="0" smtClean="0"/>
              <a:t> + y</a:t>
            </a:r>
            <a:r>
              <a:rPr lang="en-US" baseline="30000" dirty="0" smtClean="0"/>
              <a:t>2</a:t>
            </a:r>
            <a:r>
              <a:rPr lang="en-US" dirty="0" smtClean="0"/>
              <a:t> – 2x – 4y = 0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9. </a:t>
            </a:r>
            <a:r>
              <a:rPr lang="en-US" dirty="0" err="1" smtClean="0"/>
              <a:t>Tìm</a:t>
            </a:r>
            <a:r>
              <a:rPr lang="en-US" dirty="0" smtClean="0"/>
              <a:t> GTLN </a:t>
            </a:r>
            <a:r>
              <a:rPr lang="en-US" dirty="0" err="1" smtClean="0"/>
              <a:t>và</a:t>
            </a:r>
            <a:r>
              <a:rPr lang="en-US" dirty="0" smtClean="0"/>
              <a:t> GTNN </a:t>
            </a:r>
            <a:r>
              <a:rPr lang="en-US" dirty="0" err="1" smtClean="0"/>
              <a:t>của</a:t>
            </a:r>
            <a:r>
              <a:rPr lang="en-US" dirty="0" smtClean="0"/>
              <a:t> (x – 1)(5 – x) </a:t>
            </a:r>
            <a:r>
              <a:rPr lang="en-US" dirty="0" err="1" smtClean="0"/>
              <a:t>biết</a:t>
            </a:r>
            <a:r>
              <a:rPr lang="en-US" dirty="0" smtClean="0"/>
              <a:t> 1 ≤ x ≤ 5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10. </a:t>
            </a:r>
            <a:r>
              <a:rPr lang="en-US" dirty="0" err="1" smtClean="0"/>
              <a:t>Tìm</a:t>
            </a:r>
            <a:r>
              <a:rPr lang="en-US" dirty="0" smtClean="0"/>
              <a:t> GTNN </a:t>
            </a:r>
            <a:r>
              <a:rPr lang="en-US" dirty="0" err="1" smtClean="0"/>
              <a:t>của</a:t>
            </a:r>
            <a:r>
              <a:rPr lang="en-US" dirty="0" smtClean="0"/>
              <a:t> a</a:t>
            </a:r>
            <a:r>
              <a:rPr lang="en-US" baseline="30000" dirty="0" smtClean="0"/>
              <a:t>3</a:t>
            </a:r>
            <a:r>
              <a:rPr lang="en-US" dirty="0" smtClean="0"/>
              <a:t> + b</a:t>
            </a:r>
            <a:r>
              <a:rPr lang="en-US" baseline="30000" dirty="0" smtClean="0"/>
              <a:t>3</a:t>
            </a:r>
            <a:r>
              <a:rPr lang="en-US" dirty="0" smtClean="0"/>
              <a:t> + c</a:t>
            </a:r>
            <a:r>
              <a:rPr lang="en-US" baseline="30000" dirty="0" smtClean="0"/>
              <a:t>3</a:t>
            </a:r>
            <a:r>
              <a:rPr lang="en-US" dirty="0" smtClean="0"/>
              <a:t> </a:t>
            </a:r>
            <a:r>
              <a:rPr lang="en-US" dirty="0" err="1" smtClean="0"/>
              <a:t>biết</a:t>
            </a:r>
            <a:r>
              <a:rPr lang="en-US" dirty="0" smtClean="0"/>
              <a:t> a, b, c ≥ 0 </a:t>
            </a:r>
            <a:r>
              <a:rPr lang="en-US" dirty="0" err="1" smtClean="0"/>
              <a:t>và</a:t>
            </a:r>
            <a:r>
              <a:rPr lang="en-US" dirty="0" smtClean="0"/>
              <a:t> a + b + c + </a:t>
            </a:r>
            <a:r>
              <a:rPr lang="en-US" dirty="0" err="1" smtClean="0"/>
              <a:t>abc</a:t>
            </a:r>
            <a:r>
              <a:rPr lang="en-US" dirty="0" smtClean="0"/>
              <a:t> = 4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 smtClean="0"/>
              <a:t>11. </a:t>
            </a:r>
            <a:r>
              <a:rPr lang="en-US" dirty="0" err="1" smtClean="0"/>
              <a:t>Tìm</a:t>
            </a:r>
            <a:r>
              <a:rPr lang="en-US" dirty="0" smtClean="0"/>
              <a:t> m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2x</a:t>
            </a:r>
            <a:r>
              <a:rPr lang="en-US" baseline="30000" dirty="0" smtClean="0"/>
              <a:t>2</a:t>
            </a:r>
            <a:r>
              <a:rPr lang="en-US" dirty="0" smtClean="0"/>
              <a:t> + (m – 1)x + 4m – 7 = 0 </a:t>
            </a:r>
            <a:r>
              <a:rPr lang="en-US" dirty="0" err="1" smtClean="0"/>
              <a:t>có</a:t>
            </a:r>
            <a:r>
              <a:rPr lang="en-US" dirty="0" smtClean="0"/>
              <a:t> 2 </a:t>
            </a:r>
            <a:r>
              <a:rPr lang="en-US" dirty="0" err="1" smtClean="0"/>
              <a:t>nghiệm</a:t>
            </a:r>
            <a:r>
              <a:rPr lang="en-US" dirty="0" smtClean="0"/>
              <a:t> </a:t>
            </a:r>
            <a:r>
              <a:rPr lang="en-US" dirty="0" err="1" smtClean="0"/>
              <a:t>pb</a:t>
            </a:r>
            <a:r>
              <a:rPr lang="en-US" dirty="0" smtClean="0"/>
              <a:t> </a:t>
            </a:r>
            <a:r>
              <a:rPr lang="en-US" dirty="0" err="1" smtClean="0"/>
              <a:t>thỏa</a:t>
            </a:r>
            <a:r>
              <a:rPr lang="en-US" dirty="0" smtClean="0"/>
              <a:t> </a:t>
            </a:r>
            <a:r>
              <a:rPr lang="en-US" dirty="0" err="1" smtClean="0"/>
              <a:t>mãn</a:t>
            </a:r>
            <a:r>
              <a:rPr lang="en-US" dirty="0" smtClean="0"/>
              <a:t> x</a:t>
            </a:r>
            <a:r>
              <a:rPr lang="en-US" baseline="-25000" dirty="0" smtClean="0"/>
              <a:t>1</a:t>
            </a:r>
            <a:r>
              <a:rPr lang="en-US" dirty="0" smtClean="0"/>
              <a:t> &lt; 1 &lt; x</a:t>
            </a:r>
            <a:r>
              <a:rPr lang="en-US" baseline="-25000" dirty="0" smtClean="0"/>
              <a:t>2</a:t>
            </a:r>
            <a:r>
              <a:rPr lang="en-US" dirty="0" smtClean="0"/>
              <a:t>.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0320622"/>
              </p:ext>
            </p:extLst>
          </p:nvPr>
        </p:nvGraphicFramePr>
        <p:xfrm>
          <a:off x="4668740" y="494522"/>
          <a:ext cx="1266825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3" imgW="660240" imgH="419040" progId="Equation.DSMT4">
                  <p:embed/>
                </p:oleObj>
              </mc:Choice>
              <mc:Fallback>
                <p:oleObj name="Equation" r:id="rId3" imgW="660240" imgH="419040" progId="Equation.DSMT4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8740" y="494522"/>
                        <a:ext cx="1266825" cy="803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967424"/>
              </p:ext>
            </p:extLst>
          </p:nvPr>
        </p:nvGraphicFramePr>
        <p:xfrm>
          <a:off x="4714390" y="2107618"/>
          <a:ext cx="1681162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5" imgW="876240" imgH="228600" progId="Equation.DSMT4">
                  <p:embed/>
                </p:oleObj>
              </mc:Choice>
              <mc:Fallback>
                <p:oleObj name="Equation" r:id="rId5" imgW="876240" imgH="228600" progId="Equation.DSMT4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714390" y="2107618"/>
                        <a:ext cx="1681162" cy="438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84119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994</Words>
  <Application>Microsoft Office PowerPoint</Application>
  <PresentationFormat>Widescreen</PresentationFormat>
  <Paragraphs>115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Equation</vt:lpstr>
      <vt:lpstr>Chương 1.1 – Maple với giải tích sơ cấp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3 - Maple</dc:title>
  <dc:creator>admin</dc:creator>
  <cp:lastModifiedBy>Admin</cp:lastModifiedBy>
  <cp:revision>47</cp:revision>
  <dcterms:created xsi:type="dcterms:W3CDTF">2022-01-05T07:42:19Z</dcterms:created>
  <dcterms:modified xsi:type="dcterms:W3CDTF">2023-02-13T01:54:02Z</dcterms:modified>
</cp:coreProperties>
</file>