
<file path=[Content_Types].xml><?xml version="1.0" encoding="utf-8"?>
<Types xmlns="http://schemas.openxmlformats.org/package/2006/content-types"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00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9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6ABA0-A348-4D1A-B2E0-25F6C6DDAED6}" type="datetimeFigureOut">
              <a:rPr lang="en-US" smtClean="0"/>
              <a:t>1/29/2023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E488A-2BC0-4967-AD3C-CDB90BCBB8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48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6ABA0-A348-4D1A-B2E0-25F6C6DDAED6}" type="datetimeFigureOut">
              <a:rPr lang="en-US" smtClean="0"/>
              <a:t>1/29/2023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E488A-2BC0-4967-AD3C-CDB90BCBB8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2845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6ABA0-A348-4D1A-B2E0-25F6C6DDAED6}" type="datetimeFigureOut">
              <a:rPr lang="en-US" smtClean="0"/>
              <a:t>1/29/2023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E488A-2BC0-4967-AD3C-CDB90BCBB8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9617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6ABA0-A348-4D1A-B2E0-25F6C6DDAED6}" type="datetimeFigureOut">
              <a:rPr lang="en-US" smtClean="0"/>
              <a:t>1/29/2023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E488A-2BC0-4967-AD3C-CDB90BCBB8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136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6ABA0-A348-4D1A-B2E0-25F6C6DDAED6}" type="datetimeFigureOut">
              <a:rPr lang="en-US" smtClean="0"/>
              <a:t>1/29/2023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E488A-2BC0-4967-AD3C-CDB90BCBB8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6090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6ABA0-A348-4D1A-B2E0-25F6C6DDAED6}" type="datetimeFigureOut">
              <a:rPr lang="en-US" smtClean="0"/>
              <a:t>1/29/2023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E488A-2BC0-4967-AD3C-CDB90BCBB8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059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6ABA0-A348-4D1A-B2E0-25F6C6DDAED6}" type="datetimeFigureOut">
              <a:rPr lang="en-US" smtClean="0"/>
              <a:t>1/29/2023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E488A-2BC0-4967-AD3C-CDB90BCBB8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2056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6ABA0-A348-4D1A-B2E0-25F6C6DDAED6}" type="datetimeFigureOut">
              <a:rPr lang="en-US" smtClean="0"/>
              <a:t>1/29/2023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E488A-2BC0-4967-AD3C-CDB90BCBB8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843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6ABA0-A348-4D1A-B2E0-25F6C6DDAED6}" type="datetimeFigureOut">
              <a:rPr lang="en-US" smtClean="0"/>
              <a:t>1/29/2023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E488A-2BC0-4967-AD3C-CDB90BCBB8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2050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6ABA0-A348-4D1A-B2E0-25F6C6DDAED6}" type="datetimeFigureOut">
              <a:rPr lang="en-US" smtClean="0"/>
              <a:t>1/29/2023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E488A-2BC0-4967-AD3C-CDB90BCBB8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103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6ABA0-A348-4D1A-B2E0-25F6C6DDAED6}" type="datetimeFigureOut">
              <a:rPr lang="en-US" smtClean="0"/>
              <a:t>1/29/2023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E488A-2BC0-4967-AD3C-CDB90BCBB8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498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56ABA0-A348-4D1A-B2E0-25F6C6DDAED6}" type="datetimeFigureOut">
              <a:rPr lang="en-US" smtClean="0"/>
              <a:t>1/29/2023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9E488A-2BC0-4967-AD3C-CDB90BCBB8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234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2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3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5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Chương</a:t>
            </a:r>
            <a:r>
              <a:rPr lang="en-US" smtClean="0"/>
              <a:t> 1.3 </a:t>
            </a:r>
            <a:r>
              <a:rPr lang="en-US" dirty="0" smtClean="0"/>
              <a:t>– Maple </a:t>
            </a:r>
            <a:r>
              <a:rPr lang="en-US" dirty="0" err="1" smtClean="0"/>
              <a:t>với</a:t>
            </a:r>
            <a:r>
              <a:rPr lang="en-US" dirty="0" smtClean="0"/>
              <a:t> </a:t>
            </a:r>
            <a:r>
              <a:rPr lang="en-US" dirty="0" err="1" smtClean="0"/>
              <a:t>đại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tuyến</a:t>
            </a:r>
            <a:r>
              <a:rPr lang="en-US" dirty="0" smtClean="0"/>
              <a:t> </a:t>
            </a:r>
            <a:r>
              <a:rPr lang="en-US" dirty="0" err="1" smtClean="0"/>
              <a:t>tính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6446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94522"/>
            <a:ext cx="10515600" cy="5906278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u="sng" dirty="0" smtClean="0"/>
              <a:t>1.3</a:t>
            </a:r>
            <a:r>
              <a:rPr lang="en-US" b="1" u="sng" dirty="0" smtClean="0"/>
              <a:t>. Maple </a:t>
            </a:r>
            <a:r>
              <a:rPr lang="en-US" b="1" u="sng" dirty="0" err="1" smtClean="0"/>
              <a:t>với</a:t>
            </a:r>
            <a:r>
              <a:rPr lang="en-US" b="1" u="sng" dirty="0" smtClean="0"/>
              <a:t> </a:t>
            </a:r>
            <a:r>
              <a:rPr lang="en-US" b="1" u="sng" dirty="0" err="1" smtClean="0"/>
              <a:t>đại</a:t>
            </a:r>
            <a:r>
              <a:rPr lang="en-US" b="1" u="sng" dirty="0" smtClean="0"/>
              <a:t> </a:t>
            </a:r>
            <a:r>
              <a:rPr lang="en-US" b="1" u="sng" dirty="0" err="1" smtClean="0"/>
              <a:t>số</a:t>
            </a:r>
            <a:r>
              <a:rPr lang="en-US" b="1" u="sng" dirty="0" smtClean="0"/>
              <a:t> </a:t>
            </a:r>
            <a:r>
              <a:rPr lang="en-US" b="1" u="sng" dirty="0" err="1" smtClean="0"/>
              <a:t>tuyến</a:t>
            </a:r>
            <a:r>
              <a:rPr lang="en-US" b="1" u="sng" dirty="0" smtClean="0"/>
              <a:t> </a:t>
            </a:r>
            <a:r>
              <a:rPr lang="en-US" b="1" u="sng" dirty="0" err="1" smtClean="0"/>
              <a:t>tính</a:t>
            </a:r>
            <a:endParaRPr lang="en-US" b="1" u="sng" dirty="0" smtClean="0"/>
          </a:p>
          <a:p>
            <a:pPr marL="0" indent="0" algn="just">
              <a:lnSpc>
                <a:spcPct val="150000"/>
              </a:lnSpc>
              <a:buNone/>
            </a:pPr>
            <a:endParaRPr lang="en-US" b="1" u="sng" dirty="0" smtClean="0"/>
          </a:p>
          <a:p>
            <a:pPr marL="0" indent="0" algn="ctr">
              <a:buNone/>
            </a:pPr>
            <a:r>
              <a:rPr lang="en-US" dirty="0" smtClean="0"/>
              <a:t>1. Ma </a:t>
            </a:r>
            <a:r>
              <a:rPr lang="en-US" dirty="0" err="1" smtClean="0"/>
              <a:t>trận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phép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 </a:t>
            </a:r>
            <a:r>
              <a:rPr lang="en-US" dirty="0" err="1" smtClean="0"/>
              <a:t>trên</a:t>
            </a:r>
            <a:r>
              <a:rPr lang="en-US" dirty="0" smtClean="0"/>
              <a:t> ma </a:t>
            </a:r>
            <a:r>
              <a:rPr lang="en-US" dirty="0" err="1" smtClean="0"/>
              <a:t>trận</a:t>
            </a:r>
            <a:endParaRPr lang="en-US" dirty="0" smtClean="0"/>
          </a:p>
          <a:p>
            <a:pPr marL="0" indent="0" algn="ctr">
              <a:buNone/>
            </a:pPr>
            <a:r>
              <a:rPr lang="en-US" dirty="0" smtClean="0"/>
              <a:t>2. </a:t>
            </a:r>
            <a:r>
              <a:rPr lang="en-US" dirty="0" err="1" smtClean="0"/>
              <a:t>Gói</a:t>
            </a:r>
            <a:r>
              <a:rPr lang="en-US" dirty="0" smtClean="0"/>
              <a:t> </a:t>
            </a:r>
            <a:r>
              <a:rPr lang="en-US" dirty="0" err="1" smtClean="0"/>
              <a:t>lệnh</a:t>
            </a:r>
            <a:r>
              <a:rPr lang="en-US" dirty="0" smtClean="0"/>
              <a:t> </a:t>
            </a:r>
            <a:r>
              <a:rPr lang="en-US" dirty="0" err="1" smtClean="0"/>
              <a:t>đại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tuyến</a:t>
            </a:r>
            <a:r>
              <a:rPr lang="en-US" dirty="0" smtClean="0"/>
              <a:t> </a:t>
            </a:r>
            <a:r>
              <a:rPr lang="en-US" dirty="0" err="1" smtClean="0"/>
              <a:t>tính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65788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94522"/>
            <a:ext cx="10515600" cy="5906278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i="1" u="sng" dirty="0" smtClean="0">
                <a:solidFill>
                  <a:srgbClr val="D60093"/>
                </a:solidFill>
              </a:rPr>
              <a:t>1. Ma </a:t>
            </a:r>
            <a:r>
              <a:rPr lang="en-US" b="1" i="1" u="sng" dirty="0" err="1" smtClean="0">
                <a:solidFill>
                  <a:srgbClr val="D60093"/>
                </a:solidFill>
              </a:rPr>
              <a:t>trận</a:t>
            </a:r>
            <a:r>
              <a:rPr lang="en-US" b="1" i="1" u="sng" dirty="0" smtClean="0">
                <a:solidFill>
                  <a:srgbClr val="D60093"/>
                </a:solidFill>
              </a:rPr>
              <a:t> </a:t>
            </a:r>
            <a:r>
              <a:rPr lang="en-US" b="1" i="1" u="sng" dirty="0" err="1" smtClean="0">
                <a:solidFill>
                  <a:srgbClr val="D60093"/>
                </a:solidFill>
              </a:rPr>
              <a:t>và</a:t>
            </a:r>
            <a:r>
              <a:rPr lang="en-US" b="1" i="1" u="sng" dirty="0" smtClean="0">
                <a:solidFill>
                  <a:srgbClr val="D60093"/>
                </a:solidFill>
              </a:rPr>
              <a:t> </a:t>
            </a:r>
            <a:r>
              <a:rPr lang="en-US" b="1" i="1" u="sng" dirty="0" err="1" smtClean="0">
                <a:solidFill>
                  <a:srgbClr val="D60093"/>
                </a:solidFill>
              </a:rPr>
              <a:t>các</a:t>
            </a:r>
            <a:r>
              <a:rPr lang="en-US" b="1" i="1" u="sng" dirty="0" smtClean="0">
                <a:solidFill>
                  <a:srgbClr val="D60093"/>
                </a:solidFill>
              </a:rPr>
              <a:t> </a:t>
            </a:r>
            <a:r>
              <a:rPr lang="en-US" b="1" i="1" u="sng" dirty="0" err="1" smtClean="0">
                <a:solidFill>
                  <a:srgbClr val="D60093"/>
                </a:solidFill>
              </a:rPr>
              <a:t>phép</a:t>
            </a:r>
            <a:r>
              <a:rPr lang="en-US" b="1" i="1" u="sng" dirty="0" smtClean="0">
                <a:solidFill>
                  <a:srgbClr val="D60093"/>
                </a:solidFill>
              </a:rPr>
              <a:t> </a:t>
            </a:r>
            <a:r>
              <a:rPr lang="en-US" b="1" i="1" u="sng" dirty="0" err="1" smtClean="0">
                <a:solidFill>
                  <a:srgbClr val="D60093"/>
                </a:solidFill>
              </a:rPr>
              <a:t>toán</a:t>
            </a:r>
            <a:r>
              <a:rPr lang="en-US" b="1" i="1" u="sng" dirty="0" smtClean="0">
                <a:solidFill>
                  <a:srgbClr val="D60093"/>
                </a:solidFill>
              </a:rPr>
              <a:t> </a:t>
            </a:r>
            <a:r>
              <a:rPr lang="en-US" b="1" i="1" u="sng" dirty="0" err="1" smtClean="0">
                <a:solidFill>
                  <a:srgbClr val="D60093"/>
                </a:solidFill>
              </a:rPr>
              <a:t>trên</a:t>
            </a:r>
            <a:r>
              <a:rPr lang="en-US" b="1" i="1" u="sng" dirty="0" smtClean="0">
                <a:solidFill>
                  <a:srgbClr val="D60093"/>
                </a:solidFill>
              </a:rPr>
              <a:t> ma </a:t>
            </a:r>
            <a:r>
              <a:rPr lang="en-US" b="1" i="1" u="sng" dirty="0" err="1" smtClean="0">
                <a:solidFill>
                  <a:srgbClr val="D60093"/>
                </a:solidFill>
              </a:rPr>
              <a:t>trận</a:t>
            </a:r>
            <a:endParaRPr lang="en-US" b="1" i="1" u="sng" dirty="0" smtClean="0">
              <a:solidFill>
                <a:srgbClr val="D60093"/>
              </a:solidFill>
            </a:endParaRPr>
          </a:p>
          <a:p>
            <a:pPr marL="514350" indent="-514350" algn="just">
              <a:lnSpc>
                <a:spcPct val="150000"/>
              </a:lnSpc>
              <a:buAutoNum type="alphaLcParenR"/>
            </a:pPr>
            <a:r>
              <a:rPr lang="en-US" u="sng" dirty="0" err="1" smtClean="0">
                <a:solidFill>
                  <a:srgbClr val="00B050"/>
                </a:solidFill>
              </a:rPr>
              <a:t>Khai</a:t>
            </a:r>
            <a:r>
              <a:rPr lang="en-US" u="sng" dirty="0" smtClean="0">
                <a:solidFill>
                  <a:srgbClr val="00B050"/>
                </a:solidFill>
              </a:rPr>
              <a:t> </a:t>
            </a:r>
            <a:r>
              <a:rPr lang="en-US" u="sng" dirty="0" err="1" smtClean="0">
                <a:solidFill>
                  <a:srgbClr val="00B050"/>
                </a:solidFill>
              </a:rPr>
              <a:t>báo</a:t>
            </a:r>
            <a:endParaRPr lang="en-US" u="sng" dirty="0" smtClean="0">
              <a:solidFill>
                <a:srgbClr val="00B050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 smtClean="0"/>
              <a:t>- </a:t>
            </a:r>
            <a:r>
              <a:rPr lang="en-US" dirty="0" err="1" smtClean="0"/>
              <a:t>Vec-tơ</a:t>
            </a:r>
            <a:r>
              <a:rPr lang="en-US" dirty="0" smtClean="0"/>
              <a:t>  a:=&lt;1, 2, 3&gt;, a: = &lt;&lt;1&gt;|&lt;2&gt;|&lt;3&gt;&gt; (</a:t>
            </a:r>
            <a:r>
              <a:rPr lang="en-US" dirty="0" err="1" smtClean="0"/>
              <a:t>vec-tơ</a:t>
            </a:r>
            <a:r>
              <a:rPr lang="en-US" dirty="0" smtClean="0"/>
              <a:t> </a:t>
            </a:r>
            <a:r>
              <a:rPr lang="en-US" dirty="0" err="1" smtClean="0"/>
              <a:t>cột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vec-tơ</a:t>
            </a:r>
            <a:r>
              <a:rPr lang="en-US" dirty="0" smtClean="0"/>
              <a:t> </a:t>
            </a:r>
            <a:r>
              <a:rPr lang="en-US" dirty="0" err="1" smtClean="0"/>
              <a:t>hàng</a:t>
            </a:r>
            <a:r>
              <a:rPr lang="en-US" dirty="0" smtClean="0"/>
              <a:t>)</a:t>
            </a:r>
          </a:p>
          <a:p>
            <a:pPr algn="just">
              <a:lnSpc>
                <a:spcPct val="150000"/>
              </a:lnSpc>
              <a:buFontTx/>
              <a:buChar char="-"/>
            </a:pPr>
            <a:r>
              <a:rPr lang="en-US" dirty="0" smtClean="0"/>
              <a:t>Ma </a:t>
            </a:r>
            <a:r>
              <a:rPr lang="en-US" dirty="0" err="1" smtClean="0"/>
              <a:t>trận</a:t>
            </a:r>
            <a:r>
              <a:rPr lang="en-US" dirty="0" smtClean="0"/>
              <a:t> A:=&lt;&lt;1,2,3&gt;|&lt;4,5,6&gt;&gt; (ma </a:t>
            </a:r>
            <a:r>
              <a:rPr lang="en-US" dirty="0" err="1" smtClean="0"/>
              <a:t>trận</a:t>
            </a:r>
            <a:r>
              <a:rPr lang="en-US" dirty="0" smtClean="0"/>
              <a:t> 3x2)</a:t>
            </a:r>
          </a:p>
          <a:p>
            <a:pPr algn="just">
              <a:lnSpc>
                <a:spcPct val="150000"/>
              </a:lnSpc>
              <a:buFontTx/>
              <a:buChar char="-"/>
            </a:pPr>
            <a:r>
              <a:rPr lang="en-US" dirty="0" smtClean="0"/>
              <a:t>Ma </a:t>
            </a:r>
            <a:r>
              <a:rPr lang="en-US" dirty="0" err="1" smtClean="0"/>
              <a:t>trận</a:t>
            </a:r>
            <a:r>
              <a:rPr lang="en-US" dirty="0" smtClean="0"/>
              <a:t> </a:t>
            </a:r>
            <a:r>
              <a:rPr lang="en-US" dirty="0" err="1" smtClean="0"/>
              <a:t>đường</a:t>
            </a:r>
            <a:r>
              <a:rPr lang="en-US" dirty="0" smtClean="0"/>
              <a:t> </a:t>
            </a:r>
            <a:r>
              <a:rPr lang="en-US" dirty="0" err="1" smtClean="0"/>
              <a:t>chéo</a:t>
            </a:r>
            <a:r>
              <a:rPr lang="en-US" dirty="0" smtClean="0"/>
              <a:t>: </a:t>
            </a:r>
            <a:r>
              <a:rPr lang="en-US" dirty="0" err="1" smtClean="0"/>
              <a:t>DiagonalMatrix</a:t>
            </a:r>
            <a:r>
              <a:rPr lang="en-US" dirty="0" smtClean="0"/>
              <a:t>(&lt;1,2,3&gt;);</a:t>
            </a:r>
          </a:p>
          <a:p>
            <a:pPr algn="just">
              <a:lnSpc>
                <a:spcPct val="150000"/>
              </a:lnSpc>
              <a:buFontTx/>
              <a:buChar char="-"/>
            </a:pPr>
            <a:r>
              <a:rPr lang="en-US" dirty="0" smtClean="0"/>
              <a:t>Ma </a:t>
            </a:r>
            <a:r>
              <a:rPr lang="en-US" dirty="0" err="1" smtClean="0"/>
              <a:t>trận</a:t>
            </a:r>
            <a:r>
              <a:rPr lang="en-US" dirty="0" smtClean="0"/>
              <a:t> </a:t>
            </a:r>
            <a:r>
              <a:rPr lang="en-US" dirty="0" err="1" smtClean="0"/>
              <a:t>đơn</a:t>
            </a:r>
            <a:r>
              <a:rPr lang="en-US" dirty="0" smtClean="0"/>
              <a:t> </a:t>
            </a:r>
            <a:r>
              <a:rPr lang="en-US" dirty="0" err="1" smtClean="0"/>
              <a:t>vị</a:t>
            </a:r>
            <a:r>
              <a:rPr lang="en-US" dirty="0" smtClean="0"/>
              <a:t>: </a:t>
            </a:r>
            <a:r>
              <a:rPr lang="en-US" dirty="0" err="1" smtClean="0"/>
              <a:t>IdentityMatrix</a:t>
            </a:r>
            <a:r>
              <a:rPr lang="en-US" dirty="0" smtClean="0"/>
              <a:t>(3);</a:t>
            </a:r>
          </a:p>
        </p:txBody>
      </p:sp>
    </p:spTree>
    <p:extLst>
      <p:ext uri="{BB962C8B-B14F-4D97-AF65-F5344CB8AC3E}">
        <p14:creationId xmlns:p14="http://schemas.microsoft.com/office/powerpoint/2010/main" val="6123253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94522"/>
            <a:ext cx="10515600" cy="5906278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u="sng" dirty="0" smtClean="0">
                <a:solidFill>
                  <a:srgbClr val="00B050"/>
                </a:solidFill>
              </a:rPr>
              <a:t>b) </a:t>
            </a:r>
            <a:r>
              <a:rPr lang="en-US" u="sng" dirty="0" err="1" smtClean="0">
                <a:solidFill>
                  <a:srgbClr val="00B050"/>
                </a:solidFill>
              </a:rPr>
              <a:t>Các</a:t>
            </a:r>
            <a:r>
              <a:rPr lang="en-US" u="sng" dirty="0" smtClean="0">
                <a:solidFill>
                  <a:srgbClr val="00B050"/>
                </a:solidFill>
              </a:rPr>
              <a:t> </a:t>
            </a:r>
            <a:r>
              <a:rPr lang="en-US" u="sng" dirty="0" err="1" smtClean="0">
                <a:solidFill>
                  <a:srgbClr val="00B050"/>
                </a:solidFill>
              </a:rPr>
              <a:t>phép</a:t>
            </a:r>
            <a:r>
              <a:rPr lang="en-US" u="sng" dirty="0" smtClean="0">
                <a:solidFill>
                  <a:srgbClr val="00B050"/>
                </a:solidFill>
              </a:rPr>
              <a:t> </a:t>
            </a:r>
            <a:r>
              <a:rPr lang="en-US" u="sng" dirty="0" err="1" smtClean="0">
                <a:solidFill>
                  <a:srgbClr val="00B050"/>
                </a:solidFill>
              </a:rPr>
              <a:t>toán</a:t>
            </a:r>
            <a:endParaRPr lang="en-US" u="sng" dirty="0" smtClean="0">
              <a:solidFill>
                <a:srgbClr val="00B050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 err="1" smtClean="0"/>
              <a:t>Sử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</a:t>
            </a:r>
            <a:r>
              <a:rPr lang="en-US" dirty="0" err="1" smtClean="0"/>
              <a:t>gói</a:t>
            </a:r>
            <a:r>
              <a:rPr lang="en-US" dirty="0" smtClean="0"/>
              <a:t> </a:t>
            </a:r>
            <a:r>
              <a:rPr lang="en-US" dirty="0" err="1" smtClean="0"/>
              <a:t>thủ</a:t>
            </a:r>
            <a:r>
              <a:rPr lang="en-US" dirty="0" smtClean="0"/>
              <a:t> </a:t>
            </a:r>
            <a:r>
              <a:rPr lang="en-US" dirty="0" err="1" smtClean="0"/>
              <a:t>tục</a:t>
            </a:r>
            <a:r>
              <a:rPr lang="en-US" dirty="0" smtClean="0"/>
              <a:t> with(</a:t>
            </a:r>
            <a:r>
              <a:rPr lang="en-US" dirty="0" err="1" smtClean="0"/>
              <a:t>linalg</a:t>
            </a:r>
            <a:r>
              <a:rPr lang="en-US" dirty="0" smtClean="0"/>
              <a:t>) </a:t>
            </a:r>
            <a:r>
              <a:rPr lang="en-US" dirty="0" err="1" smtClean="0"/>
              <a:t>hoặc</a:t>
            </a:r>
            <a:r>
              <a:rPr lang="en-US" dirty="0" smtClean="0"/>
              <a:t> with(</a:t>
            </a:r>
            <a:r>
              <a:rPr lang="en-US" dirty="0" err="1" smtClean="0"/>
              <a:t>LinearAlgebra</a:t>
            </a:r>
            <a:r>
              <a:rPr lang="en-US" dirty="0" smtClean="0"/>
              <a:t>)</a:t>
            </a:r>
          </a:p>
          <a:p>
            <a:pPr algn="just">
              <a:lnSpc>
                <a:spcPct val="150000"/>
              </a:lnSpc>
              <a:buFontTx/>
              <a:buChar char="-"/>
            </a:pPr>
            <a:r>
              <a:rPr lang="en-US" dirty="0" err="1" smtClean="0"/>
              <a:t>Tích</a:t>
            </a:r>
            <a:r>
              <a:rPr lang="en-US" dirty="0" smtClean="0"/>
              <a:t> </a:t>
            </a:r>
            <a:r>
              <a:rPr lang="en-US" dirty="0" err="1" smtClean="0"/>
              <a:t>vô</a:t>
            </a:r>
            <a:r>
              <a:rPr lang="en-US" dirty="0" smtClean="0"/>
              <a:t> </a:t>
            </a:r>
            <a:r>
              <a:rPr lang="en-US" dirty="0" err="1" smtClean="0"/>
              <a:t>hướng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hai</a:t>
            </a:r>
            <a:r>
              <a:rPr lang="en-US" dirty="0" smtClean="0"/>
              <a:t> </a:t>
            </a:r>
            <a:r>
              <a:rPr lang="en-US" dirty="0" err="1" smtClean="0"/>
              <a:t>vec-tơ</a:t>
            </a:r>
            <a:r>
              <a:rPr lang="en-US" dirty="0" smtClean="0"/>
              <a:t>: </a:t>
            </a:r>
            <a:r>
              <a:rPr lang="en-US" dirty="0" err="1" smtClean="0"/>
              <a:t>DotProduct</a:t>
            </a:r>
            <a:r>
              <a:rPr lang="en-US" dirty="0" smtClean="0"/>
              <a:t>(v1, v2);</a:t>
            </a:r>
          </a:p>
          <a:p>
            <a:pPr algn="just">
              <a:lnSpc>
                <a:spcPct val="150000"/>
              </a:lnSpc>
              <a:buFontTx/>
              <a:buChar char="-"/>
            </a:pPr>
            <a:r>
              <a:rPr lang="en-US" dirty="0" err="1" smtClean="0"/>
              <a:t>Góc</a:t>
            </a:r>
            <a:r>
              <a:rPr lang="en-US" dirty="0" smtClean="0"/>
              <a:t> </a:t>
            </a:r>
            <a:r>
              <a:rPr lang="en-US" dirty="0" err="1" smtClean="0"/>
              <a:t>giữa</a:t>
            </a:r>
            <a:r>
              <a:rPr lang="en-US" dirty="0" smtClean="0"/>
              <a:t> </a:t>
            </a:r>
            <a:r>
              <a:rPr lang="en-US" dirty="0" err="1" smtClean="0"/>
              <a:t>hai</a:t>
            </a:r>
            <a:r>
              <a:rPr lang="en-US" dirty="0" smtClean="0"/>
              <a:t> </a:t>
            </a:r>
            <a:r>
              <a:rPr lang="en-US" dirty="0" err="1" smtClean="0"/>
              <a:t>vec-tơ</a:t>
            </a:r>
            <a:r>
              <a:rPr lang="en-US" dirty="0" smtClean="0"/>
              <a:t>: </a:t>
            </a:r>
            <a:r>
              <a:rPr lang="en-US" dirty="0" err="1" smtClean="0"/>
              <a:t>VectorAngle</a:t>
            </a:r>
            <a:r>
              <a:rPr lang="en-US" dirty="0" smtClean="0"/>
              <a:t>(v1,v2);</a:t>
            </a:r>
          </a:p>
          <a:p>
            <a:pPr algn="just">
              <a:lnSpc>
                <a:spcPct val="150000"/>
              </a:lnSpc>
              <a:buFontTx/>
              <a:buChar char="-"/>
            </a:pPr>
            <a:r>
              <a:rPr lang="en-US" dirty="0" err="1" smtClean="0"/>
              <a:t>Chuẩn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vec-tơ</a:t>
            </a:r>
            <a:r>
              <a:rPr lang="en-US" dirty="0" smtClean="0"/>
              <a:t>: Norm(v, </a:t>
            </a:r>
            <a:r>
              <a:rPr lang="en-US" dirty="0" err="1" smtClean="0"/>
              <a:t>dạng</a:t>
            </a:r>
            <a:r>
              <a:rPr lang="en-US" dirty="0" smtClean="0"/>
              <a:t> </a:t>
            </a:r>
            <a:r>
              <a:rPr lang="en-US" dirty="0" err="1" smtClean="0"/>
              <a:t>chuẩn</a:t>
            </a:r>
            <a:r>
              <a:rPr lang="en-US" dirty="0" smtClean="0"/>
              <a:t>);</a:t>
            </a:r>
          </a:p>
          <a:p>
            <a:pPr algn="just">
              <a:lnSpc>
                <a:spcPct val="150000"/>
              </a:lnSpc>
              <a:buFontTx/>
              <a:buChar char="-"/>
            </a:pPr>
            <a:r>
              <a:rPr lang="en-US" dirty="0" err="1" smtClean="0"/>
              <a:t>Chuẩn</a:t>
            </a:r>
            <a:r>
              <a:rPr lang="en-US" dirty="0" smtClean="0"/>
              <a:t> </a:t>
            </a:r>
            <a:r>
              <a:rPr lang="en-US" dirty="0" err="1" smtClean="0"/>
              <a:t>hóa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vec-tơ</a:t>
            </a:r>
            <a:r>
              <a:rPr lang="en-US" dirty="0" smtClean="0"/>
              <a:t>: Normalize(v);</a:t>
            </a:r>
          </a:p>
          <a:p>
            <a:pPr algn="just">
              <a:lnSpc>
                <a:spcPct val="150000"/>
              </a:lnSpc>
              <a:buFontTx/>
              <a:buChar char="-"/>
            </a:pPr>
            <a:r>
              <a:rPr lang="en-US" dirty="0" err="1" smtClean="0"/>
              <a:t>Nhân</a:t>
            </a:r>
            <a:r>
              <a:rPr lang="en-US" dirty="0" smtClean="0"/>
              <a:t> </a:t>
            </a:r>
            <a:r>
              <a:rPr lang="en-US" dirty="0" err="1" smtClean="0"/>
              <a:t>hai</a:t>
            </a:r>
            <a:r>
              <a:rPr lang="en-US" dirty="0" smtClean="0"/>
              <a:t> ma </a:t>
            </a:r>
            <a:r>
              <a:rPr lang="en-US" dirty="0" err="1" smtClean="0"/>
              <a:t>trận</a:t>
            </a:r>
            <a:r>
              <a:rPr lang="en-US" dirty="0" smtClean="0"/>
              <a:t>: </a:t>
            </a:r>
            <a:r>
              <a:rPr lang="en-US" dirty="0" err="1" smtClean="0"/>
              <a:t>MatrixMatrixMultiply</a:t>
            </a:r>
            <a:r>
              <a:rPr lang="en-US" dirty="0" smtClean="0"/>
              <a:t>(A, B);</a:t>
            </a:r>
          </a:p>
          <a:p>
            <a:pPr algn="just">
              <a:lnSpc>
                <a:spcPct val="150000"/>
              </a:lnSpc>
              <a:buFontTx/>
              <a:buChar char="-"/>
            </a:pPr>
            <a:endParaRPr lang="en-US" dirty="0" smtClean="0"/>
          </a:p>
          <a:p>
            <a:pPr marL="0" indent="0" algn="just">
              <a:lnSpc>
                <a:spcPct val="150000"/>
              </a:lnSpc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80747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94522"/>
            <a:ext cx="10515600" cy="5906278"/>
          </a:xfrm>
        </p:spPr>
        <p:txBody>
          <a:bodyPr/>
          <a:lstStyle/>
          <a:p>
            <a:pPr algn="just">
              <a:lnSpc>
                <a:spcPct val="150000"/>
              </a:lnSpc>
              <a:buFontTx/>
              <a:buChar char="-"/>
            </a:pPr>
            <a:r>
              <a:rPr lang="en-US" dirty="0" err="1" smtClean="0"/>
              <a:t>Nghịch</a:t>
            </a:r>
            <a:r>
              <a:rPr lang="en-US" dirty="0" smtClean="0"/>
              <a:t> </a:t>
            </a:r>
            <a:r>
              <a:rPr lang="en-US" dirty="0" err="1" smtClean="0"/>
              <a:t>đảo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ma </a:t>
            </a:r>
            <a:r>
              <a:rPr lang="en-US" dirty="0" err="1" smtClean="0"/>
              <a:t>trận</a:t>
            </a:r>
            <a:r>
              <a:rPr lang="en-US" dirty="0" smtClean="0"/>
              <a:t>: </a:t>
            </a:r>
            <a:r>
              <a:rPr lang="en-US" dirty="0" err="1" smtClean="0"/>
              <a:t>MatrixInverse</a:t>
            </a:r>
            <a:r>
              <a:rPr lang="en-US" dirty="0" smtClean="0"/>
              <a:t>(A);</a:t>
            </a:r>
          </a:p>
          <a:p>
            <a:pPr algn="just">
              <a:lnSpc>
                <a:spcPct val="150000"/>
              </a:lnSpc>
              <a:buFontTx/>
              <a:buChar char="-"/>
            </a:pPr>
            <a:r>
              <a:rPr lang="en-US" dirty="0" err="1" smtClean="0"/>
              <a:t>Lũy</a:t>
            </a:r>
            <a:r>
              <a:rPr lang="en-US" dirty="0" smtClean="0"/>
              <a:t> </a:t>
            </a:r>
            <a:r>
              <a:rPr lang="en-US" dirty="0" err="1" smtClean="0"/>
              <a:t>thừa</a:t>
            </a:r>
            <a:r>
              <a:rPr lang="en-US" dirty="0" smtClean="0"/>
              <a:t> </a:t>
            </a:r>
            <a:r>
              <a:rPr lang="en-US" dirty="0" err="1" smtClean="0"/>
              <a:t>bậc</a:t>
            </a:r>
            <a:r>
              <a:rPr lang="en-US" dirty="0" smtClean="0"/>
              <a:t> n (</a:t>
            </a:r>
            <a:r>
              <a:rPr lang="en-US" dirty="0" err="1" smtClean="0"/>
              <a:t>nguyên</a:t>
            </a:r>
            <a:r>
              <a:rPr lang="en-US" dirty="0" smtClean="0"/>
              <a:t>) </a:t>
            </a:r>
            <a:r>
              <a:rPr lang="en-US" dirty="0" err="1" smtClean="0"/>
              <a:t>của</a:t>
            </a:r>
            <a:r>
              <a:rPr lang="en-US" dirty="0" smtClean="0"/>
              <a:t> ma </a:t>
            </a:r>
            <a:r>
              <a:rPr lang="en-US" dirty="0" err="1" smtClean="0"/>
              <a:t>trận</a:t>
            </a:r>
            <a:r>
              <a:rPr lang="en-US" dirty="0" smtClean="0"/>
              <a:t>: </a:t>
            </a:r>
            <a:r>
              <a:rPr lang="en-US" dirty="0" err="1" smtClean="0"/>
              <a:t>MatrixPower</a:t>
            </a:r>
            <a:r>
              <a:rPr lang="en-US" dirty="0" smtClean="0"/>
              <a:t>(</a:t>
            </a:r>
            <a:r>
              <a:rPr lang="en-US" dirty="0" err="1" smtClean="0"/>
              <a:t>A,n</a:t>
            </a:r>
            <a:r>
              <a:rPr lang="en-US" dirty="0" smtClean="0"/>
              <a:t>);</a:t>
            </a:r>
          </a:p>
          <a:p>
            <a:pPr algn="just">
              <a:lnSpc>
                <a:spcPct val="150000"/>
              </a:lnSpc>
              <a:buFontTx/>
              <a:buChar char="-"/>
            </a:pPr>
            <a:endParaRPr lang="en-US" dirty="0" smtClean="0"/>
          </a:p>
          <a:p>
            <a:pPr algn="just">
              <a:lnSpc>
                <a:spcPct val="150000"/>
              </a:lnSpc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49059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94522"/>
            <a:ext cx="10515600" cy="5906278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dirty="0" smtClean="0"/>
              <a:t>2. </a:t>
            </a:r>
            <a:r>
              <a:rPr lang="en-US" dirty="0" err="1" smtClean="0"/>
              <a:t>Gói</a:t>
            </a:r>
            <a:r>
              <a:rPr lang="en-US" dirty="0" smtClean="0"/>
              <a:t> </a:t>
            </a:r>
            <a:r>
              <a:rPr lang="en-US" dirty="0" err="1" smtClean="0"/>
              <a:t>lệnh</a:t>
            </a:r>
            <a:r>
              <a:rPr lang="en-US" dirty="0" smtClean="0"/>
              <a:t> </a:t>
            </a:r>
            <a:r>
              <a:rPr lang="en-US" dirty="0" err="1" smtClean="0"/>
              <a:t>đại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tuyến</a:t>
            </a:r>
            <a:r>
              <a:rPr lang="en-US" dirty="0" smtClean="0"/>
              <a:t> </a:t>
            </a:r>
            <a:r>
              <a:rPr lang="en-US" dirty="0" err="1" smtClean="0"/>
              <a:t>tính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Maple</a:t>
            </a:r>
          </a:p>
          <a:p>
            <a:pPr algn="just">
              <a:lnSpc>
                <a:spcPct val="150000"/>
              </a:lnSpc>
              <a:buFontTx/>
              <a:buChar char="-"/>
            </a:pPr>
            <a:r>
              <a:rPr lang="en-US" dirty="0" err="1" smtClean="0"/>
              <a:t>Gói</a:t>
            </a:r>
            <a:r>
              <a:rPr lang="en-US" dirty="0" smtClean="0"/>
              <a:t> </a:t>
            </a:r>
            <a:r>
              <a:rPr lang="en-US" dirty="0" err="1" smtClean="0"/>
              <a:t>thủ</a:t>
            </a:r>
            <a:r>
              <a:rPr lang="en-US" dirty="0" smtClean="0"/>
              <a:t> </a:t>
            </a:r>
            <a:r>
              <a:rPr lang="en-US" dirty="0" err="1" smtClean="0"/>
              <a:t>tục</a:t>
            </a:r>
            <a:r>
              <a:rPr lang="en-US" dirty="0" smtClean="0"/>
              <a:t> </a:t>
            </a:r>
            <a:r>
              <a:rPr lang="en-US" b="1" dirty="0" err="1" smtClean="0"/>
              <a:t>linalg</a:t>
            </a:r>
            <a:r>
              <a:rPr lang="en-US" dirty="0" smtClean="0"/>
              <a:t> (with(</a:t>
            </a:r>
            <a:r>
              <a:rPr lang="en-US" dirty="0" err="1" smtClean="0"/>
              <a:t>linalg</a:t>
            </a:r>
            <a:r>
              <a:rPr lang="en-US" dirty="0" smtClean="0"/>
              <a:t>)): </a:t>
            </a:r>
            <a:r>
              <a:rPr lang="en-US" dirty="0" err="1" smtClean="0"/>
              <a:t>cho</a:t>
            </a:r>
            <a:r>
              <a:rPr lang="en-US" dirty="0" smtClean="0"/>
              <a:t> </a:t>
            </a:r>
            <a:r>
              <a:rPr lang="en-US" dirty="0" err="1" smtClean="0"/>
              <a:t>phép</a:t>
            </a:r>
            <a:r>
              <a:rPr lang="en-US" dirty="0" smtClean="0"/>
              <a:t> </a:t>
            </a:r>
            <a:r>
              <a:rPr lang="en-US" dirty="0" err="1" smtClean="0"/>
              <a:t>gọi</a:t>
            </a:r>
            <a:r>
              <a:rPr lang="en-US" dirty="0" smtClean="0"/>
              <a:t> </a:t>
            </a:r>
            <a:r>
              <a:rPr lang="en-US" dirty="0" err="1" smtClean="0"/>
              <a:t>trực</a:t>
            </a:r>
            <a:r>
              <a:rPr lang="en-US" dirty="0" smtClean="0"/>
              <a:t> </a:t>
            </a:r>
            <a:r>
              <a:rPr lang="en-US" dirty="0" err="1" smtClean="0"/>
              <a:t>tiếp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hàm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gói</a:t>
            </a:r>
            <a:r>
              <a:rPr lang="en-US" dirty="0" smtClean="0"/>
              <a:t> </a:t>
            </a:r>
            <a:r>
              <a:rPr lang="en-US" dirty="0" err="1" smtClean="0"/>
              <a:t>thủ</a:t>
            </a:r>
            <a:r>
              <a:rPr lang="en-US" dirty="0" smtClean="0"/>
              <a:t> </a:t>
            </a:r>
            <a:r>
              <a:rPr lang="en-US" dirty="0" err="1" smtClean="0"/>
              <a:t>tục</a:t>
            </a:r>
            <a:r>
              <a:rPr lang="en-US" dirty="0" smtClean="0"/>
              <a:t> </a:t>
            </a:r>
            <a:r>
              <a:rPr lang="en-US" dirty="0" err="1" smtClean="0"/>
              <a:t>này</a:t>
            </a:r>
            <a:r>
              <a:rPr lang="en-US" dirty="0" smtClean="0"/>
              <a:t>. </a:t>
            </a:r>
            <a:r>
              <a:rPr lang="en-US" dirty="0" err="1" smtClean="0"/>
              <a:t>Bao</a:t>
            </a:r>
            <a:r>
              <a:rPr lang="en-US" dirty="0" smtClean="0"/>
              <a:t> </a:t>
            </a:r>
            <a:r>
              <a:rPr lang="en-US" dirty="0" err="1" smtClean="0"/>
              <a:t>gồm</a:t>
            </a:r>
            <a:endParaRPr lang="en-US" dirty="0" smtClean="0"/>
          </a:p>
          <a:p>
            <a:pPr lvl="1" algn="just">
              <a:lnSpc>
                <a:spcPct val="150000"/>
              </a:lnSpc>
              <a:buFontTx/>
              <a:buChar char="-"/>
            </a:pP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 </a:t>
            </a:r>
            <a:r>
              <a:rPr lang="en-US" dirty="0" err="1" smtClean="0"/>
              <a:t>tử</a:t>
            </a:r>
            <a:r>
              <a:rPr lang="en-US" dirty="0" smtClean="0"/>
              <a:t> </a:t>
            </a:r>
            <a:r>
              <a:rPr lang="en-US" dirty="0" err="1" smtClean="0"/>
              <a:t>cho</a:t>
            </a:r>
            <a:r>
              <a:rPr lang="en-US" dirty="0" smtClean="0"/>
              <a:t> </a:t>
            </a:r>
            <a:r>
              <a:rPr lang="en-US" dirty="0" err="1" smtClean="0"/>
              <a:t>vec-tơ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ma </a:t>
            </a:r>
            <a:r>
              <a:rPr lang="en-US" dirty="0" err="1" smtClean="0"/>
              <a:t>trận</a:t>
            </a:r>
            <a:r>
              <a:rPr lang="en-US" dirty="0" smtClean="0"/>
              <a:t>: </a:t>
            </a:r>
            <a:r>
              <a:rPr lang="en-US" dirty="0" err="1" smtClean="0"/>
              <a:t>phép</a:t>
            </a:r>
            <a:r>
              <a:rPr lang="en-US" dirty="0" smtClean="0"/>
              <a:t> </a:t>
            </a:r>
            <a:r>
              <a:rPr lang="en-US" dirty="0" err="1" smtClean="0"/>
              <a:t>cộng</a:t>
            </a:r>
            <a:r>
              <a:rPr lang="en-US" dirty="0" smtClean="0"/>
              <a:t>, </a:t>
            </a:r>
            <a:r>
              <a:rPr lang="en-US" dirty="0" err="1" smtClean="0"/>
              <a:t>nhân</a:t>
            </a:r>
            <a:r>
              <a:rPr lang="en-US" dirty="0" smtClean="0"/>
              <a:t>, </a:t>
            </a:r>
            <a:r>
              <a:rPr lang="en-US" dirty="0" err="1" smtClean="0"/>
              <a:t>tích</a:t>
            </a:r>
            <a:r>
              <a:rPr lang="en-US" dirty="0" smtClean="0"/>
              <a:t> </a:t>
            </a:r>
            <a:r>
              <a:rPr lang="en-US" dirty="0" err="1" smtClean="0"/>
              <a:t>vô</a:t>
            </a:r>
            <a:r>
              <a:rPr lang="en-US" dirty="0" smtClean="0"/>
              <a:t> </a:t>
            </a:r>
            <a:r>
              <a:rPr lang="en-US" dirty="0" err="1" smtClean="0"/>
              <a:t>hướng</a:t>
            </a:r>
            <a:r>
              <a:rPr lang="en-US" dirty="0" smtClean="0"/>
              <a:t>, </a:t>
            </a:r>
            <a:r>
              <a:rPr lang="en-US" dirty="0" err="1" smtClean="0"/>
              <a:t>tích</a:t>
            </a:r>
            <a:r>
              <a:rPr lang="en-US" dirty="0" smtClean="0"/>
              <a:t> </a:t>
            </a:r>
            <a:r>
              <a:rPr lang="en-US" dirty="0" err="1" smtClean="0"/>
              <a:t>vec-tơ</a:t>
            </a:r>
            <a:r>
              <a:rPr lang="en-US" dirty="0" smtClean="0"/>
              <a:t>, ma </a:t>
            </a:r>
            <a:r>
              <a:rPr lang="en-US" dirty="0" err="1" smtClean="0"/>
              <a:t>trận</a:t>
            </a:r>
            <a:r>
              <a:rPr lang="en-US" dirty="0" smtClean="0"/>
              <a:t> </a:t>
            </a:r>
            <a:r>
              <a:rPr lang="en-US" dirty="0" err="1" smtClean="0"/>
              <a:t>nghịch</a:t>
            </a:r>
            <a:r>
              <a:rPr lang="en-US" dirty="0" smtClean="0"/>
              <a:t> </a:t>
            </a:r>
            <a:r>
              <a:rPr lang="en-US" dirty="0" err="1" smtClean="0"/>
              <a:t>đảo</a:t>
            </a:r>
            <a:r>
              <a:rPr lang="en-US" dirty="0" smtClean="0"/>
              <a:t>, </a:t>
            </a:r>
            <a:r>
              <a:rPr lang="en-US" dirty="0" err="1" smtClean="0"/>
              <a:t>định</a:t>
            </a:r>
            <a:r>
              <a:rPr lang="en-US" dirty="0" smtClean="0"/>
              <a:t> </a:t>
            </a:r>
            <a:r>
              <a:rPr lang="en-US" dirty="0" err="1" smtClean="0"/>
              <a:t>thức</a:t>
            </a:r>
            <a:r>
              <a:rPr lang="en-US" dirty="0" smtClean="0"/>
              <a:t>, </a:t>
            </a:r>
            <a:r>
              <a:rPr lang="en-US" dirty="0" err="1" smtClean="0"/>
              <a:t>chuyển</a:t>
            </a:r>
            <a:r>
              <a:rPr lang="en-US" dirty="0" smtClean="0"/>
              <a:t> </a:t>
            </a:r>
            <a:r>
              <a:rPr lang="en-US" dirty="0" err="1" smtClean="0"/>
              <a:t>vị</a:t>
            </a:r>
            <a:r>
              <a:rPr lang="en-US" dirty="0" smtClean="0"/>
              <a:t>, </a:t>
            </a:r>
            <a:r>
              <a:rPr lang="en-US" dirty="0" err="1" smtClean="0"/>
              <a:t>vết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ma </a:t>
            </a:r>
            <a:r>
              <a:rPr lang="en-US" dirty="0" err="1" smtClean="0"/>
              <a:t>trận</a:t>
            </a:r>
            <a:r>
              <a:rPr lang="en-US" dirty="0" smtClean="0"/>
              <a:t>, ma </a:t>
            </a:r>
            <a:r>
              <a:rPr lang="en-US" dirty="0" err="1" smtClean="0"/>
              <a:t>trận</a:t>
            </a:r>
            <a:r>
              <a:rPr lang="en-US" dirty="0" smtClean="0"/>
              <a:t> </a:t>
            </a:r>
            <a:r>
              <a:rPr lang="en-US" dirty="0" err="1" smtClean="0"/>
              <a:t>phụ</a:t>
            </a:r>
            <a:r>
              <a:rPr lang="en-US" dirty="0" smtClean="0"/>
              <a:t> </a:t>
            </a:r>
            <a:r>
              <a:rPr lang="en-US" dirty="0" err="1" smtClean="0"/>
              <a:t>hợp</a:t>
            </a:r>
            <a:endParaRPr lang="en-US" dirty="0" smtClean="0"/>
          </a:p>
          <a:p>
            <a:pPr lvl="1" algn="just">
              <a:lnSpc>
                <a:spcPct val="150000"/>
              </a:lnSpc>
              <a:buFontTx/>
              <a:buChar char="-"/>
            </a:pP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hàm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 </a:t>
            </a:r>
            <a:r>
              <a:rPr lang="en-US" dirty="0" err="1" smtClean="0"/>
              <a:t>học</a:t>
            </a:r>
            <a:r>
              <a:rPr lang="en-US" dirty="0" smtClean="0"/>
              <a:t> </a:t>
            </a:r>
            <a:r>
              <a:rPr lang="en-US" dirty="0" err="1" smtClean="0"/>
              <a:t>cho</a:t>
            </a:r>
            <a:r>
              <a:rPr lang="en-US" dirty="0" smtClean="0"/>
              <a:t> </a:t>
            </a:r>
            <a:r>
              <a:rPr lang="en-US" dirty="0" err="1" smtClean="0"/>
              <a:t>vec-tơ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ma </a:t>
            </a:r>
            <a:r>
              <a:rPr lang="en-US" dirty="0" err="1" smtClean="0"/>
              <a:t>trận</a:t>
            </a:r>
            <a:r>
              <a:rPr lang="en-US" dirty="0" smtClean="0"/>
              <a:t>: </a:t>
            </a:r>
            <a:r>
              <a:rPr lang="en-US" dirty="0" err="1" smtClean="0"/>
              <a:t>giải</a:t>
            </a:r>
            <a:r>
              <a:rPr lang="en-US" dirty="0" smtClean="0"/>
              <a:t> </a:t>
            </a:r>
            <a:r>
              <a:rPr lang="en-US" dirty="0" err="1" smtClean="0"/>
              <a:t>hệ</a:t>
            </a:r>
            <a:r>
              <a:rPr lang="en-US" dirty="0" smtClean="0"/>
              <a:t> </a:t>
            </a:r>
            <a:r>
              <a:rPr lang="en-US" dirty="0" err="1" smtClean="0"/>
              <a:t>phương</a:t>
            </a:r>
            <a:r>
              <a:rPr lang="en-US" dirty="0" smtClean="0"/>
              <a:t> </a:t>
            </a:r>
            <a:r>
              <a:rPr lang="en-US" dirty="0" err="1" smtClean="0"/>
              <a:t>trình</a:t>
            </a:r>
            <a:r>
              <a:rPr lang="en-US" dirty="0" smtClean="0"/>
              <a:t> </a:t>
            </a:r>
            <a:r>
              <a:rPr lang="en-US" b="1" dirty="0" smtClean="0"/>
              <a:t>Ax</a:t>
            </a:r>
            <a:r>
              <a:rPr lang="en-US" dirty="0" smtClean="0"/>
              <a:t> = </a:t>
            </a:r>
            <a:r>
              <a:rPr lang="en-US" b="1" dirty="0" smtClean="0"/>
              <a:t>b, </a:t>
            </a:r>
            <a:r>
              <a:rPr lang="en-US" dirty="0" err="1" smtClean="0"/>
              <a:t>khử</a:t>
            </a:r>
            <a:r>
              <a:rPr lang="en-US" dirty="0" smtClean="0"/>
              <a:t> Gauss, </a:t>
            </a:r>
            <a:r>
              <a:rPr lang="en-US" dirty="0" err="1" smtClean="0"/>
              <a:t>tìm</a:t>
            </a:r>
            <a:r>
              <a:rPr lang="en-US" dirty="0" smtClean="0"/>
              <a:t> </a:t>
            </a:r>
            <a:r>
              <a:rPr lang="en-US" dirty="0" err="1" smtClean="0"/>
              <a:t>giá</a:t>
            </a:r>
            <a:r>
              <a:rPr lang="en-US" dirty="0" smtClean="0"/>
              <a:t> </a:t>
            </a:r>
            <a:r>
              <a:rPr lang="en-US" dirty="0" err="1" smtClean="0"/>
              <a:t>trị</a:t>
            </a:r>
            <a:r>
              <a:rPr lang="en-US" dirty="0" smtClean="0"/>
              <a:t> </a:t>
            </a:r>
            <a:r>
              <a:rPr lang="en-US" dirty="0" err="1" smtClean="0"/>
              <a:t>riêng</a:t>
            </a:r>
            <a:r>
              <a:rPr lang="en-US" dirty="0" smtClean="0"/>
              <a:t>, </a:t>
            </a:r>
            <a:r>
              <a:rPr lang="en-US" dirty="0" err="1" smtClean="0"/>
              <a:t>đa</a:t>
            </a:r>
            <a:r>
              <a:rPr lang="en-US" dirty="0" smtClean="0"/>
              <a:t> </a:t>
            </a:r>
            <a:r>
              <a:rPr lang="en-US" dirty="0" err="1" smtClean="0"/>
              <a:t>thức</a:t>
            </a:r>
            <a:r>
              <a:rPr lang="en-US" dirty="0" smtClean="0"/>
              <a:t> </a:t>
            </a:r>
            <a:r>
              <a:rPr lang="en-US" dirty="0" err="1" smtClean="0"/>
              <a:t>đặc</a:t>
            </a:r>
            <a:r>
              <a:rPr lang="en-US" dirty="0" smtClean="0"/>
              <a:t> </a:t>
            </a:r>
            <a:r>
              <a:rPr lang="en-US" dirty="0" err="1" smtClean="0"/>
              <a:t>trưng</a:t>
            </a:r>
            <a:r>
              <a:rPr lang="en-US" dirty="0" smtClean="0"/>
              <a:t>, …</a:t>
            </a:r>
            <a:endParaRPr lang="en-US" b="1" dirty="0" smtClean="0"/>
          </a:p>
          <a:p>
            <a:pPr marL="0" indent="0" algn="just">
              <a:lnSpc>
                <a:spcPct val="150000"/>
              </a:lnSpc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64725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94522"/>
            <a:ext cx="10515600" cy="5906278"/>
          </a:xfrm>
        </p:spPr>
        <p:txBody>
          <a:bodyPr/>
          <a:lstStyle/>
          <a:p>
            <a:pPr lvl="1" algn="just">
              <a:lnSpc>
                <a:spcPct val="150000"/>
              </a:lnSpc>
              <a:buFontTx/>
              <a:buChar char="-"/>
            </a:pP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 </a:t>
            </a:r>
            <a:r>
              <a:rPr lang="en-US" dirty="0" err="1" smtClean="0"/>
              <a:t>tử</a:t>
            </a:r>
            <a:r>
              <a:rPr lang="en-US" dirty="0" smtClean="0"/>
              <a:t> </a:t>
            </a:r>
            <a:r>
              <a:rPr lang="en-US" dirty="0" err="1" smtClean="0"/>
              <a:t>dùng</a:t>
            </a:r>
            <a:r>
              <a:rPr lang="en-US" dirty="0" smtClean="0"/>
              <a:t>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tìm</a:t>
            </a:r>
            <a:r>
              <a:rPr lang="en-US" dirty="0" smtClean="0"/>
              <a:t> </a:t>
            </a:r>
            <a:r>
              <a:rPr lang="en-US" dirty="0" err="1" smtClean="0"/>
              <a:t>cơ</a:t>
            </a:r>
            <a:r>
              <a:rPr lang="en-US" dirty="0" smtClean="0"/>
              <a:t> </a:t>
            </a:r>
            <a:r>
              <a:rPr lang="en-US" dirty="0" err="1" smtClean="0"/>
              <a:t>sở</a:t>
            </a:r>
            <a:r>
              <a:rPr lang="en-US" dirty="0" smtClean="0"/>
              <a:t>: </a:t>
            </a:r>
            <a:r>
              <a:rPr lang="en-US" dirty="0" err="1" smtClean="0"/>
              <a:t>tìm</a:t>
            </a:r>
            <a:r>
              <a:rPr lang="en-US" dirty="0" smtClean="0"/>
              <a:t> </a:t>
            </a:r>
            <a:r>
              <a:rPr lang="en-US" dirty="0" err="1" smtClean="0"/>
              <a:t>cơ</a:t>
            </a:r>
            <a:r>
              <a:rPr lang="en-US" dirty="0" smtClean="0"/>
              <a:t> </a:t>
            </a:r>
            <a:r>
              <a:rPr lang="en-US" dirty="0" err="1" smtClean="0"/>
              <a:t>sở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gian</a:t>
            </a:r>
            <a:r>
              <a:rPr lang="en-US" dirty="0" smtClean="0"/>
              <a:t> </a:t>
            </a:r>
            <a:r>
              <a:rPr lang="en-US" dirty="0" err="1" smtClean="0"/>
              <a:t>sinh</a:t>
            </a:r>
            <a:r>
              <a:rPr lang="en-US" dirty="0" smtClean="0"/>
              <a:t> </a:t>
            </a:r>
            <a:r>
              <a:rPr lang="en-US" dirty="0" err="1" smtClean="0"/>
              <a:t>bởi</a:t>
            </a:r>
            <a:r>
              <a:rPr lang="en-US" dirty="0" smtClean="0"/>
              <a:t> </a:t>
            </a:r>
            <a:r>
              <a:rPr lang="en-US" dirty="0" err="1" smtClean="0"/>
              <a:t>tập</a:t>
            </a:r>
            <a:r>
              <a:rPr lang="en-US" dirty="0" smtClean="0"/>
              <a:t> V (basis(V)), </a:t>
            </a:r>
            <a:r>
              <a:rPr lang="en-US" dirty="0" err="1" smtClean="0"/>
              <a:t>cơ</a:t>
            </a:r>
            <a:r>
              <a:rPr lang="en-US" dirty="0" smtClean="0"/>
              <a:t> </a:t>
            </a:r>
            <a:r>
              <a:rPr lang="en-US" dirty="0" err="1" smtClean="0"/>
              <a:t>sở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nhân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ma </a:t>
            </a:r>
            <a:r>
              <a:rPr lang="en-US" dirty="0" err="1" smtClean="0"/>
              <a:t>trận</a:t>
            </a:r>
            <a:r>
              <a:rPr lang="en-US" dirty="0" smtClean="0"/>
              <a:t> A (</a:t>
            </a:r>
            <a:r>
              <a:rPr lang="en-US" dirty="0" err="1" smtClean="0"/>
              <a:t>nullspace</a:t>
            </a:r>
            <a:r>
              <a:rPr lang="en-US" dirty="0" smtClean="0"/>
              <a:t>(A)), </a:t>
            </a:r>
            <a:r>
              <a:rPr lang="en-US" dirty="0" err="1" smtClean="0"/>
              <a:t>cơ</a:t>
            </a:r>
            <a:r>
              <a:rPr lang="en-US" dirty="0" smtClean="0"/>
              <a:t> </a:t>
            </a:r>
            <a:r>
              <a:rPr lang="en-US" dirty="0" err="1" smtClean="0"/>
              <a:t>sở</a:t>
            </a:r>
            <a:r>
              <a:rPr lang="en-US" dirty="0" smtClean="0"/>
              <a:t> </a:t>
            </a:r>
            <a:r>
              <a:rPr lang="en-US" dirty="0" err="1" smtClean="0"/>
              <a:t>cho</a:t>
            </a:r>
            <a:r>
              <a:rPr lang="en-US" dirty="0" smtClean="0"/>
              <a:t> </a:t>
            </a:r>
            <a:r>
              <a:rPr lang="en-US" dirty="0" err="1" smtClean="0"/>
              <a:t>không</a:t>
            </a:r>
            <a:r>
              <a:rPr lang="en-US" dirty="0"/>
              <a:t> </a:t>
            </a:r>
            <a:r>
              <a:rPr lang="en-US" dirty="0" err="1" smtClean="0"/>
              <a:t>gian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cột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ma </a:t>
            </a:r>
            <a:r>
              <a:rPr lang="en-US" dirty="0" err="1" smtClean="0"/>
              <a:t>trận</a:t>
            </a:r>
            <a:r>
              <a:rPr lang="en-US" dirty="0" smtClean="0"/>
              <a:t> A (</a:t>
            </a:r>
            <a:r>
              <a:rPr lang="en-US" dirty="0" err="1" smtClean="0"/>
              <a:t>colspace</a:t>
            </a:r>
            <a:r>
              <a:rPr lang="en-US" dirty="0" smtClean="0"/>
              <a:t>(A)), </a:t>
            </a:r>
            <a:r>
              <a:rPr lang="en-US" dirty="0" err="1" smtClean="0"/>
              <a:t>tìm</a:t>
            </a:r>
            <a:r>
              <a:rPr lang="en-US" dirty="0" smtClean="0"/>
              <a:t> </a:t>
            </a:r>
            <a:r>
              <a:rPr lang="en-US" dirty="0" err="1" smtClean="0"/>
              <a:t>cơ</a:t>
            </a:r>
            <a:r>
              <a:rPr lang="en-US" dirty="0" smtClean="0"/>
              <a:t> </a:t>
            </a:r>
            <a:r>
              <a:rPr lang="en-US" dirty="0" err="1" smtClean="0"/>
              <a:t>sở</a:t>
            </a:r>
            <a:r>
              <a:rPr lang="en-US" dirty="0" smtClean="0"/>
              <a:t> </a:t>
            </a:r>
            <a:r>
              <a:rPr lang="en-US" dirty="0" err="1" smtClean="0"/>
              <a:t>trực</a:t>
            </a:r>
            <a:r>
              <a:rPr lang="en-US" dirty="0" smtClean="0"/>
              <a:t> </a:t>
            </a:r>
            <a:r>
              <a:rPr lang="en-US" dirty="0" err="1" smtClean="0"/>
              <a:t>giao</a:t>
            </a:r>
            <a:r>
              <a:rPr lang="en-US" dirty="0" smtClean="0"/>
              <a:t> </a:t>
            </a:r>
            <a:r>
              <a:rPr lang="en-US" dirty="0" err="1" smtClean="0"/>
              <a:t>cho</a:t>
            </a:r>
            <a:r>
              <a:rPr lang="en-US" dirty="0" smtClean="0"/>
              <a:t> </a:t>
            </a:r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gian</a:t>
            </a:r>
            <a:r>
              <a:rPr lang="en-US" dirty="0" smtClean="0"/>
              <a:t> </a:t>
            </a:r>
            <a:r>
              <a:rPr lang="en-US" dirty="0" err="1" smtClean="0"/>
              <a:t>sinh</a:t>
            </a:r>
            <a:r>
              <a:rPr lang="en-US" dirty="0" smtClean="0"/>
              <a:t> </a:t>
            </a:r>
            <a:r>
              <a:rPr lang="en-US" dirty="0" err="1" smtClean="0"/>
              <a:t>bởi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cột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A (</a:t>
            </a:r>
            <a:r>
              <a:rPr lang="en-US" dirty="0" err="1" smtClean="0"/>
              <a:t>GramSchmidt</a:t>
            </a:r>
            <a:r>
              <a:rPr lang="en-US" dirty="0" smtClean="0"/>
              <a:t>(A))</a:t>
            </a:r>
          </a:p>
          <a:p>
            <a:pPr marL="457200" lvl="1" indent="0" algn="just">
              <a:lnSpc>
                <a:spcPct val="150000"/>
              </a:lnSpc>
              <a:buNone/>
            </a:pPr>
            <a:endParaRPr lang="en-US" dirty="0" smtClean="0"/>
          </a:p>
          <a:p>
            <a:pPr algn="just">
              <a:lnSpc>
                <a:spcPct val="150000"/>
              </a:lnSpc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3603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94522"/>
            <a:ext cx="10515600" cy="5906278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dirty="0" smtClean="0"/>
              <a:t>- </a:t>
            </a:r>
            <a:r>
              <a:rPr lang="en-US" dirty="0" err="1" smtClean="0"/>
              <a:t>Gói</a:t>
            </a:r>
            <a:r>
              <a:rPr lang="en-US" dirty="0" smtClean="0"/>
              <a:t> </a:t>
            </a:r>
            <a:r>
              <a:rPr lang="en-US" dirty="0" err="1" smtClean="0"/>
              <a:t>lệnh</a:t>
            </a:r>
            <a:r>
              <a:rPr lang="en-US" dirty="0" smtClean="0"/>
              <a:t> </a:t>
            </a:r>
            <a:r>
              <a:rPr lang="en-US" dirty="0" err="1" smtClean="0"/>
              <a:t>đại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tuyến</a:t>
            </a:r>
            <a:r>
              <a:rPr lang="en-US" dirty="0" smtClean="0"/>
              <a:t> </a:t>
            </a:r>
            <a:r>
              <a:rPr lang="en-US" dirty="0" err="1" smtClean="0"/>
              <a:t>tính</a:t>
            </a:r>
            <a:r>
              <a:rPr lang="en-US" dirty="0" smtClean="0"/>
              <a:t> </a:t>
            </a:r>
            <a:r>
              <a:rPr lang="en-US" dirty="0" err="1" smtClean="0"/>
              <a:t>mới</a:t>
            </a:r>
            <a:r>
              <a:rPr lang="en-US" dirty="0" smtClean="0"/>
              <a:t>: </a:t>
            </a:r>
            <a:r>
              <a:rPr lang="en-US" dirty="0" err="1" smtClean="0"/>
              <a:t>LinearAlgebra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60839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94522"/>
            <a:ext cx="10515600" cy="5906278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dirty="0" err="1" smtClean="0"/>
              <a:t>Bài</a:t>
            </a:r>
            <a:r>
              <a:rPr lang="en-US" dirty="0" smtClean="0"/>
              <a:t> </a:t>
            </a:r>
            <a:r>
              <a:rPr lang="en-US" dirty="0" err="1" smtClean="0"/>
              <a:t>tập</a:t>
            </a:r>
            <a:r>
              <a:rPr lang="en-US" dirty="0" smtClean="0"/>
              <a:t> </a:t>
            </a:r>
            <a:r>
              <a:rPr lang="en-US" dirty="0" err="1" smtClean="0"/>
              <a:t>luyện</a:t>
            </a:r>
            <a:r>
              <a:rPr lang="en-US" dirty="0" smtClean="0"/>
              <a:t> </a:t>
            </a:r>
            <a:r>
              <a:rPr lang="en-US" dirty="0" err="1" smtClean="0"/>
              <a:t>tập</a:t>
            </a:r>
            <a:endParaRPr lang="en-US" dirty="0" smtClean="0"/>
          </a:p>
          <a:p>
            <a:pPr marL="514350" indent="-514350" algn="just">
              <a:lnSpc>
                <a:spcPct val="150000"/>
              </a:lnSpc>
              <a:buAutoNum type="arabicParenR"/>
            </a:pPr>
            <a:r>
              <a:rPr lang="en-US" dirty="0" smtClean="0"/>
              <a:t>Cho a = (2, 3, 1, 2) </a:t>
            </a:r>
            <a:r>
              <a:rPr lang="en-US" dirty="0" err="1" smtClean="0"/>
              <a:t>và</a:t>
            </a:r>
            <a:r>
              <a:rPr lang="en-US" dirty="0" smtClean="0"/>
              <a:t> b = (1, 2, -2, 1). </a:t>
            </a:r>
            <a:r>
              <a:rPr lang="en-US" dirty="0" err="1" smtClean="0"/>
              <a:t>Tính</a:t>
            </a:r>
            <a:r>
              <a:rPr lang="en-US" dirty="0" smtClean="0"/>
              <a:t> </a:t>
            </a:r>
            <a:r>
              <a:rPr lang="en-US" dirty="0" err="1" smtClean="0"/>
              <a:t>tích</a:t>
            </a:r>
            <a:r>
              <a:rPr lang="en-US" dirty="0" smtClean="0"/>
              <a:t> </a:t>
            </a:r>
            <a:r>
              <a:rPr lang="en-US" dirty="0" err="1" smtClean="0"/>
              <a:t>vô</a:t>
            </a:r>
            <a:r>
              <a:rPr lang="en-US" dirty="0" smtClean="0"/>
              <a:t> </a:t>
            </a:r>
            <a:r>
              <a:rPr lang="en-US" dirty="0" err="1" smtClean="0"/>
              <a:t>hướng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hai</a:t>
            </a:r>
            <a:r>
              <a:rPr lang="en-US" dirty="0" smtClean="0"/>
              <a:t> </a:t>
            </a:r>
            <a:r>
              <a:rPr lang="en-US" dirty="0" err="1" smtClean="0"/>
              <a:t>vec-tơ</a:t>
            </a:r>
            <a:r>
              <a:rPr lang="en-US" dirty="0" smtClean="0"/>
              <a:t>, </a:t>
            </a:r>
            <a:r>
              <a:rPr lang="en-US" dirty="0" err="1" smtClean="0"/>
              <a:t>góc</a:t>
            </a:r>
            <a:r>
              <a:rPr lang="en-US" dirty="0" smtClean="0"/>
              <a:t> </a:t>
            </a:r>
            <a:r>
              <a:rPr lang="en-US" dirty="0" err="1" smtClean="0"/>
              <a:t>giữa</a:t>
            </a:r>
            <a:r>
              <a:rPr lang="en-US" dirty="0" smtClean="0"/>
              <a:t> </a:t>
            </a:r>
            <a:r>
              <a:rPr lang="en-US" dirty="0" err="1" smtClean="0"/>
              <a:t>chúng</a:t>
            </a:r>
            <a:r>
              <a:rPr lang="en-US" dirty="0" smtClean="0"/>
              <a:t>, </a:t>
            </a:r>
            <a:r>
              <a:rPr lang="en-US" dirty="0" err="1" smtClean="0"/>
              <a:t>chuẩn</a:t>
            </a:r>
            <a:r>
              <a:rPr lang="en-US" dirty="0" smtClean="0"/>
              <a:t> 2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vec-tơ</a:t>
            </a:r>
            <a:r>
              <a:rPr lang="en-US" dirty="0" smtClean="0"/>
              <a:t> a</a:t>
            </a:r>
          </a:p>
          <a:p>
            <a:pPr marL="514350" indent="-514350" algn="just">
              <a:lnSpc>
                <a:spcPct val="150000"/>
              </a:lnSpc>
              <a:buAutoNum type="arabicParenR"/>
            </a:pPr>
            <a:r>
              <a:rPr lang="en-US" dirty="0" smtClean="0"/>
              <a:t>Cho ma </a:t>
            </a:r>
            <a:r>
              <a:rPr lang="en-US" dirty="0" err="1" smtClean="0"/>
              <a:t>trận</a:t>
            </a:r>
            <a:endParaRPr lang="en-US" dirty="0" smtClean="0"/>
          </a:p>
          <a:p>
            <a:pPr marL="514350" indent="-514350" algn="just">
              <a:lnSpc>
                <a:spcPct val="150000"/>
              </a:lnSpc>
              <a:buAutoNum type="arabicParenR"/>
            </a:pPr>
            <a:endParaRPr lang="en-US" dirty="0"/>
          </a:p>
          <a:p>
            <a:pPr marL="514350" indent="-514350" algn="just">
              <a:lnSpc>
                <a:spcPct val="150000"/>
              </a:lnSpc>
              <a:buAutoNum type="arabicParenR"/>
            </a:pPr>
            <a:endParaRPr lang="en-US" dirty="0" smtClean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 err="1" smtClean="0"/>
              <a:t>Tính</a:t>
            </a:r>
            <a:r>
              <a:rPr lang="en-US" dirty="0" smtClean="0"/>
              <a:t> </a:t>
            </a:r>
            <a:r>
              <a:rPr lang="en-US" dirty="0" err="1" smtClean="0"/>
              <a:t>det</a:t>
            </a:r>
            <a:r>
              <a:rPr lang="en-US" dirty="0" smtClean="0"/>
              <a:t>(AA</a:t>
            </a:r>
            <a:r>
              <a:rPr lang="en-US" baseline="30000" dirty="0" smtClean="0"/>
              <a:t>–1</a:t>
            </a:r>
            <a:r>
              <a:rPr lang="en-US" dirty="0" smtClean="0"/>
              <a:t>), A</a:t>
            </a:r>
            <a:r>
              <a:rPr lang="en-US" baseline="30000" dirty="0" smtClean="0"/>
              <a:t>T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det</a:t>
            </a:r>
            <a:r>
              <a:rPr lang="en-US" dirty="0" smtClean="0"/>
              <a:t>(M</a:t>
            </a:r>
            <a:r>
              <a:rPr lang="en-US" baseline="-25000" dirty="0" smtClean="0"/>
              <a:t>22</a:t>
            </a:r>
            <a:r>
              <a:rPr lang="en-US" dirty="0" smtClean="0"/>
              <a:t>) </a:t>
            </a:r>
            <a:endParaRPr lang="en-US" dirty="0"/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131114"/>
              </p:ext>
            </p:extLst>
          </p:nvPr>
        </p:nvGraphicFramePr>
        <p:xfrm>
          <a:off x="4764185" y="3727159"/>
          <a:ext cx="1789141" cy="11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" name="Equation" r:id="rId3" imgW="1282680" imgH="799920" progId="Equation.DSMT4">
                  <p:embed/>
                </p:oleObj>
              </mc:Choice>
              <mc:Fallback>
                <p:oleObj name="Equation" r:id="rId3" imgW="1282680" imgH="7999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764185" y="3727159"/>
                        <a:ext cx="1789141" cy="1116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543581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94522"/>
            <a:ext cx="10515600" cy="5906278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dirty="0" smtClean="0"/>
              <a:t>3) Cho ma </a:t>
            </a:r>
            <a:r>
              <a:rPr lang="en-US" dirty="0" err="1" smtClean="0"/>
              <a:t>trận</a:t>
            </a:r>
            <a:endParaRPr lang="en-US" dirty="0" smtClean="0"/>
          </a:p>
          <a:p>
            <a:pPr marL="0" indent="0" algn="just">
              <a:lnSpc>
                <a:spcPct val="150000"/>
              </a:lnSpc>
              <a:buNone/>
            </a:pPr>
            <a:endParaRPr lang="en-US" dirty="0"/>
          </a:p>
          <a:p>
            <a:pPr marL="0" indent="0" algn="just">
              <a:lnSpc>
                <a:spcPct val="150000"/>
              </a:lnSpc>
              <a:buNone/>
            </a:pPr>
            <a:endParaRPr lang="en-US" dirty="0" smtClean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 err="1" smtClean="0"/>
              <a:t>Tính</a:t>
            </a:r>
            <a:r>
              <a:rPr lang="en-US" dirty="0" smtClean="0"/>
              <a:t> </a:t>
            </a:r>
            <a:r>
              <a:rPr lang="en-US" dirty="0" err="1" smtClean="0"/>
              <a:t>giá</a:t>
            </a:r>
            <a:r>
              <a:rPr lang="en-US" dirty="0" smtClean="0"/>
              <a:t> </a:t>
            </a:r>
            <a:r>
              <a:rPr lang="en-US" dirty="0" err="1" smtClean="0"/>
              <a:t>trị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đa</a:t>
            </a:r>
            <a:r>
              <a:rPr lang="en-US" dirty="0" smtClean="0"/>
              <a:t> </a:t>
            </a:r>
            <a:r>
              <a:rPr lang="en-US" dirty="0" err="1" smtClean="0"/>
              <a:t>thức</a:t>
            </a:r>
            <a:r>
              <a:rPr lang="en-US" dirty="0" smtClean="0"/>
              <a:t> P(A) = A</a:t>
            </a:r>
            <a:r>
              <a:rPr lang="en-US" baseline="30000" dirty="0" smtClean="0"/>
              <a:t>3</a:t>
            </a:r>
            <a:r>
              <a:rPr lang="en-US" dirty="0" smtClean="0"/>
              <a:t> – 18A</a:t>
            </a:r>
            <a:r>
              <a:rPr lang="en-US" baseline="30000" dirty="0" smtClean="0"/>
              <a:t>2</a:t>
            </a:r>
            <a:r>
              <a:rPr lang="en-US" dirty="0" smtClean="0"/>
              <a:t> + 64A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 smtClean="0"/>
              <a:t>4</a:t>
            </a:r>
            <a:r>
              <a:rPr lang="en-US" dirty="0"/>
              <a:t>)</a:t>
            </a:r>
            <a:r>
              <a:rPr lang="en-US" dirty="0" smtClean="0"/>
              <a:t> Cho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vec-tơ</a:t>
            </a:r>
            <a:r>
              <a:rPr lang="en-US" dirty="0" smtClean="0"/>
              <a:t> a</a:t>
            </a:r>
            <a:r>
              <a:rPr lang="en-US" baseline="-25000" dirty="0" smtClean="0"/>
              <a:t>1</a:t>
            </a:r>
            <a:r>
              <a:rPr lang="en-US" dirty="0" smtClean="0"/>
              <a:t> = (2, 1, 3, -1), a</a:t>
            </a:r>
            <a:r>
              <a:rPr lang="en-US" baseline="-25000" dirty="0" smtClean="0"/>
              <a:t>2</a:t>
            </a:r>
            <a:r>
              <a:rPr lang="en-US" dirty="0" smtClean="0"/>
              <a:t> = (7, 4, 3, -3), a</a:t>
            </a:r>
            <a:r>
              <a:rPr lang="en-US" baseline="-25000" dirty="0" smtClean="0"/>
              <a:t>3</a:t>
            </a:r>
            <a:r>
              <a:rPr lang="en-US" dirty="0" smtClean="0"/>
              <a:t> = (1, 1, -6, 0), a</a:t>
            </a:r>
            <a:r>
              <a:rPr lang="en-US" baseline="-25000" dirty="0" smtClean="0"/>
              <a:t>4</a:t>
            </a:r>
            <a:r>
              <a:rPr lang="en-US" dirty="0" smtClean="0"/>
              <a:t> = (5, 3, 0, 4). </a:t>
            </a:r>
            <a:r>
              <a:rPr lang="en-US" dirty="0" err="1" smtClean="0"/>
              <a:t>Xác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r>
              <a:rPr lang="en-US" dirty="0" smtClean="0"/>
              <a:t> </a:t>
            </a:r>
            <a:r>
              <a:rPr lang="en-US" dirty="0" err="1" smtClean="0"/>
              <a:t>cơ</a:t>
            </a:r>
            <a:r>
              <a:rPr lang="en-US" dirty="0" smtClean="0"/>
              <a:t> </a:t>
            </a:r>
            <a:r>
              <a:rPr lang="en-US" dirty="0" err="1" smtClean="0"/>
              <a:t>sở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gian</a:t>
            </a:r>
            <a:r>
              <a:rPr lang="en-US" dirty="0" smtClean="0"/>
              <a:t> </a:t>
            </a:r>
            <a:r>
              <a:rPr lang="en-US" dirty="0" err="1" smtClean="0"/>
              <a:t>sinh</a:t>
            </a:r>
            <a:r>
              <a:rPr lang="en-US" dirty="0" smtClean="0"/>
              <a:t> </a:t>
            </a:r>
            <a:r>
              <a:rPr lang="en-US" dirty="0" err="1" smtClean="0"/>
              <a:t>bởi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vec-tơ</a:t>
            </a:r>
            <a:r>
              <a:rPr lang="en-US" dirty="0" smtClean="0"/>
              <a:t> </a:t>
            </a:r>
            <a:r>
              <a:rPr lang="en-US" dirty="0" err="1" smtClean="0"/>
              <a:t>này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trực</a:t>
            </a:r>
            <a:r>
              <a:rPr lang="en-US" dirty="0" smtClean="0"/>
              <a:t> </a:t>
            </a:r>
            <a:r>
              <a:rPr lang="en-US" dirty="0" err="1" smtClean="0"/>
              <a:t>giao</a:t>
            </a:r>
            <a:r>
              <a:rPr lang="en-US" dirty="0" smtClean="0"/>
              <a:t> </a:t>
            </a:r>
            <a:r>
              <a:rPr lang="en-US" dirty="0" err="1" smtClean="0"/>
              <a:t>hóa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vec-tơ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cơ</a:t>
            </a:r>
            <a:r>
              <a:rPr lang="en-US" dirty="0" smtClean="0"/>
              <a:t> </a:t>
            </a:r>
            <a:r>
              <a:rPr lang="en-US" dirty="0" err="1" smtClean="0"/>
              <a:t>sở</a:t>
            </a:r>
            <a:r>
              <a:rPr lang="en-US" dirty="0" smtClean="0"/>
              <a:t>.</a:t>
            </a:r>
            <a:endParaRPr lang="en-US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9565677"/>
              </p:ext>
            </p:extLst>
          </p:nvPr>
        </p:nvGraphicFramePr>
        <p:xfrm>
          <a:off x="4833938" y="1487488"/>
          <a:ext cx="1630362" cy="1116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6" name="Equation" r:id="rId3" imgW="1168200" imgH="799920" progId="Equation.DSMT4">
                  <p:embed/>
                </p:oleObj>
              </mc:Choice>
              <mc:Fallback>
                <p:oleObj name="Equation" r:id="rId3" imgW="1168200" imgH="799920" progId="Equation.DSMT4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833938" y="1487488"/>
                        <a:ext cx="1630362" cy="11160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872525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94522"/>
            <a:ext cx="10515600" cy="5906278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dirty="0" smtClean="0"/>
              <a:t>5) </a:t>
            </a:r>
            <a:r>
              <a:rPr lang="en-US" dirty="0" err="1" smtClean="0"/>
              <a:t>Giải</a:t>
            </a:r>
            <a:r>
              <a:rPr lang="en-US" dirty="0" smtClean="0"/>
              <a:t> </a:t>
            </a:r>
            <a:r>
              <a:rPr lang="en-US" dirty="0" err="1" smtClean="0"/>
              <a:t>hệ</a:t>
            </a:r>
            <a:r>
              <a:rPr lang="en-US" dirty="0" smtClean="0"/>
              <a:t> </a:t>
            </a:r>
            <a:r>
              <a:rPr lang="en-US" dirty="0" err="1" smtClean="0"/>
              <a:t>phương</a:t>
            </a:r>
            <a:r>
              <a:rPr lang="en-US" dirty="0" smtClean="0"/>
              <a:t> </a:t>
            </a:r>
            <a:r>
              <a:rPr lang="en-US" dirty="0" err="1" smtClean="0"/>
              <a:t>trình</a:t>
            </a:r>
            <a:r>
              <a:rPr lang="en-US" dirty="0" smtClean="0"/>
              <a:t> </a:t>
            </a:r>
            <a:r>
              <a:rPr lang="en-US" dirty="0" err="1" smtClean="0"/>
              <a:t>tuyến</a:t>
            </a:r>
            <a:r>
              <a:rPr lang="en-US" dirty="0" smtClean="0"/>
              <a:t> </a:t>
            </a:r>
            <a:r>
              <a:rPr lang="en-US" dirty="0" err="1" smtClean="0"/>
              <a:t>tính</a:t>
            </a:r>
            <a:endParaRPr lang="en-US" dirty="0" smtClean="0"/>
          </a:p>
          <a:p>
            <a:pPr marL="0" indent="0" algn="just">
              <a:lnSpc>
                <a:spcPct val="150000"/>
              </a:lnSpc>
              <a:buNone/>
            </a:pPr>
            <a:endParaRPr lang="en-US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 err="1" smtClean="0"/>
              <a:t>Bằng</a:t>
            </a:r>
            <a:r>
              <a:rPr lang="en-US" dirty="0" smtClean="0"/>
              <a:t> </a:t>
            </a:r>
            <a:r>
              <a:rPr lang="en-US" dirty="0" err="1" smtClean="0"/>
              <a:t>lệnh</a:t>
            </a:r>
            <a:r>
              <a:rPr lang="en-US" dirty="0" smtClean="0"/>
              <a:t> solve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lệnh</a:t>
            </a:r>
            <a:r>
              <a:rPr lang="en-US" dirty="0" smtClean="0"/>
              <a:t> </a:t>
            </a:r>
            <a:r>
              <a:rPr lang="en-US" dirty="0" err="1" smtClean="0"/>
              <a:t>LinearSolve</a:t>
            </a:r>
            <a:r>
              <a:rPr lang="en-US" dirty="0" smtClean="0"/>
              <a:t>(</a:t>
            </a:r>
            <a:r>
              <a:rPr lang="en-US" dirty="0" err="1" smtClean="0"/>
              <a:t>linsolve</a:t>
            </a:r>
            <a:r>
              <a:rPr lang="en-US" dirty="0" smtClean="0"/>
              <a:t>)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 smtClean="0"/>
              <a:t>6) </a:t>
            </a:r>
            <a:r>
              <a:rPr lang="en-US" dirty="0" err="1" smtClean="0"/>
              <a:t>Giải</a:t>
            </a:r>
            <a:r>
              <a:rPr lang="en-US" dirty="0" smtClean="0"/>
              <a:t> </a:t>
            </a:r>
            <a:r>
              <a:rPr lang="en-US" dirty="0" err="1" smtClean="0"/>
              <a:t>phương</a:t>
            </a:r>
            <a:r>
              <a:rPr lang="en-US" dirty="0" smtClean="0"/>
              <a:t> </a:t>
            </a:r>
            <a:r>
              <a:rPr lang="en-US" dirty="0" err="1" smtClean="0"/>
              <a:t>trình</a:t>
            </a:r>
            <a:r>
              <a:rPr lang="en-US" dirty="0" smtClean="0"/>
              <a:t> ma </a:t>
            </a:r>
            <a:r>
              <a:rPr lang="en-US" dirty="0" err="1" smtClean="0"/>
              <a:t>trận</a:t>
            </a:r>
            <a:r>
              <a:rPr lang="en-US" dirty="0" smtClean="0"/>
              <a:t> AX = B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đó</a:t>
            </a:r>
            <a:endParaRPr lang="en-US" dirty="0" smtClean="0"/>
          </a:p>
          <a:p>
            <a:pPr marL="0" indent="0" algn="just">
              <a:lnSpc>
                <a:spcPct val="150000"/>
              </a:lnSpc>
              <a:buNone/>
            </a:pPr>
            <a:endParaRPr lang="en-US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875806"/>
              </p:ext>
            </p:extLst>
          </p:nvPr>
        </p:nvGraphicFramePr>
        <p:xfrm>
          <a:off x="5164283" y="1301395"/>
          <a:ext cx="1863433" cy="79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Equation" r:id="rId3" imgW="1282680" imgH="545760" progId="Equation.DSMT4">
                  <p:embed/>
                </p:oleObj>
              </mc:Choice>
              <mc:Fallback>
                <p:oleObj name="Equation" r:id="rId3" imgW="1282680" imgH="545760" progId="Equation.DSMT4">
                  <p:embed/>
                  <p:pic>
                    <p:nvPicPr>
                      <p:cNvPr id="4" name="Object 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164283" y="1301395"/>
                        <a:ext cx="1863433" cy="792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0144260"/>
              </p:ext>
            </p:extLst>
          </p:nvPr>
        </p:nvGraphicFramePr>
        <p:xfrm>
          <a:off x="3977595" y="3866664"/>
          <a:ext cx="3773487" cy="1116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Equation" r:id="rId5" imgW="2705040" imgH="799920" progId="Equation.DSMT4">
                  <p:embed/>
                </p:oleObj>
              </mc:Choice>
              <mc:Fallback>
                <p:oleObj name="Equation" r:id="rId5" imgW="2705040" imgH="799920" progId="Equation.DSMT4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977595" y="3866664"/>
                        <a:ext cx="3773487" cy="11160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527857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94522"/>
            <a:ext cx="10515600" cy="5906278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dirty="0" smtClean="0"/>
              <a:t>7) </a:t>
            </a:r>
            <a:r>
              <a:rPr lang="en-US" dirty="0" err="1" smtClean="0"/>
              <a:t>Tìm</a:t>
            </a:r>
            <a:r>
              <a:rPr lang="en-US" dirty="0" smtClean="0"/>
              <a:t> </a:t>
            </a:r>
            <a:r>
              <a:rPr lang="en-US" dirty="0" err="1" smtClean="0"/>
              <a:t>điều</a:t>
            </a:r>
            <a:r>
              <a:rPr lang="en-US" dirty="0" smtClean="0"/>
              <a:t> </a:t>
            </a:r>
            <a:r>
              <a:rPr lang="en-US" dirty="0" err="1" smtClean="0"/>
              <a:t>kiện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tham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hệ</a:t>
            </a:r>
            <a:r>
              <a:rPr lang="en-US" dirty="0" smtClean="0"/>
              <a:t> </a:t>
            </a:r>
            <a:r>
              <a:rPr lang="en-US" dirty="0" err="1" smtClean="0"/>
              <a:t>pt</a:t>
            </a:r>
            <a:r>
              <a:rPr lang="en-US" dirty="0" smtClean="0"/>
              <a:t> </a:t>
            </a:r>
            <a:r>
              <a:rPr lang="en-US" dirty="0" err="1" smtClean="0"/>
              <a:t>sau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nghiệm</a:t>
            </a:r>
            <a:r>
              <a:rPr lang="en-US" dirty="0" smtClean="0"/>
              <a:t> (</a:t>
            </a:r>
            <a:r>
              <a:rPr lang="en-US" dirty="0" err="1" smtClean="0"/>
              <a:t>vô</a:t>
            </a:r>
            <a:r>
              <a:rPr lang="en-US" dirty="0" smtClean="0"/>
              <a:t> </a:t>
            </a:r>
            <a:r>
              <a:rPr lang="en-US" dirty="0" err="1" smtClean="0"/>
              <a:t>nghiệm</a:t>
            </a:r>
            <a:r>
              <a:rPr lang="en-US" dirty="0" smtClean="0"/>
              <a:t>, </a:t>
            </a:r>
            <a:r>
              <a:rPr lang="en-US" dirty="0" err="1" smtClean="0"/>
              <a:t>vô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nghiệm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7486032"/>
              </p:ext>
            </p:extLst>
          </p:nvPr>
        </p:nvGraphicFramePr>
        <p:xfrm>
          <a:off x="4021494" y="2079661"/>
          <a:ext cx="3384738" cy="136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3" name="Equation" r:id="rId3" imgW="1905000" imgH="774700" progId="Equation.DSMT4">
                  <p:embed/>
                </p:oleObj>
              </mc:Choice>
              <mc:Fallback>
                <p:oleObj name="Equation" r:id="rId3" imgW="1905000" imgH="7747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21494" y="2079661"/>
                        <a:ext cx="3384738" cy="13680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928751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1117</TotalTime>
  <Words>563</Words>
  <Application>Microsoft Office PowerPoint</Application>
  <PresentationFormat>Widescreen</PresentationFormat>
  <Paragraphs>42</Paragraphs>
  <Slides>12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Equation</vt:lpstr>
      <vt:lpstr>Chương 1.3 – Maple với đại số tuyến tính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Chương 3 - Maple</dc:title>
  <dc:creator>admin</dc:creator>
  <cp:lastModifiedBy>Admin</cp:lastModifiedBy>
  <cp:revision>77</cp:revision>
  <dcterms:created xsi:type="dcterms:W3CDTF">2022-01-05T07:42:19Z</dcterms:created>
  <dcterms:modified xsi:type="dcterms:W3CDTF">2023-01-29T08:04:17Z</dcterms:modified>
</cp:coreProperties>
</file>