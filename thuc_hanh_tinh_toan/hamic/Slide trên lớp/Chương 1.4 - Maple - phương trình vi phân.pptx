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1" r:id="rId28"/>
    <p:sldId id="282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8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6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3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0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0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4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0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9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ABA0-A348-4D1A-B2E0-25F6C6DDAED6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3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Chương</a:t>
            </a:r>
            <a:r>
              <a:rPr lang="en-US" dirty="0" smtClean="0"/>
              <a:t> 1.4 –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vi </a:t>
            </a:r>
            <a:r>
              <a:rPr lang="en-US" dirty="0" err="1" smtClean="0"/>
              <a:t>phân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4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/>
              <a:t>1.4. Maple </a:t>
            </a:r>
            <a:r>
              <a:rPr lang="en-US" b="1" u="sng" dirty="0" err="1" smtClean="0"/>
              <a:t>với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phương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trình</a:t>
            </a:r>
            <a:r>
              <a:rPr lang="en-US" b="1" u="sng" dirty="0" smtClean="0"/>
              <a:t> vi </a:t>
            </a:r>
            <a:r>
              <a:rPr lang="en-US" b="1" u="sng" dirty="0" err="1" smtClean="0"/>
              <a:t>phân</a:t>
            </a:r>
            <a:endParaRPr lang="en-US" b="1" u="sng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	1.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vi </a:t>
            </a:r>
            <a:r>
              <a:rPr lang="en-US" dirty="0" err="1"/>
              <a:t>phân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3</a:t>
            </a:r>
            <a:r>
              <a:rPr lang="en-US" dirty="0"/>
              <a:t>. Vi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dirty="0" err="1"/>
              <a:t>Chuỗi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6657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>
                <a:solidFill>
                  <a:srgbClr val="D60093"/>
                </a:solidFill>
              </a:rPr>
              <a:t>1. </a:t>
            </a:r>
            <a:r>
              <a:rPr lang="en-US" b="1" i="1" u="sng" dirty="0" err="1" smtClean="0">
                <a:solidFill>
                  <a:srgbClr val="D60093"/>
                </a:solidFill>
              </a:rPr>
              <a:t>Giải</a:t>
            </a:r>
            <a:r>
              <a:rPr lang="en-US" b="1" i="1" u="sng" dirty="0" smtClean="0">
                <a:solidFill>
                  <a:srgbClr val="D60093"/>
                </a:solidFill>
              </a:rPr>
              <a:t> </a:t>
            </a:r>
            <a:r>
              <a:rPr lang="en-US" b="1" i="1" u="sng" dirty="0" err="1" smtClean="0">
                <a:solidFill>
                  <a:srgbClr val="D60093"/>
                </a:solidFill>
              </a:rPr>
              <a:t>phương</a:t>
            </a:r>
            <a:r>
              <a:rPr lang="en-US" b="1" i="1" u="sng" dirty="0" smtClean="0">
                <a:solidFill>
                  <a:srgbClr val="D60093"/>
                </a:solidFill>
              </a:rPr>
              <a:t> </a:t>
            </a:r>
            <a:r>
              <a:rPr lang="en-US" b="1" i="1" u="sng" dirty="0" err="1" smtClean="0">
                <a:solidFill>
                  <a:srgbClr val="D60093"/>
                </a:solidFill>
              </a:rPr>
              <a:t>trình</a:t>
            </a:r>
            <a:r>
              <a:rPr lang="en-US" b="1" i="1" u="sng" dirty="0" smtClean="0">
                <a:solidFill>
                  <a:srgbClr val="D60093"/>
                </a:solidFill>
              </a:rPr>
              <a:t> vi </a:t>
            </a:r>
            <a:r>
              <a:rPr lang="en-US" b="1" i="1" u="sng" dirty="0" err="1" smtClean="0">
                <a:solidFill>
                  <a:srgbClr val="D60093"/>
                </a:solidFill>
              </a:rPr>
              <a:t>phân</a:t>
            </a:r>
            <a:endParaRPr lang="en-US" b="1" i="1" u="sng" dirty="0" smtClean="0">
              <a:solidFill>
                <a:srgbClr val="D60093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dsolve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{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hệ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ptvp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điều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kiện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}, {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tập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biến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}, &lt;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tùy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chọn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&gt;);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1.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Giải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ptvp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y’x</a:t>
            </a:r>
            <a:r>
              <a:rPr lang="en-US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y = 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Sol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de:=diff(y(x),x)*x^2 + y(x) = 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dsolve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(de, y(x));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32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2.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ban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y’x</a:t>
            </a:r>
            <a:r>
              <a:rPr lang="en-US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+ y =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0, y(1) = 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Sol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    de:=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diff(y(x),x)*x^2 + y(x) =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0;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dsolve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({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de,y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(1) = 2});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074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dsolve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.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,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gần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series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dsolve</a:t>
            </a:r>
            <a:r>
              <a:rPr lang="en-US" dirty="0" smtClean="0"/>
              <a:t>,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8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3.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ban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 y’ + y</a:t>
            </a:r>
            <a:r>
              <a:rPr lang="en-US" baseline="30000" dirty="0" smtClean="0"/>
              <a:t>5</a:t>
            </a:r>
            <a:r>
              <a:rPr lang="en-US" dirty="0" smtClean="0"/>
              <a:t>x = sin(x), y(0) = 1/2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</a:t>
            </a:r>
            <a:r>
              <a:rPr lang="en-US" dirty="0" smtClean="0"/>
              <a:t>. de:=diff(y(x),x) + y(x)^5*x = sin(x);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dsolve</a:t>
            </a:r>
            <a:r>
              <a:rPr lang="en-US" dirty="0" smtClean="0"/>
              <a:t>({</a:t>
            </a:r>
            <a:r>
              <a:rPr lang="en-US" dirty="0" err="1" smtClean="0"/>
              <a:t>de,y</a:t>
            </a:r>
            <a:r>
              <a:rPr lang="en-US" dirty="0" smtClean="0"/>
              <a:t>(0)=1/2}, y(x), series);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71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4.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vi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 y’ = z, z’ = y, y(0) = 0, z(0) = 2.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</a:t>
            </a:r>
            <a:r>
              <a:rPr lang="en-US" dirty="0" smtClean="0"/>
              <a:t>.    </a:t>
            </a:r>
            <a:r>
              <a:rPr lang="en-US" dirty="0"/>
              <a:t>s</a:t>
            </a:r>
            <a:r>
              <a:rPr lang="en-US" dirty="0" smtClean="0"/>
              <a:t>ys:={diff(y(x),x)=z(x), diff(z(x),x) = y(x), y(0) = 0, z(0) = 2};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err="1" smtClean="0"/>
              <a:t>dsolve</a:t>
            </a:r>
            <a:r>
              <a:rPr lang="en-US" dirty="0" smtClean="0"/>
              <a:t>(sys,{y(x),z(x)});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82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5.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Cauchy </a:t>
            </a:r>
            <a:r>
              <a:rPr lang="en-US" dirty="0" err="1" smtClean="0"/>
              <a:t>sau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y</a:t>
            </a:r>
            <a:r>
              <a:rPr lang="en-US" baseline="30000" dirty="0" smtClean="0"/>
              <a:t>(4)</a:t>
            </a:r>
            <a:r>
              <a:rPr lang="en-US" dirty="0" smtClean="0"/>
              <a:t> + y’’ = 2cos(x), y(0) = -2, y’(0) = 1, y’’(0) = 0, y’’’(0) = 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Sol.</a:t>
            </a:r>
            <a:r>
              <a:rPr lang="en-US" dirty="0" smtClean="0"/>
              <a:t> </a:t>
            </a:r>
            <a:r>
              <a:rPr lang="en-US" dirty="0"/>
              <a:t> </a:t>
            </a:r>
            <a:r>
              <a:rPr lang="en-US" dirty="0" smtClean="0"/>
              <a:t>  de:= diff(y(x), x$4) + diff(y(x), x$2) = 2*cos(x);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     </a:t>
            </a:r>
            <a:r>
              <a:rPr lang="en-US" dirty="0" err="1" smtClean="0"/>
              <a:t>ini</a:t>
            </a:r>
            <a:r>
              <a:rPr lang="en-US" dirty="0" smtClean="0"/>
              <a:t>:=y(0) = -2, D(y)(0) = 1, D^(2)(y)(0) = 0, D^(3)(y)(0) = 0;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     </a:t>
            </a:r>
            <a:r>
              <a:rPr lang="en-US" dirty="0" err="1" smtClean="0"/>
              <a:t>dsolve</a:t>
            </a:r>
            <a:r>
              <a:rPr lang="en-US" dirty="0" smtClean="0"/>
              <a:t>({</a:t>
            </a:r>
            <a:r>
              <a:rPr lang="en-US" dirty="0" err="1" smtClean="0"/>
              <a:t>de,ini</a:t>
            </a:r>
            <a:r>
              <a:rPr lang="en-US" dirty="0" smtClean="0"/>
              <a:t>},y(x));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156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6.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gần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lũy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6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Cauchy y’’’- y’ = 3(2 – x2)sin(x), y(0) = 1, y’(0) = 1, y’’(0) = 1.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gần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9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</a:t>
            </a:r>
            <a:r>
              <a:rPr lang="en-US" dirty="0" smtClean="0"/>
              <a:t>.    Order:=6;        de:=…;	</a:t>
            </a:r>
            <a:r>
              <a:rPr lang="en-US" dirty="0" err="1" smtClean="0"/>
              <a:t>ini</a:t>
            </a:r>
            <a:r>
              <a:rPr lang="en-US" dirty="0" smtClean="0"/>
              <a:t>:=…;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err="1" smtClean="0"/>
              <a:t>dsolve</a:t>
            </a:r>
            <a:r>
              <a:rPr lang="en-US" dirty="0" smtClean="0"/>
              <a:t>({</a:t>
            </a:r>
            <a:r>
              <a:rPr lang="en-US" dirty="0" err="1" smtClean="0"/>
              <a:t>de,ini</a:t>
            </a:r>
            <a:r>
              <a:rPr lang="en-US" dirty="0" smtClean="0"/>
              <a:t>},y(x));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y1:=</a:t>
            </a:r>
            <a:r>
              <a:rPr lang="en-US" dirty="0" err="1" smtClean="0"/>
              <a:t>rhs</a:t>
            </a:r>
            <a:r>
              <a:rPr lang="en-US" dirty="0" smtClean="0"/>
              <a:t>(%) (right hand side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err="1" smtClean="0"/>
              <a:t>dsolve</a:t>
            </a:r>
            <a:r>
              <a:rPr lang="en-US" dirty="0" smtClean="0"/>
              <a:t>({</a:t>
            </a:r>
            <a:r>
              <a:rPr lang="en-US" dirty="0" err="1" smtClean="0"/>
              <a:t>de,ini</a:t>
            </a:r>
            <a:r>
              <a:rPr lang="en-US" dirty="0" smtClean="0"/>
              <a:t>},y(x),series);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convert(%,</a:t>
            </a:r>
            <a:r>
              <a:rPr lang="en-US" dirty="0" err="1" smtClean="0"/>
              <a:t>polynom</a:t>
            </a:r>
            <a:r>
              <a:rPr lang="en-US" dirty="0" smtClean="0"/>
              <a:t>); y2:=</a:t>
            </a:r>
            <a:r>
              <a:rPr lang="en-US" dirty="0" err="1" smtClean="0"/>
              <a:t>rhs</a:t>
            </a:r>
            <a:r>
              <a:rPr lang="en-US" dirty="0" smtClean="0"/>
              <a:t>(%);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p1:=plot(y1, x=-3..3,thickness=2, color = red):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p2:=plot(y2,x=-3..3,thickness=2,color=blue);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with(plots): display(p1,p2);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231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D60093"/>
                </a:solidFill>
              </a:rPr>
              <a:t>2. Vi </a:t>
            </a:r>
            <a:r>
              <a:rPr lang="en-US" b="1" u="sng" dirty="0" err="1" smtClean="0">
                <a:solidFill>
                  <a:srgbClr val="D60093"/>
                </a:solidFill>
              </a:rPr>
              <a:t>phân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của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hàm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nhiều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biến</a:t>
            </a:r>
            <a:endParaRPr lang="en-US" b="1" u="sng" dirty="0" smtClean="0">
              <a:solidFill>
                <a:srgbClr val="D60093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Cho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f(x</a:t>
            </a:r>
            <a:r>
              <a:rPr lang="en-US" baseline="-25000" dirty="0" smtClean="0"/>
              <a:t>1</a:t>
            </a:r>
            <a:r>
              <a:rPr lang="en-US" dirty="0" smtClean="0"/>
              <a:t>, x</a:t>
            </a:r>
            <a:r>
              <a:rPr lang="en-US" baseline="-25000" dirty="0" smtClean="0"/>
              <a:t>2</a:t>
            </a:r>
            <a:r>
              <a:rPr lang="en-US" dirty="0" smtClean="0"/>
              <a:t>, …,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), </a:t>
            </a: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diff(f, x</a:t>
            </a:r>
            <a:r>
              <a:rPr lang="en-US" baseline="-25000" dirty="0" smtClean="0"/>
              <a:t>1</a:t>
            </a:r>
            <a:r>
              <a:rPr lang="en-US" dirty="0" smtClean="0"/>
              <a:t>$n</a:t>
            </a:r>
            <a:r>
              <a:rPr lang="en-US" baseline="-25000" dirty="0" smtClean="0"/>
              <a:t>1</a:t>
            </a:r>
            <a:r>
              <a:rPr lang="en-US" dirty="0" smtClean="0"/>
              <a:t>, …,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err="1" smtClean="0"/>
              <a:t>$n</a:t>
            </a:r>
            <a:r>
              <a:rPr lang="en-US" baseline="-25000" dirty="0" err="1" smtClean="0"/>
              <a:t>n</a:t>
            </a:r>
            <a:r>
              <a:rPr lang="en-US" dirty="0" smtClean="0"/>
              <a:t>)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b="1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1. </a:t>
            </a:r>
            <a:r>
              <a:rPr lang="en-US" dirty="0" smtClean="0"/>
              <a:t>Cho f(</a:t>
            </a:r>
            <a:r>
              <a:rPr lang="en-US" dirty="0" err="1" smtClean="0"/>
              <a:t>x,y</a:t>
            </a:r>
            <a:r>
              <a:rPr lang="en-US" dirty="0" smtClean="0"/>
              <a:t>) = </a:t>
            </a:r>
            <a:r>
              <a:rPr lang="en-US" dirty="0" err="1" smtClean="0"/>
              <a:t>arctan</a:t>
            </a:r>
            <a:r>
              <a:rPr lang="en-US" dirty="0" smtClean="0"/>
              <a:t>(x/y).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x</a:t>
            </a:r>
            <a:r>
              <a:rPr lang="en-US" dirty="0" smtClean="0"/>
              <a:t>,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y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</a:t>
            </a:r>
            <a:r>
              <a:rPr lang="en-US" dirty="0" smtClean="0"/>
              <a:t>. f(</a:t>
            </a:r>
            <a:r>
              <a:rPr lang="en-US" dirty="0" err="1" smtClean="0"/>
              <a:t>x,y</a:t>
            </a:r>
            <a:r>
              <a:rPr lang="en-US" dirty="0" smtClean="0"/>
              <a:t>):=</a:t>
            </a:r>
            <a:r>
              <a:rPr lang="en-US" dirty="0" err="1" smtClean="0"/>
              <a:t>arctan</a:t>
            </a:r>
            <a:r>
              <a:rPr lang="en-US" dirty="0" smtClean="0"/>
              <a:t>(x/y): Diff(f(</a:t>
            </a:r>
            <a:r>
              <a:rPr lang="en-US" dirty="0" err="1" smtClean="0"/>
              <a:t>x,y</a:t>
            </a:r>
            <a:r>
              <a:rPr lang="en-US" dirty="0" smtClean="0"/>
              <a:t>),x)=simplify(diff(f(</a:t>
            </a:r>
            <a:r>
              <a:rPr lang="en-US" dirty="0" err="1" smtClean="0"/>
              <a:t>x,y</a:t>
            </a:r>
            <a:r>
              <a:rPr lang="en-US" dirty="0" smtClean="0"/>
              <a:t>),x)): Diff(f(</a:t>
            </a:r>
            <a:r>
              <a:rPr lang="en-US" dirty="0" err="1" smtClean="0"/>
              <a:t>x,y</a:t>
            </a:r>
            <a:r>
              <a:rPr lang="en-US" dirty="0" smtClean="0"/>
              <a:t>),y)=simplify(diff(f(</a:t>
            </a:r>
            <a:r>
              <a:rPr lang="en-US" dirty="0" err="1" smtClean="0"/>
              <a:t>x,y</a:t>
            </a:r>
            <a:r>
              <a:rPr lang="en-US" dirty="0" smtClean="0"/>
              <a:t>),y));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309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>
                <a:solidFill>
                  <a:srgbClr val="00B0F0"/>
                </a:solidFill>
              </a:rPr>
              <a:t>Cực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trị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địa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phương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và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điều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kiện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tối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ưu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của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hàm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nhiều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biến</a:t>
            </a:r>
            <a:endParaRPr lang="en-US" b="1" i="1" dirty="0" smtClean="0">
              <a:solidFill>
                <a:srgbClr val="00B0F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extrema(f,{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}, {</a:t>
            </a:r>
            <a:r>
              <a:rPr lang="en-US" dirty="0" err="1" smtClean="0"/>
              <a:t>x,y</a:t>
            </a:r>
            <a:r>
              <a:rPr lang="en-US" dirty="0" smtClean="0"/>
              <a:t>, …},’s’);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extrema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subs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,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tiểu</a:t>
            </a:r>
            <a:r>
              <a:rPr lang="en-US" dirty="0" smtClean="0"/>
              <a:t>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{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} –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extrema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, s –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23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2.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f(</a:t>
            </a:r>
            <a:r>
              <a:rPr lang="en-US" dirty="0" err="1" smtClean="0"/>
              <a:t>x,y</a:t>
            </a:r>
            <a:r>
              <a:rPr lang="en-US" dirty="0" smtClean="0"/>
              <a:t>) = 2x</a:t>
            </a:r>
            <a:r>
              <a:rPr lang="en-US" baseline="30000" dirty="0" smtClean="0"/>
              <a:t>4</a:t>
            </a:r>
            <a:r>
              <a:rPr lang="en-US" dirty="0" smtClean="0"/>
              <a:t> + y</a:t>
            </a:r>
            <a:r>
              <a:rPr lang="en-US" baseline="30000" dirty="0" smtClean="0"/>
              <a:t>4</a:t>
            </a:r>
            <a:r>
              <a:rPr lang="en-US" dirty="0" smtClean="0"/>
              <a:t> – x</a:t>
            </a:r>
            <a:r>
              <a:rPr lang="en-US" baseline="30000" dirty="0" smtClean="0"/>
              <a:t>2</a:t>
            </a:r>
            <a:r>
              <a:rPr lang="en-US" dirty="0" smtClean="0"/>
              <a:t> – 2y</a:t>
            </a:r>
            <a:r>
              <a:rPr lang="en-US" baseline="30000" dirty="0" smtClean="0"/>
              <a:t>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</a:t>
            </a:r>
            <a:r>
              <a:rPr lang="en-US" dirty="0" smtClean="0"/>
              <a:t>.    f(</a:t>
            </a:r>
            <a:r>
              <a:rPr lang="en-US" dirty="0" err="1" smtClean="0"/>
              <a:t>x,y</a:t>
            </a:r>
            <a:r>
              <a:rPr lang="en-US" dirty="0" smtClean="0"/>
              <a:t>):=…;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extrema(f(</a:t>
            </a:r>
            <a:r>
              <a:rPr lang="en-US" dirty="0" err="1" smtClean="0"/>
              <a:t>x,y</a:t>
            </a:r>
            <a:r>
              <a:rPr lang="en-US" dirty="0" smtClean="0"/>
              <a:t>),{},{</a:t>
            </a:r>
            <a:r>
              <a:rPr lang="en-US" dirty="0" err="1" smtClean="0"/>
              <a:t>x,y</a:t>
            </a:r>
            <a:r>
              <a:rPr lang="en-US" dirty="0" smtClean="0"/>
              <a:t>},’s’);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s;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subs([x=0,y=-1],f(</a:t>
            </a:r>
            <a:r>
              <a:rPr lang="en-US" dirty="0" err="1" smtClean="0"/>
              <a:t>x,y</a:t>
            </a:r>
            <a:r>
              <a:rPr lang="en-US" dirty="0" smtClean="0"/>
              <a:t>));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12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>
                <a:solidFill>
                  <a:srgbClr val="00B0F0"/>
                </a:solidFill>
              </a:rPr>
              <a:t>Tìm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giá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trị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lớn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nhất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và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nhỏ</a:t>
            </a:r>
            <a:r>
              <a:rPr lang="en-US" b="1" i="1" dirty="0" smtClean="0">
                <a:solidFill>
                  <a:srgbClr val="00B0F0"/>
                </a:solidFill>
              </a:rPr>
              <a:t> </a:t>
            </a:r>
            <a:r>
              <a:rPr lang="en-US" b="1" i="1" dirty="0" err="1" smtClean="0">
                <a:solidFill>
                  <a:srgbClr val="00B0F0"/>
                </a:solidFill>
              </a:rPr>
              <a:t>nhất</a:t>
            </a:r>
            <a:endParaRPr lang="en-US" b="1" i="1" dirty="0" smtClean="0">
              <a:solidFill>
                <a:srgbClr val="00B0F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maximize(f,{</a:t>
            </a:r>
            <a:r>
              <a:rPr lang="en-US" dirty="0" err="1"/>
              <a:t>x,y</a:t>
            </a:r>
            <a:r>
              <a:rPr lang="en-US" dirty="0"/>
              <a:t>,…}, range);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minimize(f,{</a:t>
            </a:r>
            <a:r>
              <a:rPr lang="en-US" dirty="0" err="1"/>
              <a:t>x,y</a:t>
            </a:r>
            <a:r>
              <a:rPr lang="en-US" dirty="0"/>
              <a:t>,…}, range</a:t>
            </a: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2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0B050"/>
                </a:solidFill>
              </a:rPr>
              <a:t>Ví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dụ</a:t>
            </a:r>
            <a:r>
              <a:rPr lang="en-US" b="1" dirty="0">
                <a:solidFill>
                  <a:srgbClr val="00B050"/>
                </a:solidFill>
              </a:rPr>
              <a:t> 3</a:t>
            </a:r>
            <a:r>
              <a:rPr lang="en-US" dirty="0"/>
              <a:t>.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f(</a:t>
            </a:r>
            <a:r>
              <a:rPr lang="en-US" dirty="0" err="1"/>
              <a:t>x,y</a:t>
            </a:r>
            <a:r>
              <a:rPr lang="en-US" dirty="0"/>
              <a:t>) = x</a:t>
            </a:r>
            <a:r>
              <a:rPr lang="en-US" baseline="30000" dirty="0"/>
              <a:t>2</a:t>
            </a:r>
            <a:r>
              <a:rPr lang="en-US" dirty="0"/>
              <a:t> + 2xy – 4x + 8y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x = 0, y = 0, x = 1, y = 2.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Sol.</a:t>
            </a:r>
            <a:r>
              <a:rPr lang="en-US" dirty="0" smtClean="0"/>
              <a:t> f(</a:t>
            </a:r>
            <a:r>
              <a:rPr lang="en-US" dirty="0" err="1" smtClean="0"/>
              <a:t>x,y</a:t>
            </a:r>
            <a:r>
              <a:rPr lang="en-US" dirty="0" smtClean="0"/>
              <a:t>):=;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  minimize(f(</a:t>
            </a:r>
            <a:r>
              <a:rPr lang="en-US" dirty="0" err="1" smtClean="0"/>
              <a:t>x,y</a:t>
            </a:r>
            <a:r>
              <a:rPr lang="en-US" dirty="0" smtClean="0"/>
              <a:t>),x=0..1,y=0..2);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       maximize(f(</a:t>
            </a:r>
            <a:r>
              <a:rPr lang="en-US" dirty="0" err="1" smtClean="0"/>
              <a:t>x,y</a:t>
            </a:r>
            <a:r>
              <a:rPr lang="en-US" dirty="0" smtClean="0"/>
              <a:t>), x=0..1, y=0..2);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9769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4.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f(</a:t>
            </a:r>
            <a:r>
              <a:rPr lang="en-US" dirty="0" err="1" smtClean="0"/>
              <a:t>x,y</a:t>
            </a:r>
            <a:r>
              <a:rPr lang="en-US" dirty="0" smtClean="0"/>
              <a:t>) = </a:t>
            </a:r>
            <a:r>
              <a:rPr lang="en-US" dirty="0" err="1" smtClean="0"/>
              <a:t>xy</a:t>
            </a:r>
            <a:r>
              <a:rPr lang="en-US" dirty="0" smtClean="0"/>
              <a:t> + </a:t>
            </a:r>
            <a:r>
              <a:rPr lang="en-US" dirty="0" err="1" smtClean="0"/>
              <a:t>yz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x</a:t>
            </a:r>
            <a:r>
              <a:rPr lang="en-US" baseline="30000" dirty="0" smtClean="0"/>
              <a:t>2</a:t>
            </a:r>
            <a:r>
              <a:rPr lang="en-US" dirty="0" smtClean="0"/>
              <a:t> + y</a:t>
            </a:r>
            <a:r>
              <a:rPr lang="en-US" baseline="30000" dirty="0" smtClean="0"/>
              <a:t>2</a:t>
            </a:r>
            <a:r>
              <a:rPr lang="en-US" dirty="0" smtClean="0"/>
              <a:t> = 2</a:t>
            </a:r>
            <a:r>
              <a:rPr lang="en-US" smtClean="0"/>
              <a:t>, </a:t>
            </a:r>
            <a:r>
              <a:rPr lang="en-US" smtClean="0"/>
              <a:t>z </a:t>
            </a:r>
            <a:r>
              <a:rPr lang="en-US" dirty="0" smtClean="0"/>
              <a:t>+ y = 2, x &gt; 0, y &gt; 0, z </a:t>
            </a:r>
            <a:r>
              <a:rPr lang="en-US" smtClean="0"/>
              <a:t>&gt; </a:t>
            </a:r>
            <a:r>
              <a:rPr lang="en-US" smtClean="0"/>
              <a:t>0.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Sol. </a:t>
            </a:r>
            <a:r>
              <a:rPr lang="en-US" b="1" i="1" dirty="0"/>
              <a:t> </a:t>
            </a:r>
            <a:r>
              <a:rPr lang="en-US" b="1" i="1" dirty="0" smtClean="0"/>
              <a:t>    </a:t>
            </a:r>
            <a:r>
              <a:rPr lang="en-US" dirty="0" smtClean="0"/>
              <a:t>f(</a:t>
            </a:r>
            <a:r>
              <a:rPr lang="en-US" dirty="0" err="1" smtClean="0"/>
              <a:t>x,y</a:t>
            </a:r>
            <a:r>
              <a:rPr lang="en-US" dirty="0" smtClean="0"/>
              <a:t>):=…; assume(x&gt;0):assume(y&gt;0):assume(z&gt;0);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 simplify(extrema(f,{x^2+y^2 = 2, </a:t>
            </a:r>
            <a:r>
              <a:rPr lang="en-US" dirty="0" err="1" smtClean="0"/>
              <a:t>y+z</a:t>
            </a:r>
            <a:r>
              <a:rPr lang="en-US" dirty="0" smtClean="0"/>
              <a:t> = 2}, {</a:t>
            </a:r>
            <a:r>
              <a:rPr lang="en-US" dirty="0" err="1" smtClean="0"/>
              <a:t>x,y,z</a:t>
            </a:r>
            <a:r>
              <a:rPr lang="en-US" dirty="0" smtClean="0"/>
              <a:t>}, ‘s’);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 s;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 subs(s[1],f);….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05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D60093"/>
                </a:solidFill>
              </a:rPr>
              <a:t>3. </a:t>
            </a:r>
            <a:r>
              <a:rPr lang="en-US" b="1" u="sng" dirty="0" err="1" smtClean="0">
                <a:solidFill>
                  <a:srgbClr val="D60093"/>
                </a:solidFill>
              </a:rPr>
              <a:t>Tích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phân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của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hàm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nhiều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biến</a:t>
            </a:r>
            <a:endParaRPr lang="en-US" b="1" u="sng" dirty="0" smtClean="0">
              <a:solidFill>
                <a:srgbClr val="D60093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with(student)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kép</a:t>
            </a:r>
            <a:r>
              <a:rPr lang="en-US" dirty="0" smtClean="0"/>
              <a:t>: value(</a:t>
            </a:r>
            <a:r>
              <a:rPr lang="en-US" dirty="0" err="1" smtClean="0"/>
              <a:t>Doubleint</a:t>
            </a:r>
            <a:r>
              <a:rPr lang="en-US" dirty="0" smtClean="0"/>
              <a:t>(f(</a:t>
            </a:r>
            <a:r>
              <a:rPr lang="en-US" dirty="0" err="1" smtClean="0"/>
              <a:t>x,y</a:t>
            </a:r>
            <a:r>
              <a:rPr lang="en-US" dirty="0" smtClean="0"/>
              <a:t>), D));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bội</a:t>
            </a:r>
            <a:r>
              <a:rPr lang="en-US" dirty="0" smtClean="0"/>
              <a:t> </a:t>
            </a:r>
            <a:r>
              <a:rPr lang="en-US" dirty="0" err="1" smtClean="0"/>
              <a:t>ba</a:t>
            </a:r>
            <a:r>
              <a:rPr lang="en-US" dirty="0" smtClean="0"/>
              <a:t>: value(</a:t>
            </a:r>
            <a:r>
              <a:rPr lang="en-US" dirty="0" err="1" smtClean="0"/>
              <a:t>Tripleint</a:t>
            </a:r>
            <a:r>
              <a:rPr lang="en-US" dirty="0" smtClean="0"/>
              <a:t>(f(</a:t>
            </a:r>
            <a:r>
              <a:rPr lang="en-US" dirty="0" err="1" smtClean="0"/>
              <a:t>x,y,z</a:t>
            </a:r>
            <a:r>
              <a:rPr lang="en-US" dirty="0" smtClean="0"/>
              <a:t>), V));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9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smtClean="0"/>
              <a:t>Sol.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(y^3/(x^2+y^2),x=0..y),y=2..4)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	= </a:t>
            </a:r>
            <a:r>
              <a:rPr lang="en-US" dirty="0" err="1" smtClean="0"/>
              <a:t>int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(</a:t>
            </a:r>
            <a:r>
              <a:rPr lang="en-US" dirty="0"/>
              <a:t>y^3/(x^2+y^2),x=0..y),y=2..</a:t>
            </a:r>
            <a:r>
              <a:rPr lang="en-US" dirty="0" smtClean="0"/>
              <a:t>4)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Hoặc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	with(student); value(</a:t>
            </a:r>
            <a:r>
              <a:rPr lang="en-US" dirty="0" err="1" smtClean="0"/>
              <a:t>Doubleint</a:t>
            </a:r>
            <a:r>
              <a:rPr lang="en-US" dirty="0" smtClean="0"/>
              <a:t>(…));</a:t>
            </a: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682405"/>
              </p:ext>
            </p:extLst>
          </p:nvPr>
        </p:nvGraphicFramePr>
        <p:xfrm>
          <a:off x="4815368" y="457202"/>
          <a:ext cx="2034420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3" imgW="1143000" imgH="545760" progId="Equation.DSMT4">
                  <p:embed/>
                </p:oleObj>
              </mc:Choice>
              <mc:Fallback>
                <p:oleObj name="Equation" r:id="rId3" imgW="11430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5368" y="457202"/>
                        <a:ext cx="2034420" cy="9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794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Student[</a:t>
            </a:r>
            <a:r>
              <a:rPr lang="en-US" dirty="0" err="1" smtClean="0"/>
              <a:t>MultivariateCalculus</a:t>
            </a:r>
            <a:r>
              <a:rPr lang="en-US" dirty="0" smtClean="0"/>
              <a:t>]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MultiInt</a:t>
            </a:r>
            <a:r>
              <a:rPr lang="en-US" dirty="0" smtClean="0"/>
              <a:t>(f(</a:t>
            </a:r>
            <a:r>
              <a:rPr lang="en-US" dirty="0" err="1" smtClean="0"/>
              <a:t>x,y</a:t>
            </a:r>
            <a:r>
              <a:rPr lang="en-US" dirty="0" smtClean="0"/>
              <a:t>), x=…, y=…);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MultiInt</a:t>
            </a:r>
            <a:r>
              <a:rPr lang="en-US" dirty="0" smtClean="0"/>
              <a:t>(f(</a:t>
            </a:r>
            <a:r>
              <a:rPr lang="en-US" dirty="0" err="1" smtClean="0"/>
              <a:t>x,y,z</a:t>
            </a:r>
            <a:r>
              <a:rPr lang="en-US" dirty="0" smtClean="0"/>
              <a:t>), x=…, y=…, z=…);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5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D60093"/>
                </a:solidFill>
              </a:rPr>
              <a:t>4. </a:t>
            </a:r>
            <a:r>
              <a:rPr lang="en-US" b="1" u="sng" dirty="0" err="1" smtClean="0">
                <a:solidFill>
                  <a:srgbClr val="D60093"/>
                </a:solidFill>
              </a:rPr>
              <a:t>Chuỗi</a:t>
            </a:r>
            <a:endParaRPr lang="en-US" b="1" u="sng" dirty="0" smtClean="0">
              <a:solidFill>
                <a:srgbClr val="D60093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hữu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sum(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, n =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…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164129"/>
              </p:ext>
            </p:extLst>
          </p:nvPr>
        </p:nvGraphicFramePr>
        <p:xfrm>
          <a:off x="6991902" y="1229113"/>
          <a:ext cx="74612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3" imgW="419040" imgH="495000" progId="Equation.DSMT4">
                  <p:embed/>
                </p:oleObj>
              </mc:Choice>
              <mc:Fallback>
                <p:oleObj name="Equation" r:id="rId3" imgW="419040" imgH="4950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91902" y="1229113"/>
                        <a:ext cx="746125" cy="881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562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n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Sol.     sum(1/(3*k-2)*(3*k-1), k=1..n);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sum(1/(3*k-2)*(3*k-1), k=1</a:t>
            </a:r>
            <a:r>
              <a:rPr lang="en-US" dirty="0" smtClean="0"/>
              <a:t>..infinity);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911494"/>
              </p:ext>
            </p:extLst>
          </p:nvPr>
        </p:nvGraphicFramePr>
        <p:xfrm>
          <a:off x="4533705" y="1331330"/>
          <a:ext cx="2350704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3" imgW="1346040" imgH="495000" progId="Equation.DSMT4">
                  <p:embed/>
                </p:oleObj>
              </mc:Choice>
              <mc:Fallback>
                <p:oleObj name="Equation" r:id="rId3" imgW="1346040" imgH="4950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33705" y="1331330"/>
                        <a:ext cx="2350704" cy="8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340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product(P(n), n=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…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)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683408"/>
              </p:ext>
            </p:extLst>
          </p:nvPr>
        </p:nvGraphicFramePr>
        <p:xfrm>
          <a:off x="2819400" y="494522"/>
          <a:ext cx="108585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3" imgW="609480" imgH="495000" progId="Equation.DSMT4">
                  <p:embed/>
                </p:oleObj>
              </mc:Choice>
              <mc:Fallback>
                <p:oleObj name="Equation" r:id="rId3" imgW="609480" imgH="4950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9400" y="494522"/>
                        <a:ext cx="1085850" cy="881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268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2.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01848"/>
              </p:ext>
            </p:extLst>
          </p:nvPr>
        </p:nvGraphicFramePr>
        <p:xfrm>
          <a:off x="4487668" y="426649"/>
          <a:ext cx="1220787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3" imgW="685800" imgH="507960" progId="Equation.DSMT4">
                  <p:embed/>
                </p:oleObj>
              </mc:Choice>
              <mc:Fallback>
                <p:oleObj name="Equation" r:id="rId3" imgW="685800" imgH="5079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87668" y="426649"/>
                        <a:ext cx="1220787" cy="903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82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dirty="0" err="1" smtClean="0"/>
              <a:t>Phân</a:t>
            </a:r>
            <a:r>
              <a:rPr lang="en-US" b="1" i="1" dirty="0" smtClean="0"/>
              <a:t> </a:t>
            </a:r>
            <a:r>
              <a:rPr lang="en-US" b="1" i="1" dirty="0" err="1" smtClean="0"/>
              <a:t>tích</a:t>
            </a:r>
            <a:r>
              <a:rPr lang="en-US" b="1" i="1" dirty="0" smtClean="0"/>
              <a:t> </a:t>
            </a:r>
            <a:r>
              <a:rPr lang="en-US" b="1" i="1" dirty="0" err="1" smtClean="0"/>
              <a:t>hàm</a:t>
            </a:r>
            <a:r>
              <a:rPr lang="en-US" b="1" i="1" dirty="0" smtClean="0"/>
              <a:t> </a:t>
            </a:r>
            <a:r>
              <a:rPr lang="en-US" b="1" i="1" dirty="0" err="1" smtClean="0"/>
              <a:t>số</a:t>
            </a:r>
            <a:r>
              <a:rPr lang="en-US" b="1" i="1" dirty="0" smtClean="0"/>
              <a:t> </a:t>
            </a:r>
            <a:r>
              <a:rPr lang="en-US" b="1" i="1" dirty="0" err="1" smtClean="0"/>
              <a:t>dưới</a:t>
            </a:r>
            <a:r>
              <a:rPr lang="en-US" b="1" i="1" dirty="0" smtClean="0"/>
              <a:t> </a:t>
            </a:r>
            <a:r>
              <a:rPr lang="en-US" b="1" i="1" dirty="0" err="1" smtClean="0"/>
              <a:t>dạng</a:t>
            </a:r>
            <a:r>
              <a:rPr lang="en-US" b="1" i="1" dirty="0" smtClean="0"/>
              <a:t> </a:t>
            </a:r>
            <a:r>
              <a:rPr lang="en-US" b="1" i="1" dirty="0" err="1" smtClean="0"/>
              <a:t>chuỗi</a:t>
            </a:r>
            <a:r>
              <a:rPr lang="en-US" b="1" i="1" dirty="0" smtClean="0"/>
              <a:t> </a:t>
            </a:r>
            <a:r>
              <a:rPr lang="en-US" b="1" i="1" dirty="0" err="1" smtClean="0"/>
              <a:t>lũy</a:t>
            </a:r>
            <a:r>
              <a:rPr lang="en-US" b="1" i="1" dirty="0" smtClean="0"/>
              <a:t> </a:t>
            </a:r>
            <a:r>
              <a:rPr lang="en-US" b="1" i="1" dirty="0" err="1" smtClean="0"/>
              <a:t>thừa</a:t>
            </a:r>
            <a:endParaRPr lang="en-US" b="1" i="1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/>
              <a:t>t</a:t>
            </a:r>
            <a:r>
              <a:rPr lang="en-US" dirty="0" err="1" smtClean="0"/>
              <a:t>aylor</a:t>
            </a:r>
            <a:r>
              <a:rPr lang="en-US" dirty="0" smtClean="0"/>
              <a:t>(f(x), x = a, n);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f(x)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lân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x = a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n – 1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/>
              <a:t>m</a:t>
            </a:r>
            <a:r>
              <a:rPr lang="en-US" dirty="0" err="1" smtClean="0"/>
              <a:t>taylor</a:t>
            </a:r>
            <a:r>
              <a:rPr lang="en-US" dirty="0" smtClean="0"/>
              <a:t>(f(</a:t>
            </a:r>
            <a:r>
              <a:rPr lang="en-US" dirty="0" err="1" smtClean="0"/>
              <a:t>x,y,z</a:t>
            </a:r>
            <a:r>
              <a:rPr lang="en-US" dirty="0" smtClean="0"/>
              <a:t>),[x=</a:t>
            </a:r>
            <a:r>
              <a:rPr lang="en-US" dirty="0" err="1" smtClean="0"/>
              <a:t>a,y</a:t>
            </a:r>
            <a:r>
              <a:rPr lang="en-US" dirty="0" smtClean="0"/>
              <a:t>=</a:t>
            </a:r>
            <a:r>
              <a:rPr lang="en-US" dirty="0" err="1" smtClean="0"/>
              <a:t>b,z</a:t>
            </a:r>
            <a:r>
              <a:rPr lang="en-US" dirty="0" smtClean="0"/>
              <a:t>=c],n);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6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3.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                          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lân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x = 0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4.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f(</a:t>
            </a:r>
            <a:r>
              <a:rPr lang="en-US" dirty="0" err="1" smtClean="0"/>
              <a:t>x,y</a:t>
            </a:r>
            <a:r>
              <a:rPr lang="en-US" dirty="0" smtClean="0"/>
              <a:t>) = sin(x</a:t>
            </a:r>
            <a:r>
              <a:rPr lang="en-US" baseline="30000" dirty="0" smtClean="0"/>
              <a:t>2</a:t>
            </a:r>
            <a:r>
              <a:rPr lang="en-US" dirty="0" smtClean="0"/>
              <a:t> + y</a:t>
            </a:r>
            <a:r>
              <a:rPr lang="en-US" baseline="30000" dirty="0" smtClean="0"/>
              <a:t>2</a:t>
            </a:r>
            <a:r>
              <a:rPr lang="en-US" dirty="0" smtClean="0"/>
              <a:t>)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lân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(0,0)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6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194016"/>
              </p:ext>
            </p:extLst>
          </p:nvPr>
        </p:nvGraphicFramePr>
        <p:xfrm>
          <a:off x="4254015" y="648900"/>
          <a:ext cx="219233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3" imgW="1231560" imgH="279360" progId="Equation.DSMT4">
                  <p:embed/>
                </p:oleObj>
              </mc:Choice>
              <mc:Fallback>
                <p:oleObj name="Equation" r:id="rId3" imgW="1231560" imgH="2793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54015" y="648900"/>
                        <a:ext cx="2192337" cy="496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579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D60093"/>
                </a:solidFill>
              </a:rPr>
              <a:t>5. </a:t>
            </a:r>
            <a:r>
              <a:rPr lang="en-US" b="1" u="sng" dirty="0" err="1" smtClean="0">
                <a:solidFill>
                  <a:srgbClr val="D60093"/>
                </a:solidFill>
              </a:rPr>
              <a:t>Biến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đổi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tích</a:t>
            </a:r>
            <a:r>
              <a:rPr lang="en-US" b="1" u="sng" dirty="0" smtClean="0">
                <a:solidFill>
                  <a:srgbClr val="D60093"/>
                </a:solidFill>
              </a:rPr>
              <a:t> </a:t>
            </a:r>
            <a:r>
              <a:rPr lang="en-US" b="1" u="sng" dirty="0" err="1" smtClean="0">
                <a:solidFill>
                  <a:srgbClr val="D60093"/>
                </a:solidFill>
              </a:rPr>
              <a:t>phân</a:t>
            </a:r>
            <a:endParaRPr lang="en-US" b="1" u="sng" dirty="0" smtClean="0">
              <a:solidFill>
                <a:srgbClr val="D60093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lện</a:t>
            </a:r>
            <a:r>
              <a:rPr lang="en-US" dirty="0" smtClean="0"/>
              <a:t> </a:t>
            </a:r>
            <a:r>
              <a:rPr lang="en-US" dirty="0" err="1" smtClean="0"/>
              <a:t>inttrans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Laplace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/>
              <a:t>laplace</a:t>
            </a:r>
            <a:r>
              <a:rPr lang="en-US" dirty="0" smtClean="0"/>
              <a:t>(f(t),</a:t>
            </a:r>
            <a:r>
              <a:rPr lang="en-US" dirty="0" err="1"/>
              <a:t>t</a:t>
            </a:r>
            <a:r>
              <a:rPr lang="en-US" dirty="0" err="1" smtClean="0"/>
              <a:t>,s</a:t>
            </a:r>
            <a:r>
              <a:rPr lang="en-US" dirty="0" smtClean="0"/>
              <a:t>);</a:t>
            </a:r>
            <a:endParaRPr lang="en-US" dirty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Laplace </a:t>
            </a:r>
            <a:r>
              <a:rPr lang="en-US" dirty="0" err="1" smtClean="0"/>
              <a:t>ngược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/>
              <a:t>invlaplace</a:t>
            </a:r>
            <a:r>
              <a:rPr lang="en-US" dirty="0" smtClean="0"/>
              <a:t>(F(s),</a:t>
            </a:r>
            <a:r>
              <a:rPr lang="en-US" dirty="0" err="1" smtClean="0"/>
              <a:t>s,t</a:t>
            </a:r>
            <a:r>
              <a:rPr lang="en-US" dirty="0" smtClean="0"/>
              <a:t>) 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276312"/>
              </p:ext>
            </p:extLst>
          </p:nvPr>
        </p:nvGraphicFramePr>
        <p:xfrm>
          <a:off x="3594100" y="2025359"/>
          <a:ext cx="2218603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3" imgW="1346040" imgH="545760" progId="Equation.DSMT4">
                  <p:embed/>
                </p:oleObj>
              </mc:Choice>
              <mc:Fallback>
                <p:oleObj name="Equation" r:id="rId3" imgW="134604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4100" y="2025359"/>
                        <a:ext cx="2218603" cy="90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513191"/>
              </p:ext>
            </p:extLst>
          </p:nvPr>
        </p:nvGraphicFramePr>
        <p:xfrm>
          <a:off x="4532669" y="3748866"/>
          <a:ext cx="19891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Equation" r:id="rId5" imgW="1206360" imgH="266400" progId="Equation.DSMT4">
                  <p:embed/>
                </p:oleObj>
              </mc:Choice>
              <mc:Fallback>
                <p:oleObj name="Equation" r:id="rId5" imgW="1206360" imgH="2664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2669" y="3748866"/>
                        <a:ext cx="1989138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29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Ví</a:t>
            </a:r>
            <a:r>
              <a:rPr lang="en-US" b="1" dirty="0" smtClean="0"/>
              <a:t> </a:t>
            </a:r>
            <a:r>
              <a:rPr lang="en-US" b="1" dirty="0" err="1" smtClean="0"/>
              <a:t>dụ</a:t>
            </a:r>
            <a:r>
              <a:rPr lang="en-US" b="1" dirty="0" smtClean="0"/>
              <a:t> 5.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Laplace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endParaRPr lang="en-US" dirty="0" smtClean="0"/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 smtClean="0"/>
              <a:t>f(x) = x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 smtClean="0"/>
              <a:t>f(t) = e</a:t>
            </a:r>
            <a:r>
              <a:rPr lang="en-US" baseline="30000" dirty="0" smtClean="0"/>
              <a:t>t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dirty="0" smtClean="0"/>
              <a:t>f(t) = </a:t>
            </a:r>
            <a:r>
              <a:rPr lang="en-US" dirty="0" err="1" smtClean="0"/>
              <a:t>sint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37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Bài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tập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luyện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tập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24 </a:t>
            </a:r>
            <a:r>
              <a:rPr lang="en-US" dirty="0" err="1" smtClean="0"/>
              <a:t>của</a:t>
            </a:r>
            <a:r>
              <a:rPr lang="en-US" dirty="0" smtClean="0"/>
              <a:t> f(x) = e</a:t>
            </a:r>
            <a:r>
              <a:rPr lang="en-US" baseline="30000" dirty="0" smtClean="0"/>
              <a:t>x</a:t>
            </a:r>
            <a:r>
              <a:rPr lang="en-US" dirty="0" smtClean="0"/>
              <a:t>(x</a:t>
            </a:r>
            <a:r>
              <a:rPr lang="en-US" baseline="30000" dirty="0" smtClean="0"/>
              <a:t>2</a:t>
            </a:r>
            <a:r>
              <a:rPr lang="en-US" dirty="0" smtClean="0"/>
              <a:t> – 1)  </a:t>
            </a:r>
            <a:r>
              <a:rPr lang="en-US" dirty="0" err="1" smtClean="0"/>
              <a:t>tại</a:t>
            </a:r>
            <a:r>
              <a:rPr lang="en-US" dirty="0" smtClean="0"/>
              <a:t> x = 2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2 </a:t>
            </a:r>
            <a:r>
              <a:rPr lang="en-US" dirty="0" err="1" smtClean="0"/>
              <a:t>của</a:t>
            </a:r>
            <a:r>
              <a:rPr lang="en-US" dirty="0" smtClean="0"/>
              <a:t> y = sin2x/(2 + </a:t>
            </a:r>
            <a:r>
              <a:rPr lang="en-US" dirty="0" err="1" smtClean="0"/>
              <a:t>sinx</a:t>
            </a:r>
            <a:r>
              <a:rPr lang="en-US" dirty="0" smtClean="0"/>
              <a:t>) </a:t>
            </a:r>
            <a:r>
              <a:rPr lang="en-US" dirty="0" err="1" smtClean="0"/>
              <a:t>tại</a:t>
            </a:r>
            <a:r>
              <a:rPr lang="en-US" dirty="0" smtClean="0"/>
              <a:t> x = </a:t>
            </a:r>
            <a:r>
              <a:rPr lang="el-GR" dirty="0" smtClean="0"/>
              <a:t>π</a:t>
            </a:r>
            <a:r>
              <a:rPr lang="en-US" dirty="0" smtClean="0"/>
              <a:t>/2 </a:t>
            </a:r>
            <a:r>
              <a:rPr lang="en-US" dirty="0" err="1" smtClean="0"/>
              <a:t>và</a:t>
            </a:r>
            <a:r>
              <a:rPr lang="en-US" dirty="0" smtClean="0"/>
              <a:t> x = </a:t>
            </a:r>
            <a:r>
              <a:rPr lang="el-GR" dirty="0" smtClean="0"/>
              <a:t>π</a:t>
            </a:r>
            <a:endParaRPr lang="en-US" dirty="0" smtClean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ban </a:t>
            </a:r>
            <a:r>
              <a:rPr lang="en-US" dirty="0" err="1" smtClean="0"/>
              <a:t>đầu</a:t>
            </a:r>
            <a:r>
              <a:rPr lang="en-US" dirty="0" smtClean="0"/>
              <a:t>: y’’ = 3y + sin x, y(0) = 0, y’(0) = 1.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xấp</a:t>
            </a:r>
            <a:r>
              <a:rPr lang="en-US" dirty="0" smtClean="0"/>
              <a:t> </a:t>
            </a:r>
            <a:r>
              <a:rPr lang="en-US" dirty="0" err="1" smtClean="0"/>
              <a:t>xỉ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series.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endParaRPr lang="en-US" dirty="0" smtClean="0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a &gt; - 1</a:t>
            </a:r>
            <a:endParaRPr lang="en-US" dirty="0"/>
          </a:p>
        </p:txBody>
      </p:sp>
      <p:graphicFrame>
        <p:nvGraphicFramePr>
          <p:cNvPr id="4" name="Content Placeholder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747207"/>
              </p:ext>
            </p:extLst>
          </p:nvPr>
        </p:nvGraphicFramePr>
        <p:xfrm>
          <a:off x="5665434" y="5524500"/>
          <a:ext cx="1557794" cy="10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3" imgW="863280" imgH="558720" progId="Equation.DSMT4">
                  <p:embed/>
                </p:oleObj>
              </mc:Choice>
              <mc:Fallback>
                <p:oleObj name="Equation" r:id="rId3" imgW="863280" imgH="558720" progId="Equation.DSMT4">
                  <p:embed/>
                  <p:pic>
                    <p:nvPicPr>
                      <p:cNvPr id="2" name="Content Placeholder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65434" y="5524500"/>
                        <a:ext cx="1557794" cy="10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120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5.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f(</a:t>
            </a:r>
            <a:r>
              <a:rPr lang="en-US" dirty="0" err="1" smtClean="0"/>
              <a:t>x,y,z</a:t>
            </a:r>
            <a:r>
              <a:rPr lang="en-US" dirty="0" smtClean="0"/>
              <a:t>) = y</a:t>
            </a:r>
            <a:r>
              <a:rPr lang="en-US" baseline="30000" dirty="0" smtClean="0"/>
              <a:t>2</a:t>
            </a:r>
            <a:r>
              <a:rPr lang="en-US" dirty="0" smtClean="0"/>
              <a:t> + 4z</a:t>
            </a:r>
            <a:r>
              <a:rPr lang="en-US" baseline="30000" dirty="0" smtClean="0"/>
              <a:t>2</a:t>
            </a:r>
            <a:r>
              <a:rPr lang="en-US" dirty="0" smtClean="0"/>
              <a:t> – 4yz – 2xz – 2xy </a:t>
            </a:r>
            <a:r>
              <a:rPr lang="en-US" dirty="0" err="1" smtClean="0"/>
              <a:t>với</a:t>
            </a:r>
            <a:r>
              <a:rPr lang="en-US" dirty="0" smtClean="0"/>
              <a:t> 2x</a:t>
            </a:r>
            <a:r>
              <a:rPr lang="en-US" baseline="30000" dirty="0" smtClean="0"/>
              <a:t>2</a:t>
            </a:r>
            <a:r>
              <a:rPr lang="en-US" dirty="0" smtClean="0"/>
              <a:t> + 3y</a:t>
            </a:r>
            <a:r>
              <a:rPr lang="en-US" baseline="30000" dirty="0" smtClean="0"/>
              <a:t>2</a:t>
            </a:r>
            <a:r>
              <a:rPr lang="en-US" dirty="0" smtClean="0"/>
              <a:t> + 6z</a:t>
            </a:r>
            <a:r>
              <a:rPr lang="en-US" baseline="30000" dirty="0" smtClean="0"/>
              <a:t>2</a:t>
            </a:r>
            <a:r>
              <a:rPr lang="en-US" dirty="0" smtClean="0"/>
              <a:t> 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29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1191</Words>
  <Application>Microsoft Office PowerPoint</Application>
  <PresentationFormat>Widescreen</PresentationFormat>
  <Paragraphs>139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Equation</vt:lpstr>
      <vt:lpstr>Chương 1.4 – Phương trình vi phân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3 - Maple</dc:title>
  <dc:creator>admin</dc:creator>
  <cp:lastModifiedBy>Admin</cp:lastModifiedBy>
  <cp:revision>113</cp:revision>
  <dcterms:created xsi:type="dcterms:W3CDTF">2022-01-05T07:42:19Z</dcterms:created>
  <dcterms:modified xsi:type="dcterms:W3CDTF">2023-02-20T04:21:55Z</dcterms:modified>
</cp:coreProperties>
</file>