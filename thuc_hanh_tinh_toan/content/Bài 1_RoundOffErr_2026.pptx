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8" r:id="rId12"/>
    <p:sldId id="265" r:id="rId13"/>
    <p:sldId id="266" r:id="rId14"/>
    <p:sldId id="270" r:id="rId15"/>
    <p:sldId id="269" r:id="rId16"/>
    <p:sldId id="267" r:id="rId17"/>
    <p:sldId id="271" r:id="rId18"/>
    <p:sldId id="272" r:id="rId19"/>
    <p:sldId id="273" r:id="rId20"/>
    <p:sldId id="275" r:id="rId21"/>
    <p:sldId id="276" r:id="rId22"/>
    <p:sldId id="277" r:id="rId23"/>
    <p:sldId id="278" r:id="rId24"/>
    <p:sldId id="279" r:id="rId25"/>
    <p:sldId id="280" r:id="rId26"/>
    <p:sldId id="281" r:id="rId27"/>
    <p:sldId id="285" r:id="rId28"/>
    <p:sldId id="282" r:id="rId29"/>
    <p:sldId id="283" r:id="rId30"/>
    <p:sldId id="284" r:id="rId31"/>
    <p:sldId id="288" r:id="rId32"/>
    <p:sldId id="274" r:id="rId33"/>
    <p:sldId id="286" r:id="rId34"/>
    <p:sldId id="287" r:id="rId35"/>
    <p:sldId id="289" r:id="rId36"/>
    <p:sldId id="290" r:id="rId37"/>
    <p:sldId id="292" r:id="rId38"/>
    <p:sldId id="293" r:id="rId39"/>
    <p:sldId id="291" r:id="rId40"/>
    <p:sldId id="294" r:id="rId41"/>
    <p:sldId id="295" r:id="rId42"/>
    <p:sldId id="297" r:id="rId43"/>
    <p:sldId id="298" r:id="rId44"/>
    <p:sldId id="296" r:id="rId45"/>
    <p:sldId id="302" r:id="rId46"/>
    <p:sldId id="299" r:id="rId47"/>
    <p:sldId id="300" r:id="rId48"/>
    <p:sldId id="303" r:id="rId49"/>
    <p:sldId id="304" r:id="rId50"/>
    <p:sldId id="301" r:id="rId51"/>
    <p:sldId id="305" r:id="rId52"/>
    <p:sldId id="307"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8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7" Type="http://schemas.openxmlformats.org/officeDocument/2006/relationships/commentAuthors" Target="commentAuthors.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1-19T08:59:22.903" idx="1">
    <p:pos x="10" y="10"/>
    <p:text>Chính xác tới 5 chữ số có nghĩa là 5 chữ số đầu tiên tính từ chữ số đầu tiên khác 0 ở bên trái phải là chữ số chắc chắn hoặc chỉ có rất ít sai số ở chữ số cuối cùng</p:text>
  </p:cm>
  <p:cm authorId="1" dt="2026-01-19T09:01:14.334" idx="2">
    <p:pos x="106" y="106"/>
    <p:text>Ví dụ nếu giá trị thực là 3.141592... thì số 3.1416 chính xác tới 5 chữ số có nghĩa</p:text>
  </p:cm>
</p:cmLst>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46511BD4-09FE-423A-AE26-7EEDCCE9E16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46511BD4-09FE-423A-AE26-7EEDCCE9E16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6511BD4-09FE-423A-AE26-7EEDCCE9E16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511BD4-09FE-423A-AE26-7EEDCCE9E16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46511BD4-09FE-423A-AE26-7EEDCCE9E16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46511BD4-09FE-423A-AE26-7EEDCCE9E16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6511BD4-09FE-423A-AE26-7EEDCCE9E16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5A8064-B825-47D7-9C26-BFA1C777806E}"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511BD4-09FE-423A-AE26-7EEDCCE9E160}"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5A8064-B825-47D7-9C26-BFA1C777806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0.wmf"/><Relationship Id="rId3" Type="http://schemas.openxmlformats.org/officeDocument/2006/relationships/oleObject" Target="../embeddings/oleObject5.bin"/><Relationship Id="rId2" Type="http://schemas.openxmlformats.org/officeDocument/2006/relationships/image" Target="../media/image9.wmf"/><Relationship Id="rId1"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7" Type="http://schemas.openxmlformats.org/officeDocument/2006/relationships/comments" Target="../comments/comment1.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12.wmf"/><Relationship Id="rId3" Type="http://schemas.openxmlformats.org/officeDocument/2006/relationships/oleObject" Target="../embeddings/oleObject7.bin"/><Relationship Id="rId2" Type="http://schemas.openxmlformats.org/officeDocument/2006/relationships/image" Target="../media/image11.wmf"/><Relationship Id="rId1"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8.bin"/></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image" Target="../media/image26.wmf"/><Relationship Id="rId2" Type="http://schemas.openxmlformats.org/officeDocument/2006/relationships/oleObject" Target="../embeddings/oleObject9.bin"/><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image" Target="../media/image31.wmf"/><Relationship Id="rId5" Type="http://schemas.openxmlformats.org/officeDocument/2006/relationships/oleObject" Target="../embeddings/oleObject12.bin"/><Relationship Id="rId4" Type="http://schemas.openxmlformats.org/officeDocument/2006/relationships/image" Target="../media/image30.wmf"/><Relationship Id="rId3" Type="http://schemas.openxmlformats.org/officeDocument/2006/relationships/oleObject" Target="../embeddings/oleObject11.bin"/><Relationship Id="rId2" Type="http://schemas.openxmlformats.org/officeDocument/2006/relationships/image" Target="../media/image29.wmf"/><Relationship Id="rId1" Type="http://schemas.openxmlformats.org/officeDocument/2006/relationships/oleObject" Target="../embeddings/oleObject10.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13.bin"/></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Chương</a:t>
            </a:r>
            <a:r>
              <a:rPr lang="en-US" dirty="0" smtClean="0"/>
              <a:t> 1. </a:t>
            </a:r>
            <a:r>
              <a:rPr lang="en-US" dirty="0" err="1" smtClean="0"/>
              <a:t>Xấp</a:t>
            </a:r>
            <a:r>
              <a:rPr lang="en-US" dirty="0" smtClean="0"/>
              <a:t> </a:t>
            </a:r>
            <a:r>
              <a:rPr lang="en-US" dirty="0" err="1" smtClean="0"/>
              <a:t>xỉ</a:t>
            </a:r>
            <a:r>
              <a:rPr lang="en-US" dirty="0" smtClean="0"/>
              <a:t> </a:t>
            </a:r>
            <a:r>
              <a:rPr lang="en-US" dirty="0" err="1" smtClean="0"/>
              <a:t>và</a:t>
            </a:r>
            <a:r>
              <a:rPr lang="en-US" dirty="0" smtClean="0"/>
              <a:t> </a:t>
            </a:r>
            <a:r>
              <a:rPr lang="en-US" dirty="0" err="1" smtClean="0"/>
              <a:t>sai</a:t>
            </a:r>
            <a:r>
              <a:rPr lang="en-US" dirty="0" smtClean="0"/>
              <a:t> </a:t>
            </a:r>
            <a:r>
              <a:rPr lang="en-US" dirty="0" err="1" smtClean="0"/>
              <a:t>số</a:t>
            </a:r>
            <a:r>
              <a:rPr lang="en-US" dirty="0" smtClean="0"/>
              <a:t> </a:t>
            </a:r>
            <a:r>
              <a:rPr lang="en-US" dirty="0" err="1" smtClean="0"/>
              <a:t>làm</a:t>
            </a:r>
            <a:r>
              <a:rPr lang="en-US" dirty="0" smtClean="0"/>
              <a:t> </a:t>
            </a:r>
            <a:r>
              <a:rPr lang="en-US" dirty="0" err="1" smtClean="0"/>
              <a:t>tròn</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I. </a:t>
            </a:r>
            <a:r>
              <a:rPr lang="en-US" b="1" dirty="0" err="1" smtClean="0">
                <a:solidFill>
                  <a:srgbClr val="C00000"/>
                </a:solidFill>
              </a:rPr>
              <a:t>Chữ</a:t>
            </a:r>
            <a:r>
              <a:rPr lang="en-US" b="1" dirty="0" smtClean="0">
                <a:solidFill>
                  <a:srgbClr val="C00000"/>
                </a:solidFill>
              </a:rPr>
              <a:t> </a:t>
            </a:r>
            <a:r>
              <a:rPr lang="en-US" b="1" dirty="0" err="1" smtClean="0">
                <a:solidFill>
                  <a:srgbClr val="C00000"/>
                </a:solidFill>
              </a:rPr>
              <a:t>số</a:t>
            </a:r>
            <a:r>
              <a:rPr lang="en-US" b="1" dirty="0" smtClean="0">
                <a:solidFill>
                  <a:srgbClr val="C00000"/>
                </a:solidFill>
              </a:rPr>
              <a:t> </a:t>
            </a:r>
            <a:r>
              <a:rPr lang="en-US" b="1" dirty="0" err="1" smtClean="0">
                <a:solidFill>
                  <a:srgbClr val="C00000"/>
                </a:solidFill>
              </a:rPr>
              <a:t>có</a:t>
            </a:r>
            <a:r>
              <a:rPr lang="en-US" b="1" dirty="0" smtClean="0">
                <a:solidFill>
                  <a:srgbClr val="C00000"/>
                </a:solidFill>
              </a:rPr>
              <a:t> </a:t>
            </a:r>
            <a:r>
              <a:rPr lang="en-US" b="1" dirty="0" err="1" smtClean="0">
                <a:solidFill>
                  <a:srgbClr val="C00000"/>
                </a:solidFill>
              </a:rPr>
              <a:t>nghĩa</a:t>
            </a:r>
            <a:endParaRPr lang="en-US" b="1" dirty="0">
              <a:solidFill>
                <a:srgbClr val="C00000"/>
              </a:solidFill>
            </a:endParaRP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1"/>
          <a:stretch>
            <a:fillRect/>
          </a:stretch>
        </p:blipFill>
        <p:spPr>
          <a:xfrm>
            <a:off x="2799890" y="1825625"/>
            <a:ext cx="6592220" cy="378195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algn="just">
              <a:lnSpc>
                <a:spcPct val="150000"/>
              </a:lnSpc>
              <a:buFontTx/>
              <a:buChar char="-"/>
            </a:pPr>
            <a:r>
              <a:rPr lang="en-US" dirty="0" err="1" smtClean="0"/>
              <a:t>Vận</a:t>
            </a:r>
            <a:r>
              <a:rPr lang="en-US" dirty="0" smtClean="0"/>
              <a:t> </a:t>
            </a:r>
            <a:r>
              <a:rPr lang="en-US" dirty="0" err="1" smtClean="0"/>
              <a:t>tốc</a:t>
            </a:r>
            <a:r>
              <a:rPr lang="en-US" dirty="0" smtClean="0"/>
              <a:t> </a:t>
            </a:r>
            <a:r>
              <a:rPr lang="en-US" dirty="0" err="1" smtClean="0"/>
              <a:t>xấp</a:t>
            </a:r>
            <a:r>
              <a:rPr lang="en-US" dirty="0" smtClean="0"/>
              <a:t> </a:t>
            </a:r>
            <a:r>
              <a:rPr lang="en-US" dirty="0" err="1" smtClean="0"/>
              <a:t>xỉ</a:t>
            </a:r>
            <a:r>
              <a:rPr lang="en-US" dirty="0" smtClean="0"/>
              <a:t> 48.8 km/h </a:t>
            </a:r>
            <a:r>
              <a:rPr lang="en-US" dirty="0" err="1" smtClean="0"/>
              <a:t>hoặc</a:t>
            </a:r>
            <a:r>
              <a:rPr lang="en-US" dirty="0" smtClean="0"/>
              <a:t> 48.9 km/h.</a:t>
            </a:r>
            <a:endParaRPr lang="en-US" dirty="0" smtClean="0"/>
          </a:p>
          <a:p>
            <a:pPr algn="just">
              <a:lnSpc>
                <a:spcPct val="150000"/>
              </a:lnSpc>
              <a:buFontTx/>
              <a:buChar char="-"/>
            </a:pPr>
            <a:r>
              <a:rPr lang="en-US" dirty="0" smtClean="0"/>
              <a:t>Do </a:t>
            </a:r>
            <a:r>
              <a:rPr lang="en-US" dirty="0" err="1" smtClean="0"/>
              <a:t>giới</a:t>
            </a:r>
            <a:r>
              <a:rPr lang="en-US" dirty="0" smtClean="0"/>
              <a:t> </a:t>
            </a:r>
            <a:r>
              <a:rPr lang="en-US" dirty="0" err="1" smtClean="0"/>
              <a:t>hạn</a:t>
            </a:r>
            <a:r>
              <a:rPr lang="en-US" dirty="0" smtClean="0"/>
              <a:t> </a:t>
            </a:r>
            <a:r>
              <a:rPr lang="en-US" dirty="0" err="1" smtClean="0"/>
              <a:t>của</a:t>
            </a:r>
            <a:r>
              <a:rPr lang="en-US" dirty="0" smtClean="0"/>
              <a:t> </a:t>
            </a:r>
            <a:r>
              <a:rPr lang="en-US" dirty="0" err="1" smtClean="0"/>
              <a:t>tốc</a:t>
            </a:r>
            <a:r>
              <a:rPr lang="en-US" dirty="0" smtClean="0"/>
              <a:t> </a:t>
            </a:r>
            <a:r>
              <a:rPr lang="en-US" dirty="0" err="1" smtClean="0"/>
              <a:t>độ</a:t>
            </a:r>
            <a:r>
              <a:rPr lang="en-US" dirty="0" smtClean="0"/>
              <a:t> </a:t>
            </a:r>
            <a:r>
              <a:rPr lang="en-US" dirty="0" err="1" smtClean="0"/>
              <a:t>kế</a:t>
            </a:r>
            <a:r>
              <a:rPr lang="en-US" dirty="0" smtClean="0"/>
              <a:t>, </a:t>
            </a:r>
            <a:r>
              <a:rPr lang="en-US" dirty="0" err="1" smtClean="0"/>
              <a:t>chỉ</a:t>
            </a:r>
            <a:r>
              <a:rPr lang="en-US" dirty="0" smtClean="0"/>
              <a:t> </a:t>
            </a:r>
            <a:r>
              <a:rPr lang="en-US" dirty="0" err="1" smtClean="0"/>
              <a:t>có</a:t>
            </a:r>
            <a:r>
              <a:rPr lang="en-US" dirty="0" smtClean="0"/>
              <a:t> 2 </a:t>
            </a:r>
            <a:r>
              <a:rPr lang="en-US" dirty="0" err="1" smtClean="0"/>
              <a:t>chữ</a:t>
            </a:r>
            <a:r>
              <a:rPr lang="en-US" dirty="0" smtClean="0"/>
              <a:t> </a:t>
            </a:r>
            <a:r>
              <a:rPr lang="en-US" dirty="0" err="1" smtClean="0"/>
              <a:t>số</a:t>
            </a:r>
            <a:r>
              <a:rPr lang="en-US" dirty="0" smtClean="0"/>
              <a:t> </a:t>
            </a:r>
            <a:r>
              <a:rPr lang="en-US" dirty="0" err="1" smtClean="0"/>
              <a:t>đầu</a:t>
            </a:r>
            <a:r>
              <a:rPr lang="en-US" dirty="0" smtClean="0"/>
              <a:t> </a:t>
            </a:r>
            <a:r>
              <a:rPr lang="en-US" dirty="0" err="1" smtClean="0"/>
              <a:t>tiên</a:t>
            </a:r>
            <a:r>
              <a:rPr lang="en-US" dirty="0" smtClean="0"/>
              <a:t> </a:t>
            </a:r>
            <a:r>
              <a:rPr lang="en-US" dirty="0" err="1" smtClean="0"/>
              <a:t>là</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một</a:t>
            </a:r>
            <a:r>
              <a:rPr lang="en-US" dirty="0" smtClean="0"/>
              <a:t> </a:t>
            </a:r>
            <a:r>
              <a:rPr lang="en-US" dirty="0" err="1" smtClean="0"/>
              <a:t>cách</a:t>
            </a:r>
            <a:r>
              <a:rPr lang="en-US" dirty="0" smtClean="0"/>
              <a:t> </a:t>
            </a:r>
            <a:r>
              <a:rPr lang="en-US" dirty="0" err="1" smtClean="0"/>
              <a:t>đáng</a:t>
            </a:r>
            <a:r>
              <a:rPr lang="en-US" dirty="0" smtClean="0"/>
              <a:t> tin </a:t>
            </a:r>
            <a:r>
              <a:rPr lang="en-US" dirty="0" err="1" smtClean="0"/>
              <a:t>cậy</a:t>
            </a:r>
            <a:r>
              <a:rPr lang="en-US" dirty="0" smtClean="0"/>
              <a:t>, </a:t>
            </a:r>
            <a:r>
              <a:rPr lang="en-US" dirty="0" err="1" smtClean="0"/>
              <a:t>chữ</a:t>
            </a:r>
            <a:r>
              <a:rPr lang="en-US" dirty="0" smtClean="0"/>
              <a:t> </a:t>
            </a:r>
            <a:r>
              <a:rPr lang="en-US" dirty="0" err="1" smtClean="0"/>
              <a:t>số</a:t>
            </a:r>
            <a:r>
              <a:rPr lang="en-US" dirty="0" smtClean="0"/>
              <a:t> </a:t>
            </a:r>
            <a:r>
              <a:rPr lang="en-US" dirty="0" err="1" smtClean="0"/>
              <a:t>thứ</a:t>
            </a:r>
            <a:r>
              <a:rPr lang="en-US" dirty="0" smtClean="0"/>
              <a:t> 3 </a:t>
            </a:r>
            <a:r>
              <a:rPr lang="en-US" dirty="0" err="1" smtClean="0"/>
              <a:t>hoặc</a:t>
            </a:r>
            <a:r>
              <a:rPr lang="en-US" dirty="0" smtClean="0"/>
              <a:t> </a:t>
            </a:r>
            <a:r>
              <a:rPr lang="en-US" dirty="0" err="1" smtClean="0"/>
              <a:t>cao</a:t>
            </a:r>
            <a:r>
              <a:rPr lang="en-US" dirty="0" smtClean="0"/>
              <a:t> </a:t>
            </a:r>
            <a:r>
              <a:rPr lang="en-US" dirty="0" err="1" smtClean="0"/>
              <a:t>hơn</a:t>
            </a:r>
            <a:r>
              <a:rPr lang="en-US" dirty="0" smtClean="0"/>
              <a:t> </a:t>
            </a:r>
            <a:r>
              <a:rPr lang="en-US" dirty="0" err="1" smtClean="0"/>
              <a:t>phải</a:t>
            </a:r>
            <a:r>
              <a:rPr lang="en-US" dirty="0" smtClean="0"/>
              <a:t> </a:t>
            </a:r>
            <a:r>
              <a:rPr lang="en-US" dirty="0" err="1" smtClean="0"/>
              <a:t>được</a:t>
            </a:r>
            <a:r>
              <a:rPr lang="en-US" dirty="0" smtClean="0"/>
              <a:t> </a:t>
            </a:r>
            <a:r>
              <a:rPr lang="en-US" dirty="0" err="1" smtClean="0"/>
              <a:t>xem</a:t>
            </a:r>
            <a:r>
              <a:rPr lang="en-US" dirty="0" smtClean="0"/>
              <a:t> </a:t>
            </a:r>
            <a:r>
              <a:rPr lang="en-US" dirty="0" err="1" smtClean="0"/>
              <a:t>là</a:t>
            </a:r>
            <a:r>
              <a:rPr lang="en-US" dirty="0" smtClean="0"/>
              <a:t> </a:t>
            </a:r>
            <a:r>
              <a:rPr lang="en-US" dirty="0" err="1" smtClean="0"/>
              <a:t>các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xấp</a:t>
            </a:r>
            <a:r>
              <a:rPr lang="en-US" dirty="0" smtClean="0"/>
              <a:t> </a:t>
            </a:r>
            <a:r>
              <a:rPr lang="en-US" dirty="0" err="1" smtClean="0"/>
              <a:t>xỉ</a:t>
            </a:r>
            <a:r>
              <a:rPr lang="en-US" dirty="0" smtClean="0"/>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algn="just">
              <a:lnSpc>
                <a:spcPct val="150000"/>
              </a:lnSpc>
              <a:buFontTx/>
              <a:buChar char="-"/>
            </a:pPr>
            <a:r>
              <a:rPr lang="en-US" dirty="0" err="1" smtClean="0"/>
              <a:t>Đối</a:t>
            </a:r>
            <a:r>
              <a:rPr lang="en-US" dirty="0" smtClean="0"/>
              <a:t> </a:t>
            </a:r>
            <a:r>
              <a:rPr lang="en-US" dirty="0" err="1" smtClean="0"/>
              <a:t>với</a:t>
            </a:r>
            <a:r>
              <a:rPr lang="en-US" dirty="0" smtClean="0"/>
              <a:t> </a:t>
            </a:r>
            <a:r>
              <a:rPr lang="en-US" dirty="0" err="1" smtClean="0"/>
              <a:t>thông</a:t>
            </a:r>
            <a:r>
              <a:rPr lang="en-US" dirty="0" smtClean="0"/>
              <a:t> tin </a:t>
            </a:r>
            <a:r>
              <a:rPr lang="en-US" dirty="0" err="1" smtClean="0"/>
              <a:t>trên</a:t>
            </a:r>
            <a:r>
              <a:rPr lang="en-US" dirty="0" smtClean="0"/>
              <a:t> </a:t>
            </a:r>
            <a:r>
              <a:rPr lang="en-US" dirty="0" err="1" smtClean="0"/>
              <a:t>đồng</a:t>
            </a:r>
            <a:r>
              <a:rPr lang="en-US" dirty="0" smtClean="0"/>
              <a:t> </a:t>
            </a:r>
            <a:r>
              <a:rPr lang="en-US" dirty="0" err="1" smtClean="0"/>
              <a:t>hồ</a:t>
            </a:r>
            <a:r>
              <a:rPr lang="en-US" dirty="0" smtClean="0"/>
              <a:t> </a:t>
            </a:r>
            <a:r>
              <a:rPr lang="en-US" dirty="0" err="1" smtClean="0"/>
              <a:t>đo</a:t>
            </a:r>
            <a:r>
              <a:rPr lang="en-US" dirty="0" smtClean="0"/>
              <a:t> </a:t>
            </a:r>
            <a:r>
              <a:rPr lang="en-US" dirty="0" err="1" smtClean="0"/>
              <a:t>quãng</a:t>
            </a:r>
            <a:r>
              <a:rPr lang="en-US" dirty="0" smtClean="0"/>
              <a:t> </a:t>
            </a:r>
            <a:r>
              <a:rPr lang="en-US" dirty="0" err="1" smtClean="0"/>
              <a:t>đường</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6 </a:t>
            </a:r>
            <a:r>
              <a:rPr lang="en-US" dirty="0" err="1" smtClean="0"/>
              <a:t>chữ</a:t>
            </a:r>
            <a:r>
              <a:rPr lang="en-US" dirty="0" smtClean="0"/>
              <a:t> </a:t>
            </a:r>
            <a:r>
              <a:rPr lang="en-US" dirty="0" err="1" smtClean="0"/>
              <a:t>số</a:t>
            </a:r>
            <a:r>
              <a:rPr lang="en-US" dirty="0" smtClean="0"/>
              <a:t> </a:t>
            </a:r>
            <a:r>
              <a:rPr lang="en-US" dirty="0" err="1" smtClean="0"/>
              <a:t>đáng</a:t>
            </a:r>
            <a:r>
              <a:rPr lang="en-US" dirty="0" smtClean="0"/>
              <a:t> tin </a:t>
            </a:r>
            <a:r>
              <a:rPr lang="en-US" dirty="0" err="1" smtClean="0"/>
              <a:t>cậy</a:t>
            </a:r>
            <a:r>
              <a:rPr lang="en-US" dirty="0" smtClean="0"/>
              <a:t> </a:t>
            </a:r>
            <a:r>
              <a:rPr lang="en-US" dirty="0" err="1" smtClean="0"/>
              <a:t>để</a:t>
            </a:r>
            <a:r>
              <a:rPr lang="en-US" dirty="0" smtClean="0"/>
              <a:t> </a:t>
            </a:r>
            <a:r>
              <a:rPr lang="en-US" dirty="0" err="1" smtClean="0"/>
              <a:t>nói</a:t>
            </a:r>
            <a:r>
              <a:rPr lang="en-US" dirty="0" smtClean="0"/>
              <a:t> </a:t>
            </a:r>
            <a:r>
              <a:rPr lang="en-US" dirty="0" err="1" smtClean="0"/>
              <a:t>về</a:t>
            </a:r>
            <a:r>
              <a:rPr lang="en-US" dirty="0" smtClean="0"/>
              <a:t> </a:t>
            </a:r>
            <a:r>
              <a:rPr lang="en-US" dirty="0" err="1" smtClean="0"/>
              <a:t>quãng</a:t>
            </a:r>
            <a:r>
              <a:rPr lang="en-US" dirty="0" smtClean="0"/>
              <a:t> </a:t>
            </a:r>
            <a:r>
              <a:rPr lang="en-US" dirty="0" err="1" smtClean="0"/>
              <a:t>đường</a:t>
            </a:r>
            <a:r>
              <a:rPr lang="en-US" dirty="0" smtClean="0"/>
              <a:t> </a:t>
            </a:r>
            <a:r>
              <a:rPr lang="en-US" dirty="0" err="1" smtClean="0"/>
              <a:t>đã</a:t>
            </a:r>
            <a:r>
              <a:rPr lang="en-US" dirty="0" smtClean="0"/>
              <a:t> </a:t>
            </a:r>
            <a:r>
              <a:rPr lang="en-US" dirty="0" err="1" smtClean="0"/>
              <a:t>được</a:t>
            </a:r>
            <a:r>
              <a:rPr lang="en-US" dirty="0" smtClean="0"/>
              <a:t> </a:t>
            </a:r>
            <a:r>
              <a:rPr lang="en-US" dirty="0" err="1" smtClean="0"/>
              <a:t>đi</a:t>
            </a:r>
            <a:r>
              <a:rPr lang="en-US" dirty="0"/>
              <a:t> </a:t>
            </a:r>
            <a:r>
              <a:rPr lang="en-US" dirty="0" smtClean="0"/>
              <a:t>( </a:t>
            </a:r>
            <a:r>
              <a:rPr lang="en-US" dirty="0" err="1" smtClean="0"/>
              <a:t>ít</a:t>
            </a:r>
            <a:r>
              <a:rPr lang="en-US" dirty="0" smtClean="0"/>
              <a:t> </a:t>
            </a:r>
            <a:r>
              <a:rPr lang="en-US" dirty="0" err="1" smtClean="0"/>
              <a:t>hơn</a:t>
            </a:r>
            <a:r>
              <a:rPr lang="en-US" dirty="0" smtClean="0"/>
              <a:t> 87 324.5 km).</a:t>
            </a:r>
            <a:endParaRPr lang="en-US" dirty="0" smtClean="0"/>
          </a:p>
          <a:p>
            <a:pPr algn="just">
              <a:lnSpc>
                <a:spcPct val="150000"/>
              </a:lnSpc>
              <a:buFontTx/>
              <a:buChar char="-"/>
            </a:pPr>
            <a:r>
              <a:rPr lang="en-US" dirty="0" err="1" smtClean="0"/>
              <a:t>Chữ</a:t>
            </a:r>
            <a:r>
              <a:rPr lang="en-US" dirty="0" smtClean="0"/>
              <a:t> </a:t>
            </a:r>
            <a:r>
              <a:rPr lang="en-US" dirty="0" err="1" smtClean="0"/>
              <a:t>số</a:t>
            </a:r>
            <a:r>
              <a:rPr lang="en-US" dirty="0" smtClean="0"/>
              <a:t> </a:t>
            </a:r>
            <a:r>
              <a:rPr lang="en-US" dirty="0" err="1" smtClean="0"/>
              <a:t>thứ</a:t>
            </a:r>
            <a:r>
              <a:rPr lang="en-US" dirty="0" smtClean="0"/>
              <a:t> 7 </a:t>
            </a:r>
            <a:r>
              <a:rPr lang="en-US" dirty="0" err="1" smtClean="0"/>
              <a:t>hoặc</a:t>
            </a:r>
            <a:r>
              <a:rPr lang="en-US" dirty="0" smtClean="0"/>
              <a:t> </a:t>
            </a:r>
            <a:r>
              <a:rPr lang="en-US" dirty="0" err="1" smtClean="0"/>
              <a:t>cao</a:t>
            </a:r>
            <a:r>
              <a:rPr lang="en-US" dirty="0" smtClean="0"/>
              <a:t> </a:t>
            </a:r>
            <a:r>
              <a:rPr lang="en-US" dirty="0" err="1" smtClean="0"/>
              <a:t>hơn</a:t>
            </a:r>
            <a:r>
              <a:rPr lang="en-US" dirty="0" smtClean="0"/>
              <a:t> </a:t>
            </a:r>
            <a:r>
              <a:rPr lang="en-US" dirty="0" err="1" smtClean="0"/>
              <a:t>là</a:t>
            </a:r>
            <a:r>
              <a:rPr lang="en-US" dirty="0" smtClean="0"/>
              <a:t> </a:t>
            </a:r>
            <a:r>
              <a:rPr lang="en-US" dirty="0" err="1" smtClean="0"/>
              <a:t>không</a:t>
            </a:r>
            <a:r>
              <a:rPr lang="en-US" dirty="0" smtClean="0"/>
              <a:t> </a:t>
            </a:r>
            <a:r>
              <a:rPr lang="en-US" dirty="0" err="1" smtClean="0"/>
              <a:t>chắc</a:t>
            </a:r>
            <a:r>
              <a:rPr lang="en-US" dirty="0" smtClean="0"/>
              <a:t> </a:t>
            </a:r>
            <a:r>
              <a:rPr lang="en-US" dirty="0" err="1" smtClean="0"/>
              <a:t>chắn</a:t>
            </a:r>
            <a:r>
              <a:rPr lang="en-US" dirty="0" smtClean="0"/>
              <a:t>.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u="sng" dirty="0" err="1" smtClean="0">
                <a:latin typeface="Calibri (Body)"/>
              </a:rPr>
              <a:t>Khái</a:t>
            </a:r>
            <a:r>
              <a:rPr lang="en-US" b="1" u="sng" dirty="0" smtClean="0">
                <a:latin typeface="Calibri (Body)"/>
              </a:rPr>
              <a:t> </a:t>
            </a:r>
            <a:r>
              <a:rPr lang="en-US" b="1" u="sng" dirty="0" err="1" smtClean="0">
                <a:latin typeface="Calibri (Body)"/>
              </a:rPr>
              <a:t>niệm</a:t>
            </a:r>
            <a:r>
              <a:rPr lang="en-US" b="1" u="sng" dirty="0" smtClean="0">
                <a:latin typeface="Calibri (Body)"/>
              </a:rPr>
              <a:t> 1</a:t>
            </a:r>
            <a:r>
              <a:rPr lang="en-US" b="1" dirty="0" smtClean="0">
                <a:latin typeface="Calibri (Body)"/>
              </a:rPr>
              <a:t>. </a:t>
            </a:r>
            <a:r>
              <a:rPr lang="vi-VN" dirty="0" smtClean="0">
                <a:latin typeface="Calibri (Body)"/>
              </a:rPr>
              <a:t>Các </a:t>
            </a:r>
            <a:r>
              <a:rPr lang="vi-VN" b="1" dirty="0" smtClean="0">
                <a:solidFill>
                  <a:srgbClr val="002060"/>
                </a:solidFill>
                <a:latin typeface="Calibri (Body)"/>
              </a:rPr>
              <a:t>chữ số có nghĩa </a:t>
            </a:r>
            <a:r>
              <a:rPr lang="vi-VN" dirty="0" smtClean="0">
                <a:latin typeface="Calibri (Body)"/>
              </a:rPr>
              <a:t>của một số là những chữ số có thể được sử dụng một cách tin cậy. Chúng tương ứng với số lượng </a:t>
            </a:r>
            <a:r>
              <a:rPr lang="vi-VN" b="1" dirty="0" smtClean="0">
                <a:solidFill>
                  <a:srgbClr val="C00000"/>
                </a:solidFill>
                <a:latin typeface="Calibri (Body)"/>
              </a:rPr>
              <a:t>các chữ số chắc chắn </a:t>
            </a:r>
            <a:r>
              <a:rPr lang="vi-VN" dirty="0" smtClean="0">
                <a:latin typeface="Calibri (Body)"/>
              </a:rPr>
              <a:t>cộng thêm </a:t>
            </a:r>
            <a:r>
              <a:rPr lang="vi-VN" b="1" dirty="0" smtClean="0">
                <a:solidFill>
                  <a:srgbClr val="C00000"/>
                </a:solidFill>
                <a:latin typeface="Calibri (Body)"/>
              </a:rPr>
              <a:t>một chữ số ước lượng</a:t>
            </a:r>
            <a:r>
              <a:rPr lang="vi-VN" dirty="0" smtClean="0">
                <a:latin typeface="Calibri (Body)"/>
              </a:rPr>
              <a:t>.</a:t>
            </a:r>
            <a:endParaRPr lang="en-US" dirty="0">
              <a:latin typeface="Calibri (Bod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algn="just">
              <a:lnSpc>
                <a:spcPct val="150000"/>
              </a:lnSpc>
              <a:buFontTx/>
              <a:buChar char="-"/>
            </a:pPr>
            <a:r>
              <a:rPr lang="en-US" dirty="0" smtClean="0"/>
              <a:t>3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 </a:t>
            </a:r>
            <a:r>
              <a:rPr lang="en-US" dirty="0" err="1" smtClean="0"/>
              <a:t>cho</a:t>
            </a:r>
            <a:r>
              <a:rPr lang="en-US" dirty="0" smtClean="0"/>
              <a:t> </a:t>
            </a:r>
            <a:r>
              <a:rPr lang="en-US" dirty="0" err="1" smtClean="0"/>
              <a:t>vận</a:t>
            </a:r>
            <a:r>
              <a:rPr lang="en-US" dirty="0" smtClean="0"/>
              <a:t> </a:t>
            </a:r>
            <a:r>
              <a:rPr lang="en-US" dirty="0" err="1" smtClean="0"/>
              <a:t>tốc</a:t>
            </a:r>
            <a:r>
              <a:rPr lang="en-US" dirty="0" smtClean="0"/>
              <a:t> </a:t>
            </a:r>
            <a:r>
              <a:rPr lang="en-US" dirty="0" err="1" smtClean="0"/>
              <a:t>là</a:t>
            </a:r>
            <a:r>
              <a:rPr lang="en-US" dirty="0" smtClean="0"/>
              <a:t> 48.5</a:t>
            </a:r>
            <a:endParaRPr lang="en-US" dirty="0" smtClean="0"/>
          </a:p>
          <a:p>
            <a:pPr algn="just">
              <a:lnSpc>
                <a:spcPct val="150000"/>
              </a:lnSpc>
              <a:buFontTx/>
              <a:buChar char="-"/>
            </a:pPr>
            <a:r>
              <a:rPr lang="en-US" dirty="0" smtClean="0"/>
              <a:t>7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 </a:t>
            </a:r>
            <a:r>
              <a:rPr lang="en-US" dirty="0" err="1" smtClean="0"/>
              <a:t>cho</a:t>
            </a:r>
            <a:r>
              <a:rPr lang="en-US" dirty="0" smtClean="0"/>
              <a:t> </a:t>
            </a:r>
            <a:r>
              <a:rPr lang="en-US" dirty="0" err="1" smtClean="0"/>
              <a:t>quãng</a:t>
            </a:r>
            <a:r>
              <a:rPr lang="en-US" dirty="0" smtClean="0"/>
              <a:t> </a:t>
            </a:r>
            <a:r>
              <a:rPr lang="en-US" dirty="0" err="1" smtClean="0"/>
              <a:t>đường</a:t>
            </a:r>
            <a:r>
              <a:rPr lang="en-US" dirty="0" smtClean="0"/>
              <a:t> </a:t>
            </a:r>
            <a:r>
              <a:rPr lang="en-US" dirty="0" err="1" smtClean="0"/>
              <a:t>đi</a:t>
            </a:r>
            <a:r>
              <a:rPr lang="en-US" dirty="0" smtClean="0"/>
              <a:t> </a:t>
            </a:r>
            <a:r>
              <a:rPr lang="en-US" dirty="0" err="1" smtClean="0"/>
              <a:t>được</a:t>
            </a:r>
            <a:r>
              <a:rPr lang="en-US" dirty="0" smtClean="0"/>
              <a:t> </a:t>
            </a:r>
            <a:r>
              <a:rPr lang="en-US" dirty="0" err="1" smtClean="0"/>
              <a:t>là</a:t>
            </a:r>
            <a:r>
              <a:rPr lang="en-US" dirty="0" smtClean="0"/>
              <a:t> 87 324.45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Quy</a:t>
            </a:r>
            <a:r>
              <a:rPr lang="en-US" dirty="0" smtClean="0"/>
              <a:t> </a:t>
            </a:r>
            <a:r>
              <a:rPr lang="en-US" dirty="0" err="1" smtClean="0"/>
              <a:t>tắc</a:t>
            </a:r>
            <a:r>
              <a:rPr lang="en-US" dirty="0" smtClean="0"/>
              <a:t> </a:t>
            </a:r>
            <a:r>
              <a:rPr lang="en-US" dirty="0" err="1" smtClean="0"/>
              <a:t>xác</a:t>
            </a:r>
            <a:r>
              <a:rPr lang="en-US" dirty="0" smtClean="0"/>
              <a:t> </a:t>
            </a:r>
            <a:r>
              <a:rPr lang="en-US" dirty="0" err="1" smtClean="0"/>
              <a:t>định</a:t>
            </a:r>
            <a:r>
              <a:rPr lang="en-US" dirty="0" smtClean="0"/>
              <a:t>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endParaRPr lang="en-US" dirty="0" smtClean="0"/>
          </a:p>
          <a:p>
            <a:pPr marL="0" indent="0" algn="just">
              <a:lnSpc>
                <a:spcPct val="150000"/>
              </a:lnSpc>
              <a:buNone/>
            </a:pPr>
            <a:endParaRPr lang="en-US" dirty="0"/>
          </a:p>
        </p:txBody>
      </p:sp>
      <p:graphicFrame>
        <p:nvGraphicFramePr>
          <p:cNvPr id="2" name="Table 1"/>
          <p:cNvGraphicFramePr>
            <a:graphicFrameLocks noGrp="1"/>
          </p:cNvGraphicFramePr>
          <p:nvPr/>
        </p:nvGraphicFramePr>
        <p:xfrm>
          <a:off x="838200" y="1704404"/>
          <a:ext cx="10626969" cy="4639680"/>
        </p:xfrm>
        <a:graphic>
          <a:graphicData uri="http://schemas.openxmlformats.org/drawingml/2006/table">
            <a:tbl>
              <a:tblPr firstRow="1" bandRow="1">
                <a:tableStyleId>{93296810-A885-4BE3-A3E7-6D5BEEA58F35}</a:tableStyleId>
              </a:tblPr>
              <a:tblGrid>
                <a:gridCol w="6645812"/>
                <a:gridCol w="1378634"/>
                <a:gridCol w="2602523"/>
              </a:tblGrid>
              <a:tr h="773280">
                <a:tc>
                  <a:txBody>
                    <a:bodyPr/>
                    <a:lstStyle/>
                    <a:p>
                      <a:pPr algn="ctr"/>
                      <a:r>
                        <a:rPr lang="en-US" dirty="0" err="1" smtClean="0"/>
                        <a:t>Quy</a:t>
                      </a:r>
                      <a:r>
                        <a:rPr lang="en-US" dirty="0" smtClean="0"/>
                        <a:t> </a:t>
                      </a:r>
                      <a:r>
                        <a:rPr lang="en-US" dirty="0" err="1" smtClean="0"/>
                        <a:t>tắc</a:t>
                      </a:r>
                      <a:endParaRPr lang="en-US" dirty="0"/>
                    </a:p>
                  </a:txBody>
                  <a:tcPr/>
                </a:tc>
                <a:tc>
                  <a:txBody>
                    <a:bodyPr/>
                    <a:lstStyle/>
                    <a:p>
                      <a:pPr algn="ctr"/>
                      <a:r>
                        <a:rPr lang="en-US" dirty="0" err="1" smtClean="0"/>
                        <a:t>Ví</a:t>
                      </a:r>
                      <a:r>
                        <a:rPr lang="en-US" baseline="0" dirty="0" smtClean="0"/>
                        <a:t> </a:t>
                      </a:r>
                      <a:r>
                        <a:rPr lang="en-US" baseline="0" dirty="0" err="1" smtClean="0"/>
                        <a:t>dụ</a:t>
                      </a:r>
                      <a:endParaRPr lang="en-US" dirty="0"/>
                    </a:p>
                  </a:txBody>
                  <a:tcPr/>
                </a:tc>
                <a:tc>
                  <a:txBody>
                    <a:bodyPr/>
                    <a:lstStyle/>
                    <a:p>
                      <a:pPr algn="ctr"/>
                      <a:r>
                        <a:rPr lang="en-US" dirty="0" err="1" smtClean="0"/>
                        <a:t>Số</a:t>
                      </a:r>
                      <a:r>
                        <a:rPr lang="en-US" baseline="0" dirty="0" smtClean="0"/>
                        <a:t> </a:t>
                      </a:r>
                      <a:r>
                        <a:rPr lang="en-US" baseline="0" dirty="0" err="1" smtClean="0"/>
                        <a:t>chữ</a:t>
                      </a:r>
                      <a:r>
                        <a:rPr lang="en-US" baseline="0" dirty="0" smtClean="0"/>
                        <a:t> </a:t>
                      </a:r>
                      <a:r>
                        <a:rPr lang="en-US" baseline="0" dirty="0" err="1" smtClean="0"/>
                        <a:t>số</a:t>
                      </a:r>
                      <a:r>
                        <a:rPr lang="en-US" baseline="0" dirty="0" smtClean="0"/>
                        <a:t> </a:t>
                      </a:r>
                      <a:r>
                        <a:rPr lang="en-US" baseline="0" dirty="0" err="1" smtClean="0"/>
                        <a:t>có</a:t>
                      </a:r>
                      <a:r>
                        <a:rPr lang="en-US" baseline="0" dirty="0" smtClean="0"/>
                        <a:t> </a:t>
                      </a:r>
                      <a:r>
                        <a:rPr lang="en-US" baseline="0" dirty="0" err="1" smtClean="0"/>
                        <a:t>nghĩa</a:t>
                      </a:r>
                      <a:endParaRPr lang="en-US" dirty="0"/>
                    </a:p>
                  </a:txBody>
                  <a:tcPr/>
                </a:tc>
              </a:tr>
              <a:tr h="773280">
                <a:tc>
                  <a:txBody>
                    <a:bodyPr/>
                    <a:lstStyle/>
                    <a:p>
                      <a:r>
                        <a:rPr lang="en-US" dirty="0" err="1" smtClean="0"/>
                        <a:t>Tất</a:t>
                      </a:r>
                      <a:r>
                        <a:rPr lang="en-US" baseline="0" dirty="0" smtClean="0"/>
                        <a:t> </a:t>
                      </a:r>
                      <a:r>
                        <a:rPr lang="en-US" baseline="0" dirty="0" err="1" smtClean="0"/>
                        <a:t>cả</a:t>
                      </a:r>
                      <a:r>
                        <a:rPr lang="en-US" baseline="0" dirty="0" smtClean="0"/>
                        <a:t> </a:t>
                      </a:r>
                      <a:r>
                        <a:rPr lang="en-US" baseline="0" dirty="0" err="1" smtClean="0"/>
                        <a:t>các</a:t>
                      </a:r>
                      <a:r>
                        <a:rPr lang="en-US" baseline="0" dirty="0" smtClean="0"/>
                        <a:t> </a:t>
                      </a:r>
                      <a:r>
                        <a:rPr lang="en-US" baseline="0" dirty="0" err="1" smtClean="0"/>
                        <a:t>chữ</a:t>
                      </a:r>
                      <a:r>
                        <a:rPr lang="en-US" baseline="0" dirty="0" smtClean="0"/>
                        <a:t> </a:t>
                      </a:r>
                      <a:r>
                        <a:rPr lang="en-US" baseline="0" dirty="0" err="1" smtClean="0"/>
                        <a:t>số</a:t>
                      </a:r>
                      <a:r>
                        <a:rPr lang="en-US" baseline="0" dirty="0" smtClean="0"/>
                        <a:t> </a:t>
                      </a:r>
                      <a:r>
                        <a:rPr lang="en-US" baseline="0" dirty="0" err="1" smtClean="0"/>
                        <a:t>khác</a:t>
                      </a:r>
                      <a:r>
                        <a:rPr lang="en-US" baseline="0" dirty="0" smtClean="0"/>
                        <a:t> 0 </a:t>
                      </a:r>
                      <a:r>
                        <a:rPr lang="en-US" baseline="0" dirty="0" err="1" smtClean="0"/>
                        <a:t>đều</a:t>
                      </a:r>
                      <a:r>
                        <a:rPr lang="en-US" baseline="0" dirty="0" smtClean="0"/>
                        <a:t> </a:t>
                      </a:r>
                      <a:r>
                        <a:rPr lang="en-US" baseline="0" dirty="0" err="1" smtClean="0"/>
                        <a:t>có</a:t>
                      </a:r>
                      <a:r>
                        <a:rPr lang="en-US" baseline="0" dirty="0" smtClean="0"/>
                        <a:t> </a:t>
                      </a:r>
                      <a:r>
                        <a:rPr lang="en-US" baseline="0" dirty="0" err="1" smtClean="0"/>
                        <a:t>nghĩa</a:t>
                      </a:r>
                      <a:endParaRPr lang="en-US" dirty="0"/>
                    </a:p>
                  </a:txBody>
                  <a:tcPr/>
                </a:tc>
                <a:tc>
                  <a:txBody>
                    <a:bodyPr/>
                    <a:lstStyle/>
                    <a:p>
                      <a:pPr algn="ctr"/>
                      <a:r>
                        <a:rPr lang="en-US" dirty="0" smtClean="0"/>
                        <a:t>123.45</a:t>
                      </a:r>
                      <a:endParaRPr lang="en-US" dirty="0"/>
                    </a:p>
                  </a:txBody>
                  <a:tcPr/>
                </a:tc>
                <a:tc>
                  <a:txBody>
                    <a:bodyPr/>
                    <a:lstStyle/>
                    <a:p>
                      <a:pPr algn="ctr"/>
                      <a:r>
                        <a:rPr lang="en-US" dirty="0" smtClean="0"/>
                        <a:t>5</a:t>
                      </a:r>
                      <a:endParaRPr lang="en-US" dirty="0"/>
                    </a:p>
                  </a:txBody>
                  <a:tcPr/>
                </a:tc>
              </a:tr>
              <a:tr h="773280">
                <a:tc>
                  <a:txBody>
                    <a:bodyPr/>
                    <a:lstStyle/>
                    <a:p>
                      <a:r>
                        <a:rPr lang="en-US" dirty="0" err="1" smtClean="0"/>
                        <a:t>Các</a:t>
                      </a:r>
                      <a:r>
                        <a:rPr lang="en-US" baseline="0" dirty="0" smtClean="0"/>
                        <a:t> </a:t>
                      </a:r>
                      <a:r>
                        <a:rPr lang="en-US" baseline="0" dirty="0" err="1" smtClean="0"/>
                        <a:t>chữ</a:t>
                      </a:r>
                      <a:r>
                        <a:rPr lang="en-US" baseline="0" dirty="0" smtClean="0"/>
                        <a:t> </a:t>
                      </a:r>
                      <a:r>
                        <a:rPr lang="en-US" baseline="0" dirty="0" err="1" smtClean="0"/>
                        <a:t>số</a:t>
                      </a:r>
                      <a:r>
                        <a:rPr lang="en-US" baseline="0" dirty="0" smtClean="0"/>
                        <a:t> 0 </a:t>
                      </a:r>
                      <a:r>
                        <a:rPr lang="en-US" baseline="0" dirty="0" err="1" smtClean="0"/>
                        <a:t>nằm</a:t>
                      </a:r>
                      <a:r>
                        <a:rPr lang="en-US" baseline="0" dirty="0" smtClean="0"/>
                        <a:t> </a:t>
                      </a:r>
                      <a:r>
                        <a:rPr lang="en-US" baseline="0" dirty="0" err="1" smtClean="0"/>
                        <a:t>giữa</a:t>
                      </a:r>
                      <a:r>
                        <a:rPr lang="en-US" baseline="0" dirty="0" smtClean="0"/>
                        <a:t> 2 </a:t>
                      </a:r>
                      <a:r>
                        <a:rPr lang="en-US" baseline="0" dirty="0" err="1" smtClean="0"/>
                        <a:t>chữ</a:t>
                      </a:r>
                      <a:r>
                        <a:rPr lang="en-US" baseline="0" dirty="0" smtClean="0"/>
                        <a:t> </a:t>
                      </a:r>
                      <a:r>
                        <a:rPr lang="en-US" baseline="0" dirty="0" err="1" smtClean="0"/>
                        <a:t>số</a:t>
                      </a:r>
                      <a:r>
                        <a:rPr lang="en-US" baseline="0" dirty="0" smtClean="0"/>
                        <a:t> </a:t>
                      </a:r>
                      <a:r>
                        <a:rPr lang="en-US" baseline="0" dirty="0" err="1" smtClean="0"/>
                        <a:t>khác</a:t>
                      </a:r>
                      <a:r>
                        <a:rPr lang="en-US" baseline="0" dirty="0" smtClean="0"/>
                        <a:t> 0 </a:t>
                      </a:r>
                      <a:r>
                        <a:rPr lang="en-US" baseline="0" dirty="0" err="1" smtClean="0"/>
                        <a:t>đều</a:t>
                      </a:r>
                      <a:r>
                        <a:rPr lang="en-US" baseline="0" dirty="0" smtClean="0"/>
                        <a:t> </a:t>
                      </a:r>
                      <a:r>
                        <a:rPr lang="en-US" baseline="0" dirty="0" err="1" smtClean="0"/>
                        <a:t>có</a:t>
                      </a:r>
                      <a:r>
                        <a:rPr lang="en-US" baseline="0" dirty="0" smtClean="0"/>
                        <a:t> </a:t>
                      </a:r>
                      <a:r>
                        <a:rPr lang="en-US" baseline="0" dirty="0" err="1" smtClean="0"/>
                        <a:t>nghĩa</a:t>
                      </a:r>
                      <a:endParaRPr lang="en-US" dirty="0"/>
                    </a:p>
                  </a:txBody>
                  <a:tcPr/>
                </a:tc>
                <a:tc>
                  <a:txBody>
                    <a:bodyPr/>
                    <a:lstStyle/>
                    <a:p>
                      <a:pPr algn="ctr"/>
                      <a:r>
                        <a:rPr lang="en-US" dirty="0" smtClean="0"/>
                        <a:t>100.05</a:t>
                      </a:r>
                      <a:endParaRPr lang="en-US" dirty="0"/>
                    </a:p>
                  </a:txBody>
                  <a:tcPr/>
                </a:tc>
                <a:tc>
                  <a:txBody>
                    <a:bodyPr/>
                    <a:lstStyle/>
                    <a:p>
                      <a:pPr algn="ctr"/>
                      <a:r>
                        <a:rPr lang="en-US" dirty="0" smtClean="0"/>
                        <a:t>5</a:t>
                      </a:r>
                      <a:endParaRPr lang="en-US" dirty="0"/>
                    </a:p>
                  </a:txBody>
                  <a:tcPr/>
                </a:tc>
              </a:tr>
              <a:tr h="773280">
                <a:tc>
                  <a:txBody>
                    <a:bodyPr/>
                    <a:lstStyle/>
                    <a:p>
                      <a:r>
                        <a:rPr lang="en-US" dirty="0" err="1" smtClean="0"/>
                        <a:t>Các</a:t>
                      </a:r>
                      <a:r>
                        <a:rPr lang="en-US" baseline="0" dirty="0" smtClean="0"/>
                        <a:t> </a:t>
                      </a:r>
                      <a:r>
                        <a:rPr lang="en-US" baseline="0" dirty="0" err="1" smtClean="0"/>
                        <a:t>chữ</a:t>
                      </a:r>
                      <a:r>
                        <a:rPr lang="en-US" baseline="0" dirty="0" smtClean="0"/>
                        <a:t> </a:t>
                      </a:r>
                      <a:r>
                        <a:rPr lang="en-US" baseline="0" dirty="0" err="1" smtClean="0"/>
                        <a:t>số</a:t>
                      </a:r>
                      <a:r>
                        <a:rPr lang="en-US" baseline="0" dirty="0" smtClean="0"/>
                        <a:t> 0 ở </a:t>
                      </a:r>
                      <a:r>
                        <a:rPr lang="en-US" baseline="0" dirty="0" err="1" smtClean="0"/>
                        <a:t>đầu</a:t>
                      </a:r>
                      <a:r>
                        <a:rPr lang="en-US" baseline="0" dirty="0" smtClean="0"/>
                        <a:t> (</a:t>
                      </a:r>
                      <a:r>
                        <a:rPr lang="en-US" baseline="0" dirty="0" err="1" smtClean="0"/>
                        <a:t>dùng</a:t>
                      </a:r>
                      <a:r>
                        <a:rPr lang="en-US" baseline="0" dirty="0" smtClean="0"/>
                        <a:t> </a:t>
                      </a:r>
                      <a:r>
                        <a:rPr lang="en-US" baseline="0" dirty="0" err="1" smtClean="0"/>
                        <a:t>để</a:t>
                      </a:r>
                      <a:r>
                        <a:rPr lang="en-US" baseline="0" dirty="0" smtClean="0"/>
                        <a:t> </a:t>
                      </a:r>
                      <a:r>
                        <a:rPr lang="en-US" baseline="0" dirty="0" err="1" smtClean="0"/>
                        <a:t>đặt</a:t>
                      </a:r>
                      <a:r>
                        <a:rPr lang="en-US" baseline="0" dirty="0" smtClean="0"/>
                        <a:t> </a:t>
                      </a:r>
                      <a:r>
                        <a:rPr lang="en-US" baseline="0" dirty="0" err="1" smtClean="0"/>
                        <a:t>vị</a:t>
                      </a:r>
                      <a:r>
                        <a:rPr lang="en-US" baseline="0" dirty="0" smtClean="0"/>
                        <a:t> </a:t>
                      </a:r>
                      <a:r>
                        <a:rPr lang="en-US" baseline="0" dirty="0" err="1" smtClean="0"/>
                        <a:t>trí</a:t>
                      </a:r>
                      <a:r>
                        <a:rPr lang="en-US" baseline="0" dirty="0" smtClean="0"/>
                        <a:t> </a:t>
                      </a:r>
                      <a:r>
                        <a:rPr lang="en-US" baseline="0" dirty="0" err="1" smtClean="0"/>
                        <a:t>dấu</a:t>
                      </a:r>
                      <a:r>
                        <a:rPr lang="en-US" baseline="0" dirty="0" smtClean="0"/>
                        <a:t> </a:t>
                      </a:r>
                      <a:r>
                        <a:rPr lang="en-US" baseline="0" dirty="0" err="1" smtClean="0"/>
                        <a:t>phẩy</a:t>
                      </a:r>
                      <a:r>
                        <a:rPr lang="en-US" baseline="0" dirty="0" smtClean="0"/>
                        <a:t>) </a:t>
                      </a:r>
                      <a:r>
                        <a:rPr lang="en-US" baseline="0" dirty="0" err="1" smtClean="0"/>
                        <a:t>không</a:t>
                      </a:r>
                      <a:r>
                        <a:rPr lang="en-US" baseline="0" dirty="0" smtClean="0"/>
                        <a:t> </a:t>
                      </a:r>
                      <a:r>
                        <a:rPr lang="en-US" baseline="0" dirty="0" err="1" smtClean="0"/>
                        <a:t>có</a:t>
                      </a:r>
                      <a:r>
                        <a:rPr lang="en-US" baseline="0" dirty="0" smtClean="0"/>
                        <a:t> </a:t>
                      </a:r>
                      <a:r>
                        <a:rPr lang="en-US" baseline="0" dirty="0" err="1" smtClean="0"/>
                        <a:t>nghĩa</a:t>
                      </a:r>
                      <a:endParaRPr lang="en-US" dirty="0"/>
                    </a:p>
                  </a:txBody>
                  <a:tcPr/>
                </a:tc>
                <a:tc>
                  <a:txBody>
                    <a:bodyPr/>
                    <a:lstStyle/>
                    <a:p>
                      <a:pPr algn="ctr"/>
                      <a:r>
                        <a:rPr lang="en-US" dirty="0" smtClean="0"/>
                        <a:t>0.0025</a:t>
                      </a:r>
                      <a:endParaRPr lang="en-US" dirty="0"/>
                    </a:p>
                  </a:txBody>
                  <a:tcPr/>
                </a:tc>
                <a:tc>
                  <a:txBody>
                    <a:bodyPr/>
                    <a:lstStyle/>
                    <a:p>
                      <a:pPr algn="ctr"/>
                      <a:r>
                        <a:rPr lang="en-US" dirty="0" smtClean="0"/>
                        <a:t>2</a:t>
                      </a:r>
                      <a:endParaRPr lang="en-US" dirty="0"/>
                    </a:p>
                  </a:txBody>
                  <a:tcPr/>
                </a:tc>
              </a:tr>
              <a:tr h="773280">
                <a:tc>
                  <a:txBody>
                    <a:bodyPr/>
                    <a:lstStyle/>
                    <a:p>
                      <a:r>
                        <a:rPr lang="en-US" dirty="0" err="1" smtClean="0"/>
                        <a:t>Các</a:t>
                      </a:r>
                      <a:r>
                        <a:rPr lang="en-US" baseline="0" dirty="0" smtClean="0"/>
                        <a:t> </a:t>
                      </a:r>
                      <a:r>
                        <a:rPr lang="en-US" baseline="0" dirty="0" err="1" smtClean="0"/>
                        <a:t>chữ</a:t>
                      </a:r>
                      <a:r>
                        <a:rPr lang="en-US" baseline="0" dirty="0" smtClean="0"/>
                        <a:t> </a:t>
                      </a:r>
                      <a:r>
                        <a:rPr lang="en-US" baseline="0" dirty="0" err="1" smtClean="0"/>
                        <a:t>số</a:t>
                      </a:r>
                      <a:r>
                        <a:rPr lang="en-US" baseline="0" dirty="0" smtClean="0"/>
                        <a:t> 0 ở </a:t>
                      </a:r>
                      <a:r>
                        <a:rPr lang="en-US" baseline="0" dirty="0" err="1" smtClean="0"/>
                        <a:t>cuối</a:t>
                      </a:r>
                      <a:r>
                        <a:rPr lang="en-US" baseline="0" dirty="0" smtClean="0"/>
                        <a:t> </a:t>
                      </a:r>
                      <a:r>
                        <a:rPr lang="en-US" baseline="0" dirty="0" err="1" smtClean="0"/>
                        <a:t>số</a:t>
                      </a:r>
                      <a:r>
                        <a:rPr lang="en-US" baseline="0" dirty="0" smtClean="0"/>
                        <a:t> </a:t>
                      </a:r>
                      <a:r>
                        <a:rPr lang="en-US" baseline="0" dirty="0" err="1" smtClean="0"/>
                        <a:t>thập</a:t>
                      </a:r>
                      <a:r>
                        <a:rPr lang="en-US" baseline="0" dirty="0" smtClean="0"/>
                        <a:t> </a:t>
                      </a:r>
                      <a:r>
                        <a:rPr lang="en-US" baseline="0" dirty="0" err="1" smtClean="0"/>
                        <a:t>phân</a:t>
                      </a:r>
                      <a:r>
                        <a:rPr lang="en-US" baseline="0" dirty="0" smtClean="0"/>
                        <a:t> </a:t>
                      </a:r>
                      <a:r>
                        <a:rPr lang="en-US" baseline="0" dirty="0" err="1" smtClean="0"/>
                        <a:t>luôn</a:t>
                      </a:r>
                      <a:r>
                        <a:rPr lang="en-US" baseline="0" dirty="0" smtClean="0"/>
                        <a:t> </a:t>
                      </a:r>
                      <a:r>
                        <a:rPr lang="en-US" baseline="0" dirty="0" err="1" smtClean="0"/>
                        <a:t>có</a:t>
                      </a:r>
                      <a:r>
                        <a:rPr lang="en-US" baseline="0" dirty="0" smtClean="0"/>
                        <a:t> </a:t>
                      </a:r>
                      <a:r>
                        <a:rPr lang="en-US" baseline="0" dirty="0" err="1" smtClean="0"/>
                        <a:t>nghĩa</a:t>
                      </a:r>
                      <a:endParaRPr lang="en-US" dirty="0"/>
                    </a:p>
                  </a:txBody>
                  <a:tcPr/>
                </a:tc>
                <a:tc>
                  <a:txBody>
                    <a:bodyPr/>
                    <a:lstStyle/>
                    <a:p>
                      <a:pPr algn="ctr"/>
                      <a:r>
                        <a:rPr lang="en-US" dirty="0" smtClean="0"/>
                        <a:t>45.00</a:t>
                      </a:r>
                      <a:endParaRPr lang="en-US" dirty="0"/>
                    </a:p>
                  </a:txBody>
                  <a:tcPr/>
                </a:tc>
                <a:tc>
                  <a:txBody>
                    <a:bodyPr/>
                    <a:lstStyle/>
                    <a:p>
                      <a:pPr algn="ctr"/>
                      <a:r>
                        <a:rPr lang="en-US" dirty="0" smtClean="0"/>
                        <a:t>4</a:t>
                      </a:r>
                      <a:endParaRPr lang="en-US" dirty="0"/>
                    </a:p>
                  </a:txBody>
                  <a:tcPr/>
                </a:tc>
              </a:tr>
              <a:tr h="773280">
                <a:tc>
                  <a:txBody>
                    <a:bodyPr/>
                    <a:lstStyle/>
                    <a:p>
                      <a:r>
                        <a:rPr lang="en-US" dirty="0" err="1" smtClean="0"/>
                        <a:t>Các</a:t>
                      </a:r>
                      <a:r>
                        <a:rPr lang="en-US" baseline="0" dirty="0" smtClean="0"/>
                        <a:t> </a:t>
                      </a:r>
                      <a:r>
                        <a:rPr lang="en-US" baseline="0" dirty="0" err="1" smtClean="0"/>
                        <a:t>chữ</a:t>
                      </a:r>
                      <a:r>
                        <a:rPr lang="en-US" baseline="0" dirty="0" smtClean="0"/>
                        <a:t> </a:t>
                      </a:r>
                      <a:r>
                        <a:rPr lang="en-US" baseline="0" dirty="0" err="1" smtClean="0"/>
                        <a:t>số</a:t>
                      </a:r>
                      <a:r>
                        <a:rPr lang="en-US" baseline="0" dirty="0" smtClean="0"/>
                        <a:t> 0 ở </a:t>
                      </a:r>
                      <a:r>
                        <a:rPr lang="en-US" baseline="0" dirty="0" err="1" smtClean="0"/>
                        <a:t>cuối</a:t>
                      </a:r>
                      <a:r>
                        <a:rPr lang="en-US" baseline="0" dirty="0" smtClean="0"/>
                        <a:t> </a:t>
                      </a:r>
                      <a:r>
                        <a:rPr lang="en-US" baseline="0" dirty="0" err="1" smtClean="0"/>
                        <a:t>số</a:t>
                      </a:r>
                      <a:r>
                        <a:rPr lang="en-US" baseline="0" dirty="0" smtClean="0"/>
                        <a:t> </a:t>
                      </a:r>
                      <a:r>
                        <a:rPr lang="en-US" baseline="0" dirty="0" err="1" smtClean="0"/>
                        <a:t>nguyên</a:t>
                      </a:r>
                      <a:r>
                        <a:rPr lang="en-US" baseline="0" dirty="0" smtClean="0"/>
                        <a:t> </a:t>
                      </a:r>
                      <a:r>
                        <a:rPr lang="en-US" baseline="0" dirty="0" err="1" smtClean="0"/>
                        <a:t>có</a:t>
                      </a:r>
                      <a:r>
                        <a:rPr lang="en-US" baseline="0" dirty="0" smtClean="0"/>
                        <a:t> </a:t>
                      </a:r>
                      <a:r>
                        <a:rPr lang="en-US" baseline="0" dirty="0" err="1" smtClean="0"/>
                        <a:t>thể</a:t>
                      </a:r>
                      <a:r>
                        <a:rPr lang="en-US" baseline="0" dirty="0" smtClean="0"/>
                        <a:t> </a:t>
                      </a:r>
                      <a:r>
                        <a:rPr lang="en-US" baseline="0" dirty="0" err="1" smtClean="0"/>
                        <a:t>gây</a:t>
                      </a:r>
                      <a:r>
                        <a:rPr lang="en-US" baseline="0" dirty="0" smtClean="0"/>
                        <a:t> </a:t>
                      </a:r>
                      <a:r>
                        <a:rPr lang="en-US" baseline="0" dirty="0" err="1" smtClean="0"/>
                        <a:t>mơ</a:t>
                      </a:r>
                      <a:r>
                        <a:rPr lang="en-US" baseline="0" dirty="0" smtClean="0"/>
                        <a:t> </a:t>
                      </a:r>
                      <a:r>
                        <a:rPr lang="en-US" baseline="0" dirty="0" err="1" smtClean="0"/>
                        <a:t>hồ</a:t>
                      </a:r>
                      <a:endParaRPr lang="en-US" dirty="0"/>
                    </a:p>
                  </a:txBody>
                  <a:tcPr/>
                </a:tc>
                <a:tc>
                  <a:txBody>
                    <a:bodyPr/>
                    <a:lstStyle/>
                    <a:p>
                      <a:pPr algn="ctr"/>
                      <a:r>
                        <a:rPr lang="en-US" dirty="0" smtClean="0"/>
                        <a:t>1200</a:t>
                      </a:r>
                      <a:endParaRPr lang="en-US" dirty="0"/>
                    </a:p>
                  </a:txBody>
                  <a:tcPr/>
                </a:tc>
                <a:tc>
                  <a:txBody>
                    <a:bodyPr/>
                    <a:lstStyle/>
                    <a:p>
                      <a:pPr algn="ctr"/>
                      <a:r>
                        <a:rPr lang="en-US" dirty="0" err="1" smtClean="0"/>
                        <a:t>Có</a:t>
                      </a:r>
                      <a:r>
                        <a:rPr lang="en-US" baseline="0" dirty="0" smtClean="0"/>
                        <a:t> </a:t>
                      </a:r>
                      <a:r>
                        <a:rPr lang="en-US" baseline="0" dirty="0" err="1" smtClean="0"/>
                        <a:t>thể</a:t>
                      </a:r>
                      <a:r>
                        <a:rPr lang="en-US" baseline="0" dirty="0" smtClean="0"/>
                        <a:t> </a:t>
                      </a:r>
                      <a:r>
                        <a:rPr lang="en-US" baseline="0" dirty="0" err="1" smtClean="0"/>
                        <a:t>là</a:t>
                      </a:r>
                      <a:r>
                        <a:rPr lang="en-US" baseline="0" dirty="0" smtClean="0"/>
                        <a:t> 2 </a:t>
                      </a:r>
                      <a:r>
                        <a:rPr lang="en-US" baseline="0" dirty="0" err="1" smtClean="0"/>
                        <a:t>hoặc</a:t>
                      </a:r>
                      <a:r>
                        <a:rPr lang="en-US" baseline="0" dirty="0" smtClean="0"/>
                        <a:t> 3 </a:t>
                      </a:r>
                      <a:r>
                        <a:rPr lang="en-US" baseline="0" dirty="0" err="1" smtClean="0"/>
                        <a:t>hoặc</a:t>
                      </a:r>
                      <a:r>
                        <a:rPr lang="en-US" baseline="0" dirty="0" smtClean="0"/>
                        <a:t> 4</a:t>
                      </a:r>
                      <a:endParaRPr lang="en-US" dirty="0"/>
                    </a:p>
                  </a:txBody>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Số</a:t>
            </a:r>
            <a:r>
              <a:rPr lang="en-US" dirty="0" smtClean="0"/>
              <a:t> 1200 </a:t>
            </a:r>
            <a:r>
              <a:rPr lang="en-US" dirty="0" err="1" smtClean="0"/>
              <a:t>có</a:t>
            </a:r>
            <a:r>
              <a:rPr lang="en-US" dirty="0" smtClean="0"/>
              <a:t> </a:t>
            </a:r>
            <a:r>
              <a:rPr lang="en-US" dirty="0" err="1" smtClean="0"/>
              <a:t>thể</a:t>
            </a:r>
            <a:r>
              <a:rPr lang="en-US" dirty="0" smtClean="0"/>
              <a:t> </a:t>
            </a:r>
            <a:r>
              <a:rPr lang="en-US" dirty="0" err="1" smtClean="0"/>
              <a:t>có</a:t>
            </a:r>
            <a:r>
              <a:rPr lang="en-US" dirty="0" smtClean="0"/>
              <a:t> 2, 3, </a:t>
            </a:r>
            <a:r>
              <a:rPr lang="en-US" dirty="0" err="1" smtClean="0"/>
              <a:t>hoặc</a:t>
            </a:r>
            <a:r>
              <a:rPr lang="en-US" dirty="0" smtClean="0"/>
              <a:t> 4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 </a:t>
            </a:r>
            <a:r>
              <a:rPr lang="en-US" dirty="0" err="1" smtClean="0"/>
              <a:t>tùy</a:t>
            </a:r>
            <a:r>
              <a:rPr lang="en-US" dirty="0" smtClean="0"/>
              <a:t> </a:t>
            </a:r>
            <a:r>
              <a:rPr lang="en-US" dirty="0" err="1" smtClean="0"/>
              <a:t>thuộc</a:t>
            </a:r>
            <a:r>
              <a:rPr lang="en-US" dirty="0" smtClean="0"/>
              <a:t> </a:t>
            </a:r>
            <a:r>
              <a:rPr lang="en-US" dirty="0" err="1" smtClean="0"/>
              <a:t>vào</a:t>
            </a:r>
            <a:r>
              <a:rPr lang="en-US" dirty="0" smtClean="0"/>
              <a:t> </a:t>
            </a:r>
            <a:r>
              <a:rPr lang="en-US" dirty="0" err="1" smtClean="0"/>
              <a:t>việc</a:t>
            </a:r>
            <a:r>
              <a:rPr lang="en-US" dirty="0" smtClean="0"/>
              <a:t> </a:t>
            </a:r>
            <a:r>
              <a:rPr lang="en-US" dirty="0" err="1" smtClean="0"/>
              <a:t>các</a:t>
            </a:r>
            <a:r>
              <a:rPr lang="en-US" dirty="0" smtClean="0"/>
              <a:t> </a:t>
            </a:r>
            <a:r>
              <a:rPr lang="en-US" dirty="0" err="1" smtClean="0"/>
              <a:t>số</a:t>
            </a:r>
            <a:r>
              <a:rPr lang="en-US" dirty="0" smtClean="0"/>
              <a:t> 0 </a:t>
            </a:r>
            <a:r>
              <a:rPr lang="en-US" dirty="0" err="1" smtClean="0"/>
              <a:t>có</a:t>
            </a:r>
            <a:r>
              <a:rPr lang="en-US" dirty="0" smtClean="0"/>
              <a:t> </a:t>
            </a:r>
            <a:r>
              <a:rPr lang="en-US" dirty="0" err="1" smtClean="0"/>
              <a:t>được</a:t>
            </a:r>
            <a:r>
              <a:rPr lang="en-US" dirty="0" smtClean="0"/>
              <a:t> </a:t>
            </a:r>
            <a:r>
              <a:rPr lang="en-US" dirty="0" err="1" smtClean="0"/>
              <a:t>xác</a:t>
            </a:r>
            <a:r>
              <a:rPr lang="en-US" dirty="0" smtClean="0"/>
              <a:t> </a:t>
            </a:r>
            <a:r>
              <a:rPr lang="en-US" dirty="0" err="1" smtClean="0"/>
              <a:t>định</a:t>
            </a:r>
            <a:r>
              <a:rPr lang="en-US" dirty="0" smtClean="0"/>
              <a:t> </a:t>
            </a:r>
            <a:r>
              <a:rPr lang="en-US" dirty="0" err="1" smtClean="0"/>
              <a:t>một</a:t>
            </a:r>
            <a:r>
              <a:rPr lang="en-US" dirty="0" smtClean="0"/>
              <a:t> </a:t>
            </a:r>
            <a:r>
              <a:rPr lang="en-US" dirty="0" err="1" smtClean="0"/>
              <a:t>cách</a:t>
            </a:r>
            <a:r>
              <a:rPr lang="en-US" dirty="0" smtClean="0"/>
              <a:t> </a:t>
            </a:r>
            <a:r>
              <a:rPr lang="en-US" dirty="0" err="1" smtClean="0"/>
              <a:t>đáng</a:t>
            </a:r>
            <a:r>
              <a:rPr lang="en-US" dirty="0" smtClean="0"/>
              <a:t> tin </a:t>
            </a:r>
            <a:r>
              <a:rPr lang="en-US" dirty="0" err="1" smtClean="0"/>
              <a:t>cậy</a:t>
            </a:r>
            <a:r>
              <a:rPr lang="en-US" dirty="0" smtClean="0"/>
              <a:t> hay </a:t>
            </a:r>
            <a:r>
              <a:rPr lang="en-US" dirty="0" err="1" smtClean="0"/>
              <a:t>không</a:t>
            </a:r>
            <a:r>
              <a:rPr lang="en-US" dirty="0" smtClean="0"/>
              <a:t>. </a:t>
            </a:r>
            <a:r>
              <a:rPr lang="en-US" dirty="0" err="1" smtClean="0"/>
              <a:t>Sự</a:t>
            </a:r>
            <a:r>
              <a:rPr lang="en-US" dirty="0" smtClean="0"/>
              <a:t> </a:t>
            </a:r>
            <a:r>
              <a:rPr lang="en-US" dirty="0" err="1" smtClean="0"/>
              <a:t>mơ</a:t>
            </a:r>
            <a:r>
              <a:rPr lang="en-US" dirty="0" smtClean="0"/>
              <a:t> </a:t>
            </a:r>
            <a:r>
              <a:rPr lang="en-US" dirty="0" err="1" smtClean="0"/>
              <a:t>hồ</a:t>
            </a:r>
            <a:r>
              <a:rPr lang="en-US" dirty="0" smtClean="0"/>
              <a:t> </a:t>
            </a:r>
            <a:r>
              <a:rPr lang="en-US" dirty="0" err="1" smtClean="0"/>
              <a:t>này</a:t>
            </a:r>
            <a:r>
              <a:rPr lang="en-US" dirty="0" smtClean="0"/>
              <a:t> </a:t>
            </a:r>
            <a:r>
              <a:rPr lang="en-US" dirty="0" err="1" smtClean="0"/>
              <a:t>có</a:t>
            </a:r>
            <a:r>
              <a:rPr lang="en-US" dirty="0" smtClean="0"/>
              <a:t> </a:t>
            </a:r>
            <a:r>
              <a:rPr lang="en-US" dirty="0" err="1" smtClean="0"/>
              <a:t>thể</a:t>
            </a:r>
            <a:r>
              <a:rPr lang="en-US" dirty="0" smtClean="0"/>
              <a:t> </a:t>
            </a:r>
            <a:r>
              <a:rPr lang="en-US" dirty="0" err="1" smtClean="0"/>
              <a:t>được</a:t>
            </a:r>
            <a:r>
              <a:rPr lang="en-US" dirty="0" smtClean="0"/>
              <a:t> </a:t>
            </a:r>
            <a:r>
              <a:rPr lang="en-US" dirty="0" err="1" smtClean="0"/>
              <a:t>giải</a:t>
            </a:r>
            <a:r>
              <a:rPr lang="en-US" dirty="0" smtClean="0"/>
              <a:t> </a:t>
            </a:r>
            <a:r>
              <a:rPr lang="en-US" dirty="0" err="1" smtClean="0"/>
              <a:t>quyết</a:t>
            </a:r>
            <a:r>
              <a:rPr lang="en-US" dirty="0" smtClean="0"/>
              <a:t> </a:t>
            </a:r>
            <a:r>
              <a:rPr lang="en-US" dirty="0" err="1" smtClean="0"/>
              <a:t>bằng</a:t>
            </a:r>
            <a:r>
              <a:rPr lang="en-US" dirty="0" smtClean="0"/>
              <a:t> </a:t>
            </a:r>
            <a:r>
              <a:rPr lang="en-US" dirty="0" err="1" smtClean="0"/>
              <a:t>cách</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kí</a:t>
            </a:r>
            <a:r>
              <a:rPr lang="en-US" dirty="0" smtClean="0"/>
              <a:t> </a:t>
            </a:r>
            <a:r>
              <a:rPr lang="en-US" dirty="0" err="1" smtClean="0"/>
              <a:t>hiệu</a:t>
            </a:r>
            <a:r>
              <a:rPr lang="en-US" dirty="0"/>
              <a:t> </a:t>
            </a:r>
            <a:r>
              <a:rPr lang="en-US" dirty="0" err="1" smtClean="0"/>
              <a:t>dạng</a:t>
            </a:r>
            <a:r>
              <a:rPr lang="en-US" dirty="0" smtClean="0"/>
              <a:t> </a:t>
            </a:r>
            <a:r>
              <a:rPr lang="en-US" dirty="0" err="1" smtClean="0"/>
              <a:t>khoa</a:t>
            </a:r>
            <a:r>
              <a:rPr lang="en-US" dirty="0" smtClean="0"/>
              <a:t> </a:t>
            </a:r>
            <a:r>
              <a:rPr lang="en-US" dirty="0" err="1" smtClean="0"/>
              <a:t>học</a:t>
            </a:r>
            <a:r>
              <a:rPr lang="en-US" dirty="0" smtClean="0"/>
              <a:t> (</a:t>
            </a:r>
            <a:r>
              <a:rPr lang="en-US" smtClean="0"/>
              <a:t>scientific notation) 1.2×10</a:t>
            </a:r>
            <a:r>
              <a:rPr lang="en-US" baseline="30000" smtClean="0"/>
              <a:t>3</a:t>
            </a:r>
            <a:r>
              <a:rPr lang="en-US" smtClean="0"/>
              <a:t>, 1.20×10</a:t>
            </a:r>
            <a:r>
              <a:rPr lang="en-US" baseline="30000" smtClean="0"/>
              <a:t>3</a:t>
            </a:r>
            <a:r>
              <a:rPr lang="en-US" smtClean="0"/>
              <a:t>, 1.200×10</a:t>
            </a:r>
            <a:r>
              <a:rPr lang="en-US" baseline="30000" smtClean="0"/>
              <a:t>3</a:t>
            </a:r>
            <a:r>
              <a:rPr lang="en-US" smtClean="0"/>
              <a:t> sẽ có tương ứng 2, 3, 4 chữ số có nghĩa.</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4572"/>
            <a:ext cx="10515600" cy="5642391"/>
          </a:xfrm>
        </p:spPr>
        <p:txBody>
          <a:bodyPr>
            <a:normAutofit/>
          </a:bodyPr>
          <a:lstStyle/>
          <a:p>
            <a:pPr marL="0" indent="0" algn="just">
              <a:lnSpc>
                <a:spcPct val="150000"/>
              </a:lnSpc>
              <a:buNone/>
            </a:pPr>
            <a:r>
              <a:rPr lang="en-US" dirty="0" err="1" smtClean="0"/>
              <a:t>Khái</a:t>
            </a:r>
            <a:r>
              <a:rPr lang="en-US" dirty="0" smtClean="0"/>
              <a:t> </a:t>
            </a:r>
            <a:r>
              <a:rPr lang="en-US" dirty="0" err="1" smtClean="0"/>
              <a:t>niệm</a:t>
            </a:r>
            <a:r>
              <a:rPr lang="en-US" dirty="0" smtClean="0"/>
              <a:t>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 </a:t>
            </a:r>
            <a:r>
              <a:rPr lang="en-US" dirty="0" err="1" smtClean="0"/>
              <a:t>có</a:t>
            </a:r>
            <a:r>
              <a:rPr lang="en-US" dirty="0" smtClean="0"/>
              <a:t> 2 </a:t>
            </a:r>
            <a:r>
              <a:rPr lang="en-US" dirty="0" err="1" smtClean="0"/>
              <a:t>vai</a:t>
            </a:r>
            <a:r>
              <a:rPr lang="en-US" dirty="0" smtClean="0"/>
              <a:t> </a:t>
            </a:r>
            <a:r>
              <a:rPr lang="en-US" dirty="0" err="1" smtClean="0"/>
              <a:t>trò</a:t>
            </a:r>
            <a:r>
              <a:rPr lang="en-US" dirty="0" smtClean="0"/>
              <a:t> </a:t>
            </a:r>
            <a:r>
              <a:rPr lang="en-US" dirty="0" err="1" smtClean="0"/>
              <a:t>quan</a:t>
            </a:r>
            <a:r>
              <a:rPr lang="en-US" dirty="0" smtClean="0"/>
              <a:t> </a:t>
            </a:r>
            <a:r>
              <a:rPr lang="en-US" dirty="0" err="1" smtClean="0"/>
              <a:t>trọng</a:t>
            </a:r>
            <a:r>
              <a:rPr lang="en-US" dirty="0" smtClean="0"/>
              <a:t> </a:t>
            </a:r>
            <a:r>
              <a:rPr lang="en-US" dirty="0" err="1" smtClean="0"/>
              <a:t>đối</a:t>
            </a:r>
            <a:r>
              <a:rPr lang="en-US" dirty="0" smtClean="0"/>
              <a:t> </a:t>
            </a:r>
            <a:r>
              <a:rPr lang="en-US" dirty="0" err="1" smtClean="0"/>
              <a:t>với</a:t>
            </a:r>
            <a:r>
              <a:rPr lang="en-US" dirty="0" smtClean="0"/>
              <a:t> </a:t>
            </a:r>
            <a:r>
              <a:rPr lang="en-US" dirty="0" err="1" smtClean="0"/>
              <a:t>việc</a:t>
            </a:r>
            <a:r>
              <a:rPr lang="en-US" dirty="0" smtClean="0"/>
              <a:t> </a:t>
            </a:r>
            <a:r>
              <a:rPr lang="en-US" dirty="0" err="1" smtClean="0"/>
              <a:t>nghiên</a:t>
            </a:r>
            <a:r>
              <a:rPr lang="en-US" dirty="0" smtClean="0"/>
              <a:t> </a:t>
            </a:r>
            <a:r>
              <a:rPr lang="en-US" dirty="0" err="1" smtClean="0"/>
              <a:t>cứu</a:t>
            </a:r>
            <a:r>
              <a:rPr lang="en-US" dirty="0" smtClean="0"/>
              <a:t> </a:t>
            </a:r>
            <a:r>
              <a:rPr lang="en-US" dirty="0" err="1" smtClean="0"/>
              <a:t>các</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số</a:t>
            </a:r>
            <a:r>
              <a:rPr lang="en-US" dirty="0" smtClean="0"/>
              <a:t>:</a:t>
            </a:r>
            <a:endParaRPr lang="en-US" dirty="0" smtClean="0"/>
          </a:p>
          <a:p>
            <a:pPr marL="514350" indent="-514350" algn="just">
              <a:lnSpc>
                <a:spcPct val="150000"/>
              </a:lnSpc>
              <a:buAutoNum type="arabicPeriod"/>
            </a:pPr>
            <a:r>
              <a:rPr lang="en-US" dirty="0" err="1" smtClean="0"/>
              <a:t>Giúp</a:t>
            </a:r>
            <a:r>
              <a:rPr lang="en-US" dirty="0" smtClean="0"/>
              <a:t> </a:t>
            </a:r>
            <a:r>
              <a:rPr lang="en-US" dirty="0" err="1" smtClean="0"/>
              <a:t>xác</a:t>
            </a:r>
            <a:r>
              <a:rPr lang="en-US" dirty="0" smtClean="0"/>
              <a:t> </a:t>
            </a:r>
            <a:r>
              <a:rPr lang="en-US" dirty="0" err="1" smtClean="0"/>
              <a:t>định</a:t>
            </a:r>
            <a:r>
              <a:rPr lang="en-US" dirty="0" smtClean="0"/>
              <a:t> </a:t>
            </a:r>
            <a:r>
              <a:rPr lang="en-US" dirty="0" err="1" smtClean="0"/>
              <a:t>mức</a:t>
            </a:r>
            <a:r>
              <a:rPr lang="en-US" dirty="0" smtClean="0"/>
              <a:t> </a:t>
            </a:r>
            <a:r>
              <a:rPr lang="en-US" dirty="0" err="1" smtClean="0"/>
              <a:t>độ</a:t>
            </a:r>
            <a:r>
              <a:rPr lang="en-US" dirty="0" smtClean="0"/>
              <a:t> tin </a:t>
            </a:r>
            <a:r>
              <a:rPr lang="en-US" dirty="0" err="1" smtClean="0"/>
              <a:t>cậy</a:t>
            </a:r>
            <a:r>
              <a:rPr lang="en-US" dirty="0" smtClean="0"/>
              <a:t> </a:t>
            </a:r>
            <a:r>
              <a:rPr lang="en-US" dirty="0" err="1" smtClean="0"/>
              <a:t>của</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xấp</a:t>
            </a:r>
            <a:r>
              <a:rPr lang="en-US" dirty="0" smtClean="0"/>
              <a:t> </a:t>
            </a:r>
            <a:r>
              <a:rPr lang="en-US" dirty="0" err="1" smtClean="0"/>
              <a:t>xỉ</a:t>
            </a:r>
            <a:r>
              <a:rPr lang="en-US" dirty="0" smtClean="0"/>
              <a:t>. </a:t>
            </a:r>
            <a:r>
              <a:rPr lang="en-US" dirty="0" err="1" smtClean="0"/>
              <a:t>Ví</a:t>
            </a:r>
            <a:r>
              <a:rPr lang="en-US" dirty="0" smtClean="0"/>
              <a:t> </a:t>
            </a:r>
            <a:r>
              <a:rPr lang="en-US" dirty="0" err="1" smtClean="0"/>
              <a:t>dụ</a:t>
            </a:r>
            <a:r>
              <a:rPr lang="en-US" dirty="0" smtClean="0"/>
              <a:t>: </a:t>
            </a:r>
            <a:r>
              <a:rPr lang="vi-VN" dirty="0" smtClean="0">
                <a:latin typeface="Calibri" panose="020F0502020204030204" charset="0"/>
                <a:ea typeface="Calibri" panose="020F0502020204030204" charset="0"/>
                <a:cs typeface="Calibri" panose="020F0502020204030204" charset="0"/>
              </a:rPr>
              <a:t>3.142 </a:t>
            </a:r>
            <a:r>
              <a:rPr lang="vi-VN" dirty="0">
                <a:latin typeface="Calibri" panose="020F0502020204030204" charset="0"/>
                <a:ea typeface="Calibri" panose="020F0502020204030204" charset="0"/>
                <a:cs typeface="Calibri" panose="020F0502020204030204" charset="0"/>
              </a:rPr>
              <a:t>và 3.14 đều là xấp xỉ của </a:t>
            </a:r>
            <a:r>
              <a:rPr lang="el-GR" dirty="0">
                <a:latin typeface="Calibri" panose="020F0502020204030204" charset="0"/>
                <a:ea typeface="Calibri" panose="020F0502020204030204" charset="0"/>
                <a:cs typeface="Calibri" panose="020F0502020204030204" charset="0"/>
              </a:rPr>
              <a:t>π, </a:t>
            </a:r>
            <a:r>
              <a:rPr lang="vi-VN" dirty="0">
                <a:latin typeface="Calibri" panose="020F0502020204030204" charset="0"/>
                <a:ea typeface="Calibri" panose="020F0502020204030204" charset="0"/>
                <a:cs typeface="Calibri" panose="020F0502020204030204" charset="0"/>
              </a:rPr>
              <a:t>nhưng 3.142 có nhiều chữ số có nghĩa hơn, nên chính xác hơn</a:t>
            </a:r>
            <a:r>
              <a:rPr lang="vi-VN" dirty="0" smtClean="0"/>
              <a:t>.</a:t>
            </a:r>
            <a:endParaRPr lang="en-US" dirty="0" smtClean="0"/>
          </a:p>
          <a:p>
            <a:pPr marL="514350" indent="-514350" algn="just">
              <a:lnSpc>
                <a:spcPct val="150000"/>
              </a:lnSpc>
              <a:buAutoNum type="arabicPeriod"/>
            </a:pPr>
            <a:r>
              <a:rPr lang="en-US" dirty="0" err="1" smtClean="0"/>
              <a:t>Vì</a:t>
            </a:r>
            <a:r>
              <a:rPr lang="en-US" dirty="0" smtClean="0"/>
              <a:t> </a:t>
            </a:r>
            <a:r>
              <a:rPr lang="en-US" dirty="0" err="1" smtClean="0"/>
              <a:t>máy</a:t>
            </a:r>
            <a:r>
              <a:rPr lang="en-US" dirty="0" smtClean="0"/>
              <a:t> </a:t>
            </a:r>
            <a:r>
              <a:rPr lang="en-US" dirty="0" err="1" smtClean="0"/>
              <a:t>tính</a:t>
            </a:r>
            <a:r>
              <a:rPr lang="en-US" dirty="0" smtClean="0"/>
              <a:t> </a:t>
            </a:r>
            <a:r>
              <a:rPr lang="en-US" dirty="0" err="1" smtClean="0"/>
              <a:t>chỉ</a:t>
            </a:r>
            <a:r>
              <a:rPr lang="en-US" dirty="0" smtClean="0"/>
              <a:t> </a:t>
            </a:r>
            <a:r>
              <a:rPr lang="en-US" dirty="0" err="1" smtClean="0"/>
              <a:t>lưu</a:t>
            </a:r>
            <a:r>
              <a:rPr lang="en-US" dirty="0" smtClean="0"/>
              <a:t> </a:t>
            </a:r>
            <a:r>
              <a:rPr lang="en-US" dirty="0" err="1" smtClean="0"/>
              <a:t>được</a:t>
            </a:r>
            <a:r>
              <a:rPr lang="en-US" dirty="0" smtClean="0"/>
              <a:t> </a:t>
            </a:r>
            <a:r>
              <a:rPr lang="en-US" dirty="0" err="1" smtClean="0"/>
              <a:t>hữu</a:t>
            </a:r>
            <a:r>
              <a:rPr lang="en-US" dirty="0" smtClean="0"/>
              <a:t> </a:t>
            </a:r>
            <a:r>
              <a:rPr lang="en-US" dirty="0" err="1" smtClean="0"/>
              <a:t>hạn</a:t>
            </a:r>
            <a:r>
              <a:rPr lang="en-US" dirty="0" smtClean="0"/>
              <a:t> </a:t>
            </a:r>
            <a:r>
              <a:rPr lang="en-US" dirty="0" err="1" smtClean="0"/>
              <a:t>các</a:t>
            </a:r>
            <a:r>
              <a:rPr lang="en-US" dirty="0" smtClean="0"/>
              <a:t> </a:t>
            </a:r>
            <a:r>
              <a:rPr lang="en-US" dirty="0" err="1" smtClean="0"/>
              <a:t>chữ</a:t>
            </a:r>
            <a:r>
              <a:rPr lang="en-US" dirty="0" smtClean="0"/>
              <a:t> </a:t>
            </a:r>
            <a:r>
              <a:rPr lang="en-US" dirty="0" err="1" smtClean="0"/>
              <a:t>số</a:t>
            </a:r>
            <a:r>
              <a:rPr lang="en-US" dirty="0" smtClean="0"/>
              <a:t>, </a:t>
            </a:r>
            <a:r>
              <a:rPr lang="en-US" dirty="0" err="1" smtClean="0"/>
              <a:t>dẫn</a:t>
            </a:r>
            <a:r>
              <a:rPr lang="en-US" dirty="0" smtClean="0"/>
              <a:t> </a:t>
            </a:r>
            <a:r>
              <a:rPr lang="en-US" dirty="0" err="1" smtClean="0"/>
              <a:t>tới</a:t>
            </a:r>
            <a:r>
              <a:rPr lang="en-US" dirty="0" smtClean="0"/>
              <a:t> </a:t>
            </a:r>
            <a:r>
              <a:rPr lang="en-US" dirty="0" err="1" smtClean="0"/>
              <a:t>việc</a:t>
            </a:r>
            <a:r>
              <a:rPr lang="en-US" dirty="0" smtClean="0"/>
              <a:t> </a:t>
            </a:r>
            <a:r>
              <a:rPr lang="en-US" dirty="0" err="1" smtClean="0"/>
              <a:t>bỏ</a:t>
            </a:r>
            <a:r>
              <a:rPr lang="en-US" dirty="0" smtClean="0"/>
              <a:t> qua </a:t>
            </a:r>
            <a:r>
              <a:rPr lang="en-US" dirty="0" err="1" smtClean="0"/>
              <a:t>các</a:t>
            </a:r>
            <a:r>
              <a:rPr lang="en-US" dirty="0" smtClean="0"/>
              <a:t>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 </a:t>
            </a:r>
            <a:r>
              <a:rPr lang="en-US" dirty="0" err="1" smtClean="0"/>
              <a:t>khác</a:t>
            </a:r>
            <a:r>
              <a:rPr lang="en-US" dirty="0" smtClean="0"/>
              <a:t>, </a:t>
            </a:r>
            <a:r>
              <a:rPr lang="en-US" dirty="0" err="1" smtClean="0"/>
              <a:t>việc</a:t>
            </a:r>
            <a:r>
              <a:rPr lang="en-US" dirty="0" smtClean="0"/>
              <a:t> </a:t>
            </a:r>
            <a:r>
              <a:rPr lang="en-US" dirty="0" err="1" smtClean="0"/>
              <a:t>này</a:t>
            </a:r>
            <a:r>
              <a:rPr lang="en-US" dirty="0" smtClean="0"/>
              <a:t> </a:t>
            </a:r>
            <a:r>
              <a:rPr lang="en-US" dirty="0" err="1" smtClean="0"/>
              <a:t>gây</a:t>
            </a:r>
            <a:r>
              <a:rPr lang="en-US" dirty="0" smtClean="0"/>
              <a:t> </a:t>
            </a:r>
            <a:r>
              <a:rPr lang="en-US" dirty="0" err="1" smtClean="0"/>
              <a:t>ra</a:t>
            </a:r>
            <a:r>
              <a:rPr lang="en-US" dirty="0" smtClean="0"/>
              <a:t> </a:t>
            </a:r>
            <a:r>
              <a:rPr lang="en-US" dirty="0" err="1" smtClean="0"/>
              <a:t>sai</a:t>
            </a:r>
            <a:r>
              <a:rPr lang="en-US" dirty="0" smtClean="0"/>
              <a:t> </a:t>
            </a:r>
            <a:r>
              <a:rPr lang="en-US" dirty="0" err="1" smtClean="0"/>
              <a:t>số</a:t>
            </a:r>
            <a:r>
              <a:rPr lang="en-US" dirty="0" smtClean="0"/>
              <a:t> </a:t>
            </a:r>
            <a:r>
              <a:rPr lang="en-US" dirty="0" err="1" smtClean="0"/>
              <a:t>làm</a:t>
            </a:r>
            <a:r>
              <a:rPr lang="en-US" dirty="0" smtClean="0"/>
              <a:t> </a:t>
            </a:r>
            <a:r>
              <a:rPr lang="en-US" dirty="0" err="1" smtClean="0"/>
              <a:t>tròn</a:t>
            </a:r>
            <a:r>
              <a:rPr lang="en-US" dirty="0" smtClean="0"/>
              <a:t>.</a:t>
            </a:r>
            <a:endParaRPr lang="en-US" dirty="0" smtClean="0"/>
          </a:p>
          <a:p>
            <a:pPr marL="514350" indent="-514350" algn="just">
              <a:lnSpc>
                <a:spcPct val="150000"/>
              </a:lnSpc>
              <a:buAutoNum type="arabicPeriod"/>
            </a:pPr>
            <a:endParaRPr lang="en-US" dirty="0">
              <a:latin typeface="+mj-l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0719"/>
            <a:ext cx="10515600" cy="1325563"/>
          </a:xfrm>
        </p:spPr>
        <p:txBody>
          <a:bodyPr>
            <a:normAutofit/>
          </a:bodyPr>
          <a:lstStyle/>
          <a:p>
            <a:r>
              <a:rPr lang="en-US" b="1" u="sng" dirty="0">
                <a:solidFill>
                  <a:srgbClr val="0070C0"/>
                </a:solidFill>
              </a:rPr>
              <a:t>II. </a:t>
            </a:r>
            <a:r>
              <a:rPr lang="en-US" b="1" u="sng" dirty="0" err="1" smtClean="0">
                <a:solidFill>
                  <a:srgbClr val="0070C0"/>
                </a:solidFill>
              </a:rPr>
              <a:t>Độ</a:t>
            </a:r>
            <a:r>
              <a:rPr lang="en-US" b="1" u="sng" dirty="0" smtClean="0">
                <a:solidFill>
                  <a:srgbClr val="0070C0"/>
                </a:solidFill>
              </a:rPr>
              <a:t> </a:t>
            </a:r>
            <a:r>
              <a:rPr lang="en-US" b="1" u="sng" dirty="0" err="1" smtClean="0">
                <a:solidFill>
                  <a:srgbClr val="0070C0"/>
                </a:solidFill>
              </a:rPr>
              <a:t>chính</a:t>
            </a:r>
            <a:r>
              <a:rPr lang="en-US" b="1" u="sng" dirty="0" smtClean="0">
                <a:solidFill>
                  <a:srgbClr val="0070C0"/>
                </a:solidFill>
              </a:rPr>
              <a:t> </a:t>
            </a:r>
            <a:r>
              <a:rPr lang="en-US" b="1" u="sng" dirty="0" err="1" smtClean="0">
                <a:solidFill>
                  <a:srgbClr val="0070C0"/>
                </a:solidFill>
              </a:rPr>
              <a:t>xác</a:t>
            </a:r>
            <a:r>
              <a:rPr lang="en-US" b="1" u="sng" dirty="0" smtClean="0">
                <a:solidFill>
                  <a:srgbClr val="0070C0"/>
                </a:solidFill>
              </a:rPr>
              <a:t> </a:t>
            </a:r>
            <a:r>
              <a:rPr lang="en-US" b="1" u="sng" dirty="0" err="1" smtClean="0">
                <a:solidFill>
                  <a:srgbClr val="0070C0"/>
                </a:solidFill>
              </a:rPr>
              <a:t>và</a:t>
            </a:r>
            <a:r>
              <a:rPr lang="en-US" b="1" u="sng" dirty="0" smtClean="0">
                <a:solidFill>
                  <a:srgbClr val="0070C0"/>
                </a:solidFill>
              </a:rPr>
              <a:t> </a:t>
            </a:r>
            <a:r>
              <a:rPr lang="en-US" b="1" u="sng" dirty="0" err="1" smtClean="0">
                <a:solidFill>
                  <a:srgbClr val="0070C0"/>
                </a:solidFill>
              </a:rPr>
              <a:t>độ</a:t>
            </a:r>
            <a:r>
              <a:rPr lang="en-US" b="1" u="sng" dirty="0" smtClean="0">
                <a:solidFill>
                  <a:srgbClr val="0070C0"/>
                </a:solidFill>
              </a:rPr>
              <a:t> </a:t>
            </a:r>
            <a:r>
              <a:rPr lang="en-US" b="1" u="sng" dirty="0" err="1" smtClean="0">
                <a:solidFill>
                  <a:srgbClr val="0070C0"/>
                </a:solidFill>
              </a:rPr>
              <a:t>chụm</a:t>
            </a:r>
            <a:endParaRPr lang="en-US" dirty="0">
              <a:solidFill>
                <a:srgbClr val="0070C0"/>
              </a:solidFill>
            </a:endParaRPr>
          </a:p>
        </p:txBody>
      </p:sp>
      <p:sp>
        <p:nvSpPr>
          <p:cNvPr id="3" name="Content Placeholder 2"/>
          <p:cNvSpPr>
            <a:spLocks noGrp="1"/>
          </p:cNvSpPr>
          <p:nvPr>
            <p:ph idx="1"/>
          </p:nvPr>
        </p:nvSpPr>
        <p:spPr>
          <a:xfrm>
            <a:off x="838200" y="1448972"/>
            <a:ext cx="10515600" cy="4727991"/>
          </a:xfrm>
        </p:spPr>
        <p:txBody>
          <a:bodyPr/>
          <a:lstStyle/>
          <a:p>
            <a:pPr algn="just">
              <a:lnSpc>
                <a:spcPct val="150000"/>
              </a:lnSpc>
              <a:buFontTx/>
              <a:buChar char="-"/>
            </a:pPr>
            <a:r>
              <a:rPr lang="en-US" dirty="0" err="1" smtClean="0"/>
              <a:t>Độ</a:t>
            </a:r>
            <a:r>
              <a:rPr lang="en-US" dirty="0" smtClean="0"/>
              <a:t> </a:t>
            </a:r>
            <a:r>
              <a:rPr lang="en-US" dirty="0" err="1" smtClean="0"/>
              <a:t>chính</a:t>
            </a:r>
            <a:r>
              <a:rPr lang="en-US" dirty="0" smtClean="0"/>
              <a:t> </a:t>
            </a:r>
            <a:r>
              <a:rPr lang="en-US" dirty="0" err="1" smtClean="0"/>
              <a:t>xác</a:t>
            </a:r>
            <a:r>
              <a:rPr lang="en-US" dirty="0"/>
              <a:t> </a:t>
            </a:r>
            <a:r>
              <a:rPr lang="en-US" dirty="0" smtClean="0"/>
              <a:t>(accuracy) </a:t>
            </a:r>
            <a:r>
              <a:rPr lang="en-US" dirty="0" err="1" smtClean="0"/>
              <a:t>đề</a:t>
            </a:r>
            <a:r>
              <a:rPr lang="en-US" dirty="0" smtClean="0"/>
              <a:t> </a:t>
            </a:r>
            <a:r>
              <a:rPr lang="en-US" dirty="0" err="1" smtClean="0"/>
              <a:t>cập</a:t>
            </a:r>
            <a:r>
              <a:rPr lang="en-US" dirty="0" smtClean="0"/>
              <a:t> </a:t>
            </a:r>
            <a:r>
              <a:rPr lang="en-US" dirty="0" err="1" smtClean="0"/>
              <a:t>tới</a:t>
            </a:r>
            <a:r>
              <a:rPr lang="en-US" dirty="0" smtClean="0"/>
              <a:t> </a:t>
            </a:r>
            <a:r>
              <a:rPr lang="en-US" dirty="0" err="1" smtClean="0"/>
              <a:t>mức</a:t>
            </a:r>
            <a:r>
              <a:rPr lang="en-US" dirty="0" smtClean="0"/>
              <a:t> </a:t>
            </a:r>
            <a:r>
              <a:rPr lang="en-US" dirty="0" err="1" smtClean="0"/>
              <a:t>độ</a:t>
            </a:r>
            <a:r>
              <a:rPr lang="en-US" dirty="0" smtClean="0"/>
              <a:t> </a:t>
            </a:r>
            <a:r>
              <a:rPr lang="en-US" dirty="0" err="1" smtClean="0"/>
              <a:t>gần</a:t>
            </a:r>
            <a:r>
              <a:rPr lang="en-US" dirty="0" smtClean="0"/>
              <a:t> </a:t>
            </a:r>
            <a:r>
              <a:rPr lang="en-US" dirty="0" err="1" smtClean="0"/>
              <a:t>của</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tính</a:t>
            </a:r>
            <a:r>
              <a:rPr lang="en-US" dirty="0" smtClean="0"/>
              <a:t> </a:t>
            </a:r>
            <a:r>
              <a:rPr lang="en-US" dirty="0" err="1" smtClean="0"/>
              <a:t>toán</a:t>
            </a:r>
            <a:r>
              <a:rPr lang="en-US" dirty="0" smtClean="0"/>
              <a:t> </a:t>
            </a:r>
            <a:r>
              <a:rPr lang="en-US" dirty="0" err="1" smtClean="0"/>
              <a:t>được</a:t>
            </a:r>
            <a:r>
              <a:rPr lang="en-US" dirty="0" smtClean="0"/>
              <a:t> </a:t>
            </a:r>
            <a:r>
              <a:rPr lang="en-US" dirty="0" err="1" smtClean="0"/>
              <a:t>hoặc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đo</a:t>
            </a:r>
            <a:r>
              <a:rPr lang="en-US" dirty="0" smtClean="0"/>
              <a:t> </a:t>
            </a:r>
            <a:r>
              <a:rPr lang="en-US" dirty="0" err="1" smtClean="0"/>
              <a:t>lường</a:t>
            </a:r>
            <a:r>
              <a:rPr lang="en-US" dirty="0" smtClean="0"/>
              <a:t> </a:t>
            </a:r>
            <a:r>
              <a:rPr lang="en-US" dirty="0" err="1" smtClean="0"/>
              <a:t>được</a:t>
            </a:r>
            <a:r>
              <a:rPr lang="en-US" dirty="0" smtClean="0"/>
              <a:t> </a:t>
            </a:r>
            <a:r>
              <a:rPr lang="en-US" dirty="0" err="1" smtClean="0"/>
              <a:t>tới</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chính</a:t>
            </a:r>
            <a:r>
              <a:rPr lang="en-US" dirty="0" smtClean="0"/>
              <a:t> </a:t>
            </a:r>
            <a:r>
              <a:rPr lang="en-US" dirty="0" err="1" smtClean="0"/>
              <a:t>xác</a:t>
            </a:r>
            <a:r>
              <a:rPr lang="en-US" dirty="0" smtClean="0"/>
              <a:t>.</a:t>
            </a:r>
            <a:endParaRPr lang="en-US" dirty="0" smtClean="0"/>
          </a:p>
          <a:p>
            <a:pPr algn="just">
              <a:lnSpc>
                <a:spcPct val="150000"/>
              </a:lnSpc>
              <a:buFontTx/>
              <a:buChar char="-"/>
            </a:pPr>
            <a:r>
              <a:rPr lang="en-US" dirty="0" err="1" smtClean="0"/>
              <a:t>Độ</a:t>
            </a:r>
            <a:r>
              <a:rPr lang="en-US" dirty="0" smtClean="0"/>
              <a:t> </a:t>
            </a:r>
            <a:r>
              <a:rPr lang="en-US" dirty="0" err="1" smtClean="0"/>
              <a:t>chụm</a:t>
            </a:r>
            <a:r>
              <a:rPr lang="en-US" dirty="0" smtClean="0"/>
              <a:t> (precision) </a:t>
            </a:r>
            <a:r>
              <a:rPr lang="en-US" dirty="0" err="1" smtClean="0"/>
              <a:t>đề</a:t>
            </a:r>
            <a:r>
              <a:rPr lang="en-US" dirty="0" smtClean="0"/>
              <a:t> </a:t>
            </a:r>
            <a:r>
              <a:rPr lang="en-US" dirty="0" err="1" smtClean="0"/>
              <a:t>cập</a:t>
            </a:r>
            <a:r>
              <a:rPr lang="en-US" dirty="0" smtClean="0"/>
              <a:t> </a:t>
            </a:r>
            <a:r>
              <a:rPr lang="en-US" dirty="0" err="1" smtClean="0"/>
              <a:t>tới</a:t>
            </a:r>
            <a:r>
              <a:rPr lang="en-US" dirty="0" smtClean="0"/>
              <a:t> </a:t>
            </a:r>
            <a:r>
              <a:rPr lang="en-US" dirty="0" err="1" smtClean="0"/>
              <a:t>mức</a:t>
            </a:r>
            <a:r>
              <a:rPr lang="en-US" dirty="0" smtClean="0"/>
              <a:t> </a:t>
            </a:r>
            <a:r>
              <a:rPr lang="en-US" dirty="0" err="1" smtClean="0"/>
              <a:t>độ</a:t>
            </a:r>
            <a:r>
              <a:rPr lang="en-US" dirty="0" smtClean="0"/>
              <a:t> </a:t>
            </a:r>
            <a:r>
              <a:rPr lang="en-US" dirty="0" err="1" smtClean="0"/>
              <a:t>thống</a:t>
            </a:r>
            <a:r>
              <a:rPr lang="en-US" dirty="0" smtClean="0"/>
              <a:t> </a:t>
            </a:r>
            <a:r>
              <a:rPr lang="en-US" dirty="0" err="1" smtClean="0"/>
              <a:t>nhất</a:t>
            </a:r>
            <a:r>
              <a:rPr lang="en-US" dirty="0" smtClean="0"/>
              <a:t> (</a:t>
            </a:r>
            <a:r>
              <a:rPr lang="en-US" dirty="0" err="1" smtClean="0"/>
              <a:t>gần</a:t>
            </a:r>
            <a:r>
              <a:rPr lang="en-US" dirty="0" smtClean="0"/>
              <a:t> </a:t>
            </a:r>
            <a:r>
              <a:rPr lang="en-US" dirty="0" err="1" smtClean="0"/>
              <a:t>nhau</a:t>
            </a:r>
            <a:r>
              <a:rPr lang="en-US" dirty="0" smtClean="0"/>
              <a:t>) </a:t>
            </a:r>
            <a:r>
              <a:rPr lang="en-US" dirty="0" err="1" smtClean="0"/>
              <a:t>của</a:t>
            </a:r>
            <a:r>
              <a:rPr lang="en-US" dirty="0" smtClean="0"/>
              <a:t> </a:t>
            </a:r>
            <a:r>
              <a:rPr lang="en-US" dirty="0" err="1" smtClean="0"/>
              <a:t>các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tính</a:t>
            </a:r>
            <a:r>
              <a:rPr lang="en-US" dirty="0" smtClean="0"/>
              <a:t> </a:t>
            </a:r>
            <a:r>
              <a:rPr lang="en-US" dirty="0" err="1" smtClean="0"/>
              <a:t>toán</a:t>
            </a:r>
            <a:r>
              <a:rPr lang="en-US" dirty="0" smtClean="0"/>
              <a:t> </a:t>
            </a:r>
            <a:r>
              <a:rPr lang="en-US" dirty="0" err="1" smtClean="0"/>
              <a:t>được</a:t>
            </a:r>
            <a:r>
              <a:rPr lang="en-US" dirty="0" smtClean="0"/>
              <a:t> </a:t>
            </a:r>
            <a:r>
              <a:rPr lang="en-US" dirty="0" err="1" smtClean="0"/>
              <a:t>hoặc</a:t>
            </a:r>
            <a:r>
              <a:rPr lang="en-US" dirty="0" smtClean="0"/>
              <a:t> </a:t>
            </a:r>
            <a:r>
              <a:rPr lang="en-US" dirty="0" err="1" smtClean="0"/>
              <a:t>các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đo</a:t>
            </a:r>
            <a:r>
              <a:rPr lang="en-US" dirty="0" smtClean="0"/>
              <a:t> </a:t>
            </a:r>
            <a:r>
              <a:rPr lang="en-US" dirty="0" err="1" smtClean="0"/>
              <a:t>đạc</a:t>
            </a:r>
            <a:r>
              <a:rPr lang="en-US" dirty="0" smtClean="0"/>
              <a:t> </a:t>
            </a:r>
            <a:r>
              <a:rPr lang="en-US" dirty="0" err="1" smtClean="0"/>
              <a:t>được</a:t>
            </a:r>
            <a:r>
              <a:rPr lang="en-US" dirty="0" smtClean="0"/>
              <a:t> </a:t>
            </a:r>
            <a:r>
              <a:rPr lang="en-US" dirty="0" err="1" smtClean="0"/>
              <a:t>riêng</a:t>
            </a:r>
            <a:r>
              <a:rPr lang="en-US" dirty="0" smtClean="0"/>
              <a:t> </a:t>
            </a:r>
            <a:r>
              <a:rPr lang="en-US" dirty="0" err="1" smtClean="0"/>
              <a:t>lẻ</a:t>
            </a:r>
            <a:r>
              <a:rPr lang="en-US" dirty="0" smtClean="0"/>
              <a:t> </a:t>
            </a:r>
            <a:r>
              <a:rPr lang="en-US" dirty="0" err="1" smtClean="0"/>
              <a:t>với</a:t>
            </a:r>
            <a:r>
              <a:rPr lang="en-US" dirty="0" smtClean="0"/>
              <a:t> </a:t>
            </a:r>
            <a:r>
              <a:rPr lang="en-US" dirty="0" err="1" smtClean="0"/>
              <a:t>nhau</a:t>
            </a:r>
            <a:r>
              <a:rPr lang="en-US" dirty="0" smtClean="0"/>
              <a:t>.</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3406803" y="623118"/>
            <a:ext cx="5960128" cy="576072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Một</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số</a:t>
            </a:r>
            <a:r>
              <a:rPr lang="en-US" dirty="0" smtClean="0"/>
              <a:t> </a:t>
            </a:r>
            <a:r>
              <a:rPr lang="en-US" dirty="0" err="1" smtClean="0"/>
              <a:t>tốt</a:t>
            </a:r>
            <a:r>
              <a:rPr lang="en-US" dirty="0" smtClean="0"/>
              <a:t> </a:t>
            </a:r>
            <a:r>
              <a:rPr lang="en-US" dirty="0" err="1" smtClean="0"/>
              <a:t>cần</a:t>
            </a:r>
            <a:r>
              <a:rPr lang="en-US" dirty="0" smtClean="0"/>
              <a:t> </a:t>
            </a:r>
            <a:r>
              <a:rPr lang="en-US" dirty="0" err="1" smtClean="0"/>
              <a:t>đảm</a:t>
            </a:r>
            <a:r>
              <a:rPr lang="en-US" dirty="0" smtClean="0"/>
              <a:t> </a:t>
            </a:r>
            <a:r>
              <a:rPr lang="en-US" dirty="0" err="1" smtClean="0"/>
              <a:t>bảo</a:t>
            </a:r>
            <a:r>
              <a:rPr lang="en-US" dirty="0" smtClean="0"/>
              <a:t> </a:t>
            </a:r>
            <a:r>
              <a:rPr lang="en-US" dirty="0" err="1" smtClean="0"/>
              <a:t>độ</a:t>
            </a:r>
            <a:r>
              <a:rPr lang="en-US" dirty="0" smtClean="0"/>
              <a:t> </a:t>
            </a:r>
            <a:r>
              <a:rPr lang="en-US" dirty="0" err="1" smtClean="0"/>
              <a:t>chính</a:t>
            </a:r>
            <a:r>
              <a:rPr lang="en-US" dirty="0" smtClean="0"/>
              <a:t> </a:t>
            </a:r>
            <a:r>
              <a:rPr lang="en-US" dirty="0" err="1" smtClean="0"/>
              <a:t>xác</a:t>
            </a:r>
            <a:r>
              <a:rPr lang="en-US" dirty="0" smtClean="0"/>
              <a:t> </a:t>
            </a:r>
            <a:r>
              <a:rPr lang="en-US" dirty="0" err="1" smtClean="0"/>
              <a:t>và</a:t>
            </a:r>
            <a:r>
              <a:rPr lang="en-US" dirty="0" smtClean="0"/>
              <a:t> </a:t>
            </a:r>
            <a:r>
              <a:rPr lang="en-US" dirty="0" err="1" smtClean="0"/>
              <a:t>độ</a:t>
            </a:r>
            <a:r>
              <a:rPr lang="en-US" dirty="0" smtClean="0"/>
              <a:t> </a:t>
            </a:r>
            <a:r>
              <a:rPr lang="en-US" dirty="0" err="1" smtClean="0"/>
              <a:t>chụm</a:t>
            </a:r>
            <a:r>
              <a:rPr lang="en-US" dirty="0" smtClean="0"/>
              <a:t> </a:t>
            </a:r>
            <a:r>
              <a:rPr lang="en-US" dirty="0" err="1" smtClean="0"/>
              <a:t>tốt</a:t>
            </a:r>
            <a:r>
              <a:rPr lang="en-US" dirty="0" smtClean="0"/>
              <a:t>.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0070C0"/>
                </a:solidFill>
              </a:rPr>
              <a:t>III. </a:t>
            </a:r>
            <a:r>
              <a:rPr lang="en-US" b="1" u="sng" dirty="0" err="1" smtClean="0">
                <a:solidFill>
                  <a:srgbClr val="0070C0"/>
                </a:solidFill>
              </a:rPr>
              <a:t>Các</a:t>
            </a:r>
            <a:r>
              <a:rPr lang="en-US" b="1" u="sng" dirty="0" smtClean="0">
                <a:solidFill>
                  <a:srgbClr val="0070C0"/>
                </a:solidFill>
              </a:rPr>
              <a:t> </a:t>
            </a:r>
            <a:r>
              <a:rPr lang="en-US" b="1" u="sng" dirty="0" err="1" smtClean="0">
                <a:solidFill>
                  <a:srgbClr val="0070C0"/>
                </a:solidFill>
              </a:rPr>
              <a:t>loại</a:t>
            </a:r>
            <a:r>
              <a:rPr lang="en-US" b="1" u="sng" dirty="0" smtClean="0">
                <a:solidFill>
                  <a:srgbClr val="0070C0"/>
                </a:solidFill>
              </a:rPr>
              <a:t> </a:t>
            </a:r>
            <a:r>
              <a:rPr lang="en-US" b="1" u="sng" dirty="0" err="1" smtClean="0">
                <a:solidFill>
                  <a:srgbClr val="0070C0"/>
                </a:solidFill>
              </a:rPr>
              <a:t>sai</a:t>
            </a:r>
            <a:r>
              <a:rPr lang="en-US" b="1" u="sng" dirty="0" smtClean="0">
                <a:solidFill>
                  <a:srgbClr val="0070C0"/>
                </a:solidFill>
              </a:rPr>
              <a:t> </a:t>
            </a:r>
            <a:r>
              <a:rPr lang="en-US" b="1" u="sng" dirty="0" err="1" smtClean="0">
                <a:solidFill>
                  <a:srgbClr val="0070C0"/>
                </a:solidFill>
              </a:rPr>
              <a:t>số</a:t>
            </a:r>
            <a:endParaRPr lang="en-US" b="1" u="sng" dirty="0">
              <a:solidFill>
                <a:srgbClr val="0070C0"/>
              </a:solidFill>
            </a:endParaRPr>
          </a:p>
        </p:txBody>
      </p:sp>
      <p:sp>
        <p:nvSpPr>
          <p:cNvPr id="3" name="Content Placeholder 2"/>
          <p:cNvSpPr>
            <a:spLocks noGrp="1"/>
          </p:cNvSpPr>
          <p:nvPr>
            <p:ph idx="1"/>
          </p:nvPr>
        </p:nvSpPr>
        <p:spPr/>
        <p:txBody>
          <a:bodyPr/>
          <a:lstStyle/>
          <a:p>
            <a:pPr marL="0" indent="0" algn="just">
              <a:lnSpc>
                <a:spcPct val="150000"/>
              </a:lnSpc>
              <a:buNone/>
            </a:pPr>
            <a:r>
              <a:rPr lang="en-US" dirty="0" err="1" smtClean="0"/>
              <a:t>Lỗi</a:t>
            </a:r>
            <a:r>
              <a:rPr lang="en-US" dirty="0" smtClean="0"/>
              <a:t> </a:t>
            </a:r>
            <a:r>
              <a:rPr lang="en-US" dirty="0" err="1" smtClean="0"/>
              <a:t>số</a:t>
            </a:r>
            <a:r>
              <a:rPr lang="en-US" dirty="0" smtClean="0"/>
              <a:t> </a:t>
            </a:r>
            <a:r>
              <a:rPr lang="en-US" dirty="0" err="1" smtClean="0"/>
              <a:t>học</a:t>
            </a:r>
            <a:r>
              <a:rPr lang="en-US" dirty="0" smtClean="0"/>
              <a:t> (numerical error) </a:t>
            </a:r>
            <a:r>
              <a:rPr lang="en-US" dirty="0" err="1" smtClean="0"/>
              <a:t>phát</a:t>
            </a:r>
            <a:r>
              <a:rPr lang="en-US" dirty="0" smtClean="0"/>
              <a:t> </a:t>
            </a:r>
            <a:r>
              <a:rPr lang="en-US" dirty="0" err="1" smtClean="0"/>
              <a:t>sinh</a:t>
            </a:r>
            <a:r>
              <a:rPr lang="en-US" dirty="0" smtClean="0"/>
              <a:t> do </a:t>
            </a:r>
            <a:r>
              <a:rPr lang="en-US" dirty="0" err="1" smtClean="0"/>
              <a:t>việc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các</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xấp</a:t>
            </a:r>
            <a:r>
              <a:rPr lang="en-US" dirty="0" smtClean="0"/>
              <a:t> </a:t>
            </a:r>
            <a:r>
              <a:rPr lang="en-US" dirty="0" err="1" smtClean="0"/>
              <a:t>xỉ</a:t>
            </a:r>
            <a:r>
              <a:rPr lang="en-US" dirty="0" smtClean="0"/>
              <a:t> </a:t>
            </a:r>
            <a:r>
              <a:rPr lang="en-US" dirty="0" err="1" smtClean="0"/>
              <a:t>để</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cho</a:t>
            </a:r>
            <a:r>
              <a:rPr lang="en-US" dirty="0" smtClean="0"/>
              <a:t> </a:t>
            </a:r>
            <a:r>
              <a:rPr lang="en-US" dirty="0" err="1" smtClean="0"/>
              <a:t>phép</a:t>
            </a:r>
            <a:r>
              <a:rPr lang="en-US" dirty="0" smtClean="0"/>
              <a:t> </a:t>
            </a:r>
            <a:r>
              <a:rPr lang="en-US" dirty="0" err="1" smtClean="0"/>
              <a:t>toán</a:t>
            </a:r>
            <a:r>
              <a:rPr lang="en-US" dirty="0" smtClean="0"/>
              <a:t> </a:t>
            </a:r>
            <a:r>
              <a:rPr lang="en-US" dirty="0" err="1" smtClean="0"/>
              <a:t>và</a:t>
            </a:r>
            <a:r>
              <a:rPr lang="en-US" dirty="0" smtClean="0"/>
              <a:t> </a:t>
            </a:r>
            <a:r>
              <a:rPr lang="en-US" dirty="0" err="1" smtClean="0"/>
              <a:t>đại</a:t>
            </a:r>
            <a:r>
              <a:rPr lang="en-US" dirty="0" smtClean="0"/>
              <a:t> </a:t>
            </a:r>
            <a:r>
              <a:rPr lang="en-US" dirty="0" err="1" smtClean="0"/>
              <a:t>lượng</a:t>
            </a:r>
            <a:r>
              <a:rPr lang="en-US" dirty="0" smtClean="0"/>
              <a:t> </a:t>
            </a:r>
            <a:r>
              <a:rPr lang="en-US" dirty="0" err="1" smtClean="0"/>
              <a:t>toán</a:t>
            </a:r>
            <a:r>
              <a:rPr lang="en-US" dirty="0" smtClean="0"/>
              <a:t> </a:t>
            </a:r>
            <a:r>
              <a:rPr lang="en-US" dirty="0" err="1" smtClean="0"/>
              <a:t>học</a:t>
            </a:r>
            <a:r>
              <a:rPr lang="en-US" dirty="0" smtClean="0"/>
              <a:t> </a:t>
            </a:r>
            <a:r>
              <a:rPr lang="en-US" dirty="0" err="1" smtClean="0"/>
              <a:t>chính</a:t>
            </a:r>
            <a:r>
              <a:rPr lang="en-US" dirty="0" smtClean="0"/>
              <a:t> </a:t>
            </a:r>
            <a:r>
              <a:rPr lang="en-US" dirty="0" err="1" smtClean="0"/>
              <a:t>xác</a:t>
            </a:r>
            <a:r>
              <a:rPr lang="en-US" dirty="0" smtClean="0"/>
              <a:t>. </a:t>
            </a:r>
            <a:r>
              <a:rPr lang="en-US" dirty="0" err="1" smtClean="0"/>
              <a:t>Chúng</a:t>
            </a:r>
            <a:r>
              <a:rPr lang="en-US" dirty="0" smtClean="0"/>
              <a:t> </a:t>
            </a:r>
            <a:r>
              <a:rPr lang="en-US" dirty="0" err="1" smtClean="0"/>
              <a:t>gồm</a:t>
            </a:r>
            <a:r>
              <a:rPr lang="en-US" dirty="0" smtClean="0"/>
              <a:t> 2 </a:t>
            </a:r>
            <a:r>
              <a:rPr lang="en-US" dirty="0" err="1" smtClean="0"/>
              <a:t>loại</a:t>
            </a:r>
            <a:r>
              <a:rPr lang="en-US" dirty="0" smtClean="0"/>
              <a:t> </a:t>
            </a:r>
            <a:r>
              <a:rPr lang="en-US" dirty="0" err="1" smtClean="0"/>
              <a:t>sai</a:t>
            </a:r>
            <a:r>
              <a:rPr lang="en-US" dirty="0" smtClean="0"/>
              <a:t> </a:t>
            </a:r>
            <a:r>
              <a:rPr lang="en-US" dirty="0" err="1" smtClean="0"/>
              <a:t>số</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u="sng" dirty="0" smtClean="0">
                <a:solidFill>
                  <a:srgbClr val="CC0066"/>
                </a:solidFill>
              </a:rPr>
              <a:t>1. Sai </a:t>
            </a:r>
            <a:r>
              <a:rPr lang="en-US" b="1" u="sng" dirty="0" err="1" smtClean="0">
                <a:solidFill>
                  <a:srgbClr val="CC0066"/>
                </a:solidFill>
              </a:rPr>
              <a:t>số</a:t>
            </a:r>
            <a:r>
              <a:rPr lang="en-US" b="1" u="sng" dirty="0" smtClean="0">
                <a:solidFill>
                  <a:srgbClr val="CC0066"/>
                </a:solidFill>
              </a:rPr>
              <a:t> </a:t>
            </a:r>
            <a:r>
              <a:rPr lang="en-US" b="1" u="sng" dirty="0" err="1" smtClean="0">
                <a:solidFill>
                  <a:srgbClr val="CC0066"/>
                </a:solidFill>
              </a:rPr>
              <a:t>cắt</a:t>
            </a:r>
            <a:r>
              <a:rPr lang="en-US" b="1" u="sng" dirty="0" smtClean="0">
                <a:solidFill>
                  <a:srgbClr val="CC0066"/>
                </a:solidFill>
              </a:rPr>
              <a:t> </a:t>
            </a:r>
            <a:r>
              <a:rPr lang="en-US" b="1" u="sng" dirty="0" err="1" smtClean="0">
                <a:solidFill>
                  <a:srgbClr val="CC0066"/>
                </a:solidFill>
              </a:rPr>
              <a:t>cụt</a:t>
            </a:r>
            <a:r>
              <a:rPr lang="en-US" b="1" u="sng" dirty="0" smtClean="0">
                <a:solidFill>
                  <a:srgbClr val="CC0066"/>
                </a:solidFill>
              </a:rPr>
              <a:t> </a:t>
            </a:r>
            <a:r>
              <a:rPr lang="en-US" dirty="0" smtClean="0"/>
              <a:t>(Truncation error) – </a:t>
            </a:r>
            <a:r>
              <a:rPr lang="en-US" dirty="0" err="1" smtClean="0"/>
              <a:t>xảy</a:t>
            </a:r>
            <a:r>
              <a:rPr lang="en-US" dirty="0" smtClean="0"/>
              <a:t> </a:t>
            </a:r>
            <a:r>
              <a:rPr lang="en-US" dirty="0" err="1" smtClean="0"/>
              <a:t>ra</a:t>
            </a:r>
            <a:r>
              <a:rPr lang="en-US" dirty="0" smtClean="0"/>
              <a:t> </a:t>
            </a:r>
            <a:r>
              <a:rPr lang="en-US" dirty="0" err="1" smtClean="0"/>
              <a:t>khi</a:t>
            </a:r>
            <a:r>
              <a:rPr lang="en-US" dirty="0" smtClean="0"/>
              <a:t> </a:t>
            </a:r>
            <a:r>
              <a:rPr lang="en-US" dirty="0" err="1" smtClean="0"/>
              <a:t>một</a:t>
            </a:r>
            <a:r>
              <a:rPr lang="en-US" dirty="0" smtClean="0"/>
              <a:t> </a:t>
            </a:r>
            <a:r>
              <a:rPr lang="en-US" dirty="0" err="1" smtClean="0"/>
              <a:t>biểu</a:t>
            </a:r>
            <a:r>
              <a:rPr lang="en-US" dirty="0" smtClean="0"/>
              <a:t> </a:t>
            </a:r>
            <a:r>
              <a:rPr lang="en-US" dirty="0" err="1" smtClean="0"/>
              <a:t>thức</a:t>
            </a:r>
            <a:r>
              <a:rPr lang="en-US" dirty="0" smtClean="0"/>
              <a:t> </a:t>
            </a:r>
            <a:r>
              <a:rPr lang="en-US" dirty="0" err="1" smtClean="0"/>
              <a:t>toán</a:t>
            </a:r>
            <a:r>
              <a:rPr lang="en-US" dirty="0" smtClean="0"/>
              <a:t> </a:t>
            </a:r>
            <a:r>
              <a:rPr lang="en-US" dirty="0" err="1" smtClean="0"/>
              <a:t>học</a:t>
            </a:r>
            <a:r>
              <a:rPr lang="en-US" dirty="0" smtClean="0"/>
              <a:t> </a:t>
            </a:r>
            <a:r>
              <a:rPr lang="en-US" dirty="0" err="1" smtClean="0"/>
              <a:t>chính</a:t>
            </a:r>
            <a:r>
              <a:rPr lang="en-US" dirty="0" smtClean="0"/>
              <a:t> </a:t>
            </a:r>
            <a:r>
              <a:rPr lang="en-US" dirty="0" err="1" smtClean="0"/>
              <a:t>xác</a:t>
            </a:r>
            <a:r>
              <a:rPr lang="en-US" dirty="0" smtClean="0"/>
              <a:t> </a:t>
            </a:r>
            <a:r>
              <a:rPr lang="en-US" dirty="0" err="1" smtClean="0"/>
              <a:t>được</a:t>
            </a:r>
            <a:r>
              <a:rPr lang="en-US" dirty="0" smtClean="0"/>
              <a:t> </a:t>
            </a:r>
            <a:r>
              <a:rPr lang="en-US" dirty="0" err="1" smtClean="0"/>
              <a:t>thay</a:t>
            </a:r>
            <a:r>
              <a:rPr lang="en-US" dirty="0" smtClean="0"/>
              <a:t> </a:t>
            </a:r>
            <a:r>
              <a:rPr lang="en-US" dirty="0" err="1" smtClean="0"/>
              <a:t>thể</a:t>
            </a:r>
            <a:r>
              <a:rPr lang="en-US" dirty="0" smtClean="0"/>
              <a:t> </a:t>
            </a:r>
            <a:r>
              <a:rPr lang="en-US" dirty="0" err="1" smtClean="0"/>
              <a:t>bằng</a:t>
            </a:r>
            <a:r>
              <a:rPr lang="en-US" dirty="0" smtClean="0"/>
              <a:t> </a:t>
            </a:r>
            <a:r>
              <a:rPr lang="en-US" dirty="0" err="1" smtClean="0"/>
              <a:t>một</a:t>
            </a:r>
            <a:r>
              <a:rPr lang="en-US" dirty="0" smtClean="0"/>
              <a:t> </a:t>
            </a:r>
            <a:r>
              <a:rPr lang="en-US" dirty="0" err="1" smtClean="0"/>
              <a:t>biểu</a:t>
            </a:r>
            <a:r>
              <a:rPr lang="en-US" dirty="0" smtClean="0"/>
              <a:t> </a:t>
            </a:r>
            <a:r>
              <a:rPr lang="en-US" dirty="0" err="1" smtClean="0"/>
              <a:t>thức</a:t>
            </a:r>
            <a:r>
              <a:rPr lang="en-US" dirty="0" smtClean="0"/>
              <a:t> </a:t>
            </a:r>
            <a:r>
              <a:rPr lang="en-US" dirty="0" err="1" smtClean="0"/>
              <a:t>xấp</a:t>
            </a:r>
            <a:r>
              <a:rPr lang="en-US" dirty="0" smtClean="0"/>
              <a:t> </a:t>
            </a:r>
            <a:r>
              <a:rPr lang="en-US" dirty="0" err="1" smtClean="0"/>
              <a:t>xỉ</a:t>
            </a:r>
            <a:r>
              <a:rPr lang="en-US" dirty="0" smtClean="0"/>
              <a:t>. </a:t>
            </a:r>
            <a:r>
              <a:rPr lang="en-US" dirty="0" err="1" smtClean="0"/>
              <a:t>Ví</a:t>
            </a:r>
            <a:r>
              <a:rPr lang="en-US" dirty="0" smtClean="0"/>
              <a:t> </a:t>
            </a:r>
            <a:r>
              <a:rPr lang="en-US" dirty="0" err="1" smtClean="0"/>
              <a:t>dụ</a:t>
            </a:r>
            <a:r>
              <a:rPr lang="en-US" dirty="0" smtClean="0"/>
              <a:t>: </a:t>
            </a:r>
            <a:endParaRPr lang="en-US" dirty="0" smtClean="0"/>
          </a:p>
          <a:p>
            <a:pPr marL="0" indent="0" algn="just">
              <a:lnSpc>
                <a:spcPct val="150000"/>
              </a:lnSpc>
              <a:buNone/>
            </a:pPr>
            <a:endParaRPr lang="en-US" dirty="0"/>
          </a:p>
          <a:p>
            <a:pPr marL="0" indent="0" algn="just">
              <a:lnSpc>
                <a:spcPct val="150000"/>
              </a:lnSpc>
              <a:buNone/>
            </a:pPr>
            <a:endParaRPr lang="en-US" dirty="0" smtClean="0"/>
          </a:p>
          <a:p>
            <a:pPr marL="0" indent="0" algn="just">
              <a:lnSpc>
                <a:spcPct val="150000"/>
              </a:lnSpc>
              <a:buNone/>
            </a:pPr>
            <a:r>
              <a:rPr lang="en-US" dirty="0" err="1" smtClean="0"/>
              <a:t>được</a:t>
            </a:r>
            <a:r>
              <a:rPr lang="en-US" dirty="0" smtClean="0"/>
              <a:t> </a:t>
            </a:r>
            <a:r>
              <a:rPr lang="en-US" dirty="0" err="1" smtClean="0"/>
              <a:t>thay</a:t>
            </a:r>
            <a:r>
              <a:rPr lang="en-US" dirty="0" smtClean="0"/>
              <a:t> </a:t>
            </a:r>
            <a:r>
              <a:rPr lang="en-US" dirty="0" err="1" smtClean="0"/>
              <a:t>bằng</a:t>
            </a:r>
            <a:endParaRPr lang="en-US" dirty="0" smtClean="0"/>
          </a:p>
          <a:p>
            <a:pPr marL="514350" indent="-514350" algn="just">
              <a:lnSpc>
                <a:spcPct val="150000"/>
              </a:lnSpc>
              <a:buAutoNum type="arabicPeriod"/>
            </a:pPr>
            <a:endParaRPr lang="en-US" dirty="0"/>
          </a:p>
        </p:txBody>
      </p:sp>
      <p:graphicFrame>
        <p:nvGraphicFramePr>
          <p:cNvPr id="2" name="Object 1"/>
          <p:cNvGraphicFramePr>
            <a:graphicFrameLocks noChangeAspect="1"/>
          </p:cNvGraphicFramePr>
          <p:nvPr/>
        </p:nvGraphicFramePr>
        <p:xfrm>
          <a:off x="4210050" y="2680518"/>
          <a:ext cx="3771900" cy="822960"/>
        </p:xfrm>
        <a:graphic>
          <a:graphicData uri="http://schemas.openxmlformats.org/presentationml/2006/ole">
            <mc:AlternateContent xmlns:mc="http://schemas.openxmlformats.org/markup-compatibility/2006">
              <mc:Choice xmlns:v="urn:schemas-microsoft-com:vml" Requires="v">
                <p:oleObj spid="_x0000_s1048" name="Equation" r:id="rId1" imgW="50292000" imgH="10972800" progId="Equation.3">
                  <p:embed/>
                </p:oleObj>
              </mc:Choice>
              <mc:Fallback>
                <p:oleObj name="Equation" r:id="rId1" imgW="50292000" imgH="10972800" progId="Equation.3">
                  <p:embed/>
                  <p:pic>
                    <p:nvPicPr>
                      <p:cNvPr id="0" name="Picture 1047"/>
                      <p:cNvPicPr/>
                      <p:nvPr/>
                    </p:nvPicPr>
                    <p:blipFill>
                      <a:blip r:embed="rId2"/>
                      <a:stretch>
                        <a:fillRect/>
                      </a:stretch>
                    </p:blipFill>
                    <p:spPr>
                      <a:xfrm>
                        <a:off x="4210050" y="2680518"/>
                        <a:ext cx="3771900" cy="822960"/>
                      </a:xfrm>
                      <a:prstGeom prst="rect">
                        <a:avLst/>
                      </a:prstGeom>
                    </p:spPr>
                  </p:pic>
                </p:oleObj>
              </mc:Fallback>
            </mc:AlternateContent>
          </a:graphicData>
        </a:graphic>
      </p:graphicFrame>
      <p:graphicFrame>
        <p:nvGraphicFramePr>
          <p:cNvPr id="4" name="Object 3"/>
          <p:cNvGraphicFramePr>
            <a:graphicFrameLocks noChangeAspect="1"/>
          </p:cNvGraphicFramePr>
          <p:nvPr/>
        </p:nvGraphicFramePr>
        <p:xfrm>
          <a:off x="4548188" y="4941888"/>
          <a:ext cx="3314700" cy="823912"/>
        </p:xfrm>
        <a:graphic>
          <a:graphicData uri="http://schemas.openxmlformats.org/presentationml/2006/ole">
            <mc:AlternateContent xmlns:mc="http://schemas.openxmlformats.org/markup-compatibility/2006">
              <mc:Choice xmlns:v="urn:schemas-microsoft-com:vml" Requires="v">
                <p:oleObj spid="_x0000_s1049" name="Equation" r:id="rId3" imgW="44196000" imgH="10972800" progId="Equation.3">
                  <p:embed/>
                </p:oleObj>
              </mc:Choice>
              <mc:Fallback>
                <p:oleObj name="Equation" r:id="rId3" imgW="44196000" imgH="10972800" progId="Equation.3">
                  <p:embed/>
                  <p:pic>
                    <p:nvPicPr>
                      <p:cNvPr id="0" name="Object 1"/>
                      <p:cNvPicPr/>
                      <p:nvPr/>
                    </p:nvPicPr>
                    <p:blipFill>
                      <a:blip r:embed="rId4"/>
                      <a:stretch>
                        <a:fillRect/>
                      </a:stretch>
                    </p:blipFill>
                    <p:spPr>
                      <a:xfrm>
                        <a:off x="4548188" y="4941888"/>
                        <a:ext cx="3314700" cy="823912"/>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u="sng" dirty="0" smtClean="0">
                <a:solidFill>
                  <a:srgbClr val="CC0066"/>
                </a:solidFill>
              </a:rPr>
              <a:t>2. Sai </a:t>
            </a:r>
            <a:r>
              <a:rPr lang="en-US" b="1" u="sng" dirty="0" err="1" smtClean="0">
                <a:solidFill>
                  <a:srgbClr val="CC0066"/>
                </a:solidFill>
              </a:rPr>
              <a:t>số</a:t>
            </a:r>
            <a:r>
              <a:rPr lang="en-US" b="1" u="sng" dirty="0" smtClean="0">
                <a:solidFill>
                  <a:srgbClr val="CC0066"/>
                </a:solidFill>
              </a:rPr>
              <a:t> </a:t>
            </a:r>
            <a:r>
              <a:rPr lang="en-US" b="1" u="sng" dirty="0" err="1" smtClean="0">
                <a:solidFill>
                  <a:srgbClr val="CC0066"/>
                </a:solidFill>
              </a:rPr>
              <a:t>làm</a:t>
            </a:r>
            <a:r>
              <a:rPr lang="en-US" b="1" u="sng" dirty="0" smtClean="0">
                <a:solidFill>
                  <a:srgbClr val="CC0066"/>
                </a:solidFill>
              </a:rPr>
              <a:t> </a:t>
            </a:r>
            <a:r>
              <a:rPr lang="en-US" b="1" u="sng" dirty="0" err="1" smtClean="0">
                <a:solidFill>
                  <a:srgbClr val="CC0066"/>
                </a:solidFill>
              </a:rPr>
              <a:t>tròn</a:t>
            </a:r>
            <a:r>
              <a:rPr lang="en-US" b="1" u="sng" dirty="0" smtClean="0">
                <a:solidFill>
                  <a:srgbClr val="CC0066"/>
                </a:solidFill>
              </a:rPr>
              <a:t> </a:t>
            </a:r>
            <a:r>
              <a:rPr lang="en-US" dirty="0" smtClean="0"/>
              <a:t>(round-off error) – </a:t>
            </a:r>
            <a:r>
              <a:rPr lang="en-US" dirty="0" err="1" smtClean="0"/>
              <a:t>sinh</a:t>
            </a:r>
            <a:r>
              <a:rPr lang="en-US" dirty="0" smtClean="0"/>
              <a:t> </a:t>
            </a:r>
            <a:r>
              <a:rPr lang="en-US" dirty="0" err="1" smtClean="0"/>
              <a:t>ra</a:t>
            </a:r>
            <a:r>
              <a:rPr lang="en-US" dirty="0" smtClean="0"/>
              <a:t> </a:t>
            </a:r>
            <a:r>
              <a:rPr lang="en-US" dirty="0" err="1" smtClean="0"/>
              <a:t>khi</a:t>
            </a:r>
            <a:r>
              <a:rPr lang="en-US" dirty="0" smtClean="0"/>
              <a:t> </a:t>
            </a:r>
            <a:r>
              <a:rPr lang="en-US" dirty="0" err="1" smtClean="0"/>
              <a:t>một</a:t>
            </a:r>
            <a:r>
              <a:rPr lang="en-US" dirty="0" smtClean="0"/>
              <a:t> </a:t>
            </a:r>
            <a:r>
              <a:rPr lang="en-US" dirty="0" err="1" smtClean="0"/>
              <a:t>số</a:t>
            </a:r>
            <a:r>
              <a:rPr lang="en-US" dirty="0" smtClean="0"/>
              <a:t> </a:t>
            </a:r>
            <a:r>
              <a:rPr lang="en-US" dirty="0" err="1" smtClean="0"/>
              <a:t>hữu</a:t>
            </a:r>
            <a:r>
              <a:rPr lang="en-US" dirty="0" smtClean="0"/>
              <a:t> </a:t>
            </a:r>
            <a:r>
              <a:rPr lang="en-US" dirty="0" err="1" smtClean="0"/>
              <a:t>hạn</a:t>
            </a:r>
            <a:r>
              <a:rPr lang="en-US" dirty="0" smtClean="0"/>
              <a:t> </a:t>
            </a:r>
            <a:r>
              <a:rPr lang="en-US" dirty="0" err="1" smtClean="0"/>
              <a:t>các</a:t>
            </a:r>
            <a:r>
              <a:rPr lang="en-US" dirty="0" smtClean="0"/>
              <a:t>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 </a:t>
            </a:r>
            <a:r>
              <a:rPr lang="en-US" dirty="0" err="1" smtClean="0"/>
              <a:t>được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để</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cho</a:t>
            </a:r>
            <a:r>
              <a:rPr lang="en-US" dirty="0" smtClean="0"/>
              <a:t> </a:t>
            </a:r>
            <a:r>
              <a:rPr lang="en-US" dirty="0" err="1" smtClean="0"/>
              <a:t>một</a:t>
            </a:r>
            <a:r>
              <a:rPr lang="en-US" dirty="0" smtClean="0"/>
              <a:t> </a:t>
            </a:r>
            <a:r>
              <a:rPr lang="en-US" dirty="0" err="1" smtClean="0"/>
              <a:t>số</a:t>
            </a:r>
            <a:r>
              <a:rPr lang="en-US" dirty="0" smtClean="0"/>
              <a:t> </a:t>
            </a:r>
            <a:r>
              <a:rPr lang="en-US" dirty="0" err="1" smtClean="0"/>
              <a:t>chính</a:t>
            </a:r>
            <a:r>
              <a:rPr lang="en-US" dirty="0" smtClean="0"/>
              <a:t> </a:t>
            </a:r>
            <a:r>
              <a:rPr lang="en-US" dirty="0" err="1" smtClean="0"/>
              <a:t>xác</a:t>
            </a:r>
            <a:r>
              <a:rPr lang="en-US" dirty="0" smtClean="0"/>
              <a:t>. </a:t>
            </a:r>
            <a:r>
              <a:rPr lang="en-US" dirty="0" err="1" smtClean="0"/>
              <a:t>Ví</a:t>
            </a:r>
            <a:r>
              <a:rPr lang="en-US" dirty="0" smtClean="0"/>
              <a:t> </a:t>
            </a:r>
            <a:r>
              <a:rPr lang="en-US" dirty="0" err="1" smtClean="0"/>
              <a:t>dụ</a:t>
            </a:r>
            <a:endParaRPr lang="en-US" dirty="0" smtClean="0"/>
          </a:p>
          <a:p>
            <a:pPr marL="0" indent="0" algn="ctr">
              <a:lnSpc>
                <a:spcPct val="150000"/>
              </a:lnSpc>
              <a:buNone/>
            </a:pPr>
            <a:r>
              <a:rPr lang="en-US" dirty="0" smtClean="0"/>
              <a:t>π = 3.14159….</a:t>
            </a:r>
            <a:endParaRPr lang="en-US" dirty="0" smtClean="0"/>
          </a:p>
          <a:p>
            <a:pPr marL="0" indent="0" algn="just">
              <a:lnSpc>
                <a:spcPct val="150000"/>
              </a:lnSpc>
              <a:buNone/>
            </a:pPr>
            <a:r>
              <a:rPr lang="en-US" dirty="0" err="1" smtClean="0"/>
              <a:t>được</a:t>
            </a:r>
            <a:r>
              <a:rPr lang="en-US" dirty="0" smtClean="0"/>
              <a:t> </a:t>
            </a:r>
            <a:r>
              <a:rPr lang="en-US" dirty="0" err="1" smtClean="0"/>
              <a:t>viết</a:t>
            </a:r>
            <a:r>
              <a:rPr lang="en-US" dirty="0" smtClean="0"/>
              <a:t> </a:t>
            </a:r>
            <a:r>
              <a:rPr lang="en-US" dirty="0" err="1" smtClean="0"/>
              <a:t>là</a:t>
            </a:r>
            <a:r>
              <a:rPr lang="en-US" dirty="0"/>
              <a:t> π = 3.14</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Khi</a:t>
            </a:r>
            <a:r>
              <a:rPr lang="en-US" dirty="0" smtClean="0"/>
              <a:t> </a:t>
            </a:r>
            <a:r>
              <a:rPr lang="en-US" dirty="0" err="1" smtClean="0"/>
              <a:t>đó</a:t>
            </a:r>
            <a:r>
              <a:rPr lang="en-US" dirty="0" smtClean="0"/>
              <a:t> </a:t>
            </a:r>
            <a:r>
              <a:rPr lang="en-US" dirty="0" err="1" smtClean="0"/>
              <a:t>lỗi</a:t>
            </a:r>
            <a:r>
              <a:rPr lang="en-US" dirty="0" smtClean="0"/>
              <a:t> </a:t>
            </a:r>
            <a:r>
              <a:rPr lang="en-US" dirty="0" err="1" smtClean="0"/>
              <a:t>số</a:t>
            </a:r>
            <a:r>
              <a:rPr lang="en-US" dirty="0" smtClean="0"/>
              <a:t> </a:t>
            </a:r>
            <a:r>
              <a:rPr lang="en-US" dirty="0" err="1" smtClean="0"/>
              <a:t>học</a:t>
            </a:r>
            <a:r>
              <a:rPr lang="en-US" dirty="0" smtClean="0"/>
              <a:t> (</a:t>
            </a:r>
            <a:r>
              <a:rPr lang="en-US" b="1" dirty="0" err="1" smtClean="0">
                <a:solidFill>
                  <a:srgbClr val="0070C0"/>
                </a:solidFill>
              </a:rPr>
              <a:t>sai</a:t>
            </a:r>
            <a:r>
              <a:rPr lang="en-US" b="1" dirty="0" smtClean="0">
                <a:solidFill>
                  <a:srgbClr val="0070C0"/>
                </a:solidFill>
              </a:rPr>
              <a:t> </a:t>
            </a:r>
            <a:r>
              <a:rPr lang="en-US" b="1" dirty="0" err="1" smtClean="0">
                <a:solidFill>
                  <a:srgbClr val="0070C0"/>
                </a:solidFill>
              </a:rPr>
              <a:t>số</a:t>
            </a:r>
            <a:r>
              <a:rPr lang="en-US" b="1" dirty="0" smtClean="0">
                <a:solidFill>
                  <a:srgbClr val="0070C0"/>
                </a:solidFill>
              </a:rPr>
              <a:t> </a:t>
            </a:r>
            <a:r>
              <a:rPr lang="en-US" b="1" dirty="0" err="1" smtClean="0">
                <a:solidFill>
                  <a:srgbClr val="0070C0"/>
                </a:solidFill>
              </a:rPr>
              <a:t>tuyệt</a:t>
            </a:r>
            <a:r>
              <a:rPr lang="en-US" b="1" dirty="0" smtClean="0">
                <a:solidFill>
                  <a:srgbClr val="0070C0"/>
                </a:solidFill>
              </a:rPr>
              <a:t> </a:t>
            </a:r>
            <a:r>
              <a:rPr lang="en-US" b="1" dirty="0" err="1" smtClean="0">
                <a:solidFill>
                  <a:srgbClr val="0070C0"/>
                </a:solidFill>
              </a:rPr>
              <a:t>đối</a:t>
            </a:r>
            <a:r>
              <a:rPr lang="en-US" dirty="0" smtClean="0"/>
              <a:t>) </a:t>
            </a:r>
            <a:r>
              <a:rPr lang="en-US" dirty="0" err="1" smtClean="0"/>
              <a:t>của</a:t>
            </a:r>
            <a:r>
              <a:rPr lang="en-US" dirty="0" smtClean="0"/>
              <a:t> </a:t>
            </a:r>
            <a:r>
              <a:rPr lang="en-US" dirty="0" err="1" smtClean="0"/>
              <a:t>phép</a:t>
            </a:r>
            <a:r>
              <a:rPr lang="en-US" dirty="0" smtClean="0"/>
              <a:t> </a:t>
            </a:r>
            <a:r>
              <a:rPr lang="en-US" dirty="0" err="1" smtClean="0"/>
              <a:t>xấp</a:t>
            </a:r>
            <a:r>
              <a:rPr lang="en-US" dirty="0" smtClean="0"/>
              <a:t> </a:t>
            </a:r>
            <a:r>
              <a:rPr lang="en-US" dirty="0" err="1" smtClean="0"/>
              <a:t>xỉ</a:t>
            </a:r>
            <a:r>
              <a:rPr lang="en-US" dirty="0" smtClean="0"/>
              <a:t> </a:t>
            </a:r>
            <a:r>
              <a:rPr lang="en-US" dirty="0" err="1" smtClean="0"/>
              <a:t>là</a:t>
            </a:r>
            <a:endParaRPr lang="en-US" dirty="0" smtClean="0"/>
          </a:p>
          <a:p>
            <a:pPr marL="0" indent="0" algn="ctr">
              <a:lnSpc>
                <a:spcPct val="150000"/>
              </a:lnSpc>
              <a:buNone/>
            </a:pPr>
            <a:r>
              <a:rPr lang="en-US" dirty="0" smtClean="0"/>
              <a:t>E</a:t>
            </a:r>
            <a:r>
              <a:rPr lang="en-US" baseline="-25000" dirty="0" smtClean="0"/>
              <a:t>t</a:t>
            </a:r>
            <a:r>
              <a:rPr lang="en-US" dirty="0" smtClean="0"/>
              <a:t> = </a:t>
            </a:r>
            <a:r>
              <a:rPr lang="en-US" dirty="0" err="1" smtClean="0"/>
              <a:t>giá</a:t>
            </a:r>
            <a:r>
              <a:rPr lang="en-US" dirty="0" smtClean="0"/>
              <a:t> </a:t>
            </a:r>
            <a:r>
              <a:rPr lang="en-US" dirty="0" err="1" smtClean="0"/>
              <a:t>trị</a:t>
            </a:r>
            <a:r>
              <a:rPr lang="en-US" dirty="0" smtClean="0"/>
              <a:t> </a:t>
            </a:r>
            <a:r>
              <a:rPr lang="en-US" dirty="0" err="1" smtClean="0"/>
              <a:t>chính</a:t>
            </a:r>
            <a:r>
              <a:rPr lang="en-US" dirty="0" smtClean="0"/>
              <a:t> </a:t>
            </a:r>
            <a:r>
              <a:rPr lang="en-US" dirty="0" err="1" smtClean="0"/>
              <a:t>xác</a:t>
            </a:r>
            <a:r>
              <a:rPr lang="en-US" dirty="0" smtClean="0"/>
              <a:t> – </a:t>
            </a:r>
            <a:r>
              <a:rPr lang="en-US" dirty="0" err="1" smtClean="0"/>
              <a:t>giá</a:t>
            </a:r>
            <a:r>
              <a:rPr lang="en-US" dirty="0" smtClean="0"/>
              <a:t> </a:t>
            </a:r>
            <a:r>
              <a:rPr lang="en-US" dirty="0" err="1" smtClean="0"/>
              <a:t>trị</a:t>
            </a:r>
            <a:r>
              <a:rPr lang="en-US" dirty="0" smtClean="0"/>
              <a:t> </a:t>
            </a:r>
            <a:r>
              <a:rPr lang="en-US" dirty="0" err="1" smtClean="0"/>
              <a:t>xấp</a:t>
            </a:r>
            <a:r>
              <a:rPr lang="en-US" dirty="0" smtClean="0"/>
              <a:t> </a:t>
            </a:r>
            <a:r>
              <a:rPr lang="en-US" dirty="0" err="1" smtClean="0"/>
              <a:t>xỉ</a:t>
            </a:r>
            <a:r>
              <a:rPr lang="en-US" dirty="0" smtClean="0"/>
              <a:t> </a:t>
            </a:r>
            <a:endParaRPr lang="en-US" dirty="0" smtClean="0"/>
          </a:p>
          <a:p>
            <a:pPr marL="0" indent="0" algn="ctr">
              <a:lnSpc>
                <a:spcPct val="150000"/>
              </a:lnSpc>
              <a:buNone/>
            </a:pPr>
            <a:endParaRPr lang="en-US" dirty="0" smtClean="0"/>
          </a:p>
          <a:p>
            <a:pPr marL="0" indent="0" algn="just">
              <a:lnSpc>
                <a:spcPct val="150000"/>
              </a:lnSpc>
              <a:buNone/>
            </a:pPr>
            <a:r>
              <a:rPr lang="en-US" dirty="0" err="1" smtClean="0"/>
              <a:t>Hạn</a:t>
            </a:r>
            <a:r>
              <a:rPr lang="en-US" dirty="0" smtClean="0"/>
              <a:t> </a:t>
            </a:r>
            <a:r>
              <a:rPr lang="en-US" dirty="0" err="1" smtClean="0"/>
              <a:t>chế</a:t>
            </a:r>
            <a:r>
              <a:rPr lang="en-US" dirty="0" smtClean="0"/>
              <a:t> </a:t>
            </a:r>
            <a:r>
              <a:rPr lang="en-US" dirty="0" err="1" smtClean="0"/>
              <a:t>của</a:t>
            </a:r>
            <a:r>
              <a:rPr lang="en-US" dirty="0" smtClean="0"/>
              <a:t> </a:t>
            </a:r>
            <a:r>
              <a:rPr lang="en-US" dirty="0" err="1" smtClean="0"/>
              <a:t>sai</a:t>
            </a:r>
            <a:r>
              <a:rPr lang="en-US" dirty="0" smtClean="0"/>
              <a:t> </a:t>
            </a:r>
            <a:r>
              <a:rPr lang="en-US" dirty="0" err="1" smtClean="0"/>
              <a:t>số</a:t>
            </a:r>
            <a:r>
              <a:rPr lang="en-US" dirty="0" smtClean="0"/>
              <a:t> </a:t>
            </a:r>
            <a:r>
              <a:rPr lang="en-US" dirty="0" err="1" smtClean="0"/>
              <a:t>này</a:t>
            </a:r>
            <a:r>
              <a:rPr lang="en-US" dirty="0" smtClean="0"/>
              <a:t> </a:t>
            </a:r>
            <a:r>
              <a:rPr lang="en-US" dirty="0" err="1" smtClean="0"/>
              <a:t>là</a:t>
            </a:r>
            <a:r>
              <a:rPr lang="en-US" dirty="0" smtClean="0"/>
              <a:t> </a:t>
            </a:r>
            <a:r>
              <a:rPr lang="en-US" dirty="0" err="1" smtClean="0"/>
              <a:t>nó</a:t>
            </a:r>
            <a:r>
              <a:rPr lang="en-US" dirty="0" smtClean="0"/>
              <a:t> </a:t>
            </a:r>
            <a:r>
              <a:rPr lang="en-US" dirty="0" err="1" smtClean="0"/>
              <a:t>không</a:t>
            </a:r>
            <a:r>
              <a:rPr lang="en-US" dirty="0" smtClean="0"/>
              <a:t> </a:t>
            </a:r>
            <a:r>
              <a:rPr lang="en-US" dirty="0" err="1" smtClean="0"/>
              <a:t>tính</a:t>
            </a:r>
            <a:r>
              <a:rPr lang="en-US" dirty="0" smtClean="0"/>
              <a:t> </a:t>
            </a:r>
            <a:r>
              <a:rPr lang="en-US" dirty="0" err="1" smtClean="0"/>
              <a:t>đến</a:t>
            </a:r>
            <a:r>
              <a:rPr lang="en-US" dirty="0" smtClean="0"/>
              <a:t> </a:t>
            </a:r>
            <a:r>
              <a:rPr lang="en-US" dirty="0" err="1" smtClean="0"/>
              <a:t>độ</a:t>
            </a:r>
            <a:r>
              <a:rPr lang="en-US" dirty="0" smtClean="0"/>
              <a:t> </a:t>
            </a:r>
            <a:r>
              <a:rPr lang="en-US" dirty="0" err="1" smtClean="0"/>
              <a:t>lớn</a:t>
            </a:r>
            <a:r>
              <a:rPr lang="en-US" dirty="0" smtClean="0"/>
              <a:t> </a:t>
            </a:r>
            <a:r>
              <a:rPr lang="en-US" dirty="0" err="1" smtClean="0"/>
              <a:t>của</a:t>
            </a:r>
            <a:r>
              <a:rPr lang="en-US" dirty="0" smtClean="0"/>
              <a:t> </a:t>
            </a:r>
            <a:r>
              <a:rPr lang="en-US" dirty="0" err="1" smtClean="0"/>
              <a:t>đối</a:t>
            </a:r>
            <a:r>
              <a:rPr lang="en-US" dirty="0" smtClean="0"/>
              <a:t> </a:t>
            </a:r>
            <a:r>
              <a:rPr lang="en-US" dirty="0" err="1" smtClean="0"/>
              <a:t>tượng</a:t>
            </a:r>
            <a:r>
              <a:rPr lang="en-US" dirty="0" smtClean="0"/>
              <a:t> </a:t>
            </a:r>
            <a:r>
              <a:rPr lang="en-US" dirty="0" err="1" smtClean="0"/>
              <a:t>đang</a:t>
            </a:r>
            <a:r>
              <a:rPr lang="en-US" dirty="0" smtClean="0"/>
              <a:t> </a:t>
            </a:r>
            <a:r>
              <a:rPr lang="en-US" dirty="0" err="1" smtClean="0"/>
              <a:t>được</a:t>
            </a:r>
            <a:r>
              <a:rPr lang="en-US" dirty="0" smtClean="0"/>
              <a:t> </a:t>
            </a:r>
            <a:r>
              <a:rPr lang="en-US" dirty="0" err="1" smtClean="0"/>
              <a:t>xấp</a:t>
            </a:r>
            <a:r>
              <a:rPr lang="en-US" dirty="0" smtClean="0"/>
              <a:t> </a:t>
            </a:r>
            <a:r>
              <a:rPr lang="en-US" dirty="0" err="1" smtClean="0"/>
              <a:t>xỉ</a:t>
            </a:r>
            <a:r>
              <a:rPr lang="en-US" dirty="0" smtClean="0"/>
              <a:t>. </a:t>
            </a:r>
            <a:r>
              <a:rPr lang="en-US" dirty="0" err="1" smtClean="0"/>
              <a:t>Ví</a:t>
            </a:r>
            <a:r>
              <a:rPr lang="en-US" dirty="0" smtClean="0"/>
              <a:t> </a:t>
            </a:r>
            <a:r>
              <a:rPr lang="en-US" dirty="0" err="1" smtClean="0"/>
              <a:t>dụ</a:t>
            </a:r>
            <a:r>
              <a:rPr lang="en-US" dirty="0" smtClean="0"/>
              <a:t> </a:t>
            </a:r>
            <a:r>
              <a:rPr lang="en-US" dirty="0" err="1" smtClean="0"/>
              <a:t>sai</a:t>
            </a:r>
            <a:r>
              <a:rPr lang="en-US" dirty="0" smtClean="0"/>
              <a:t> </a:t>
            </a:r>
            <a:r>
              <a:rPr lang="en-US" dirty="0" err="1" smtClean="0"/>
              <a:t>số</a:t>
            </a:r>
            <a:r>
              <a:rPr lang="en-US" dirty="0" smtClean="0"/>
              <a:t> 1cm </a:t>
            </a:r>
            <a:r>
              <a:rPr lang="en-US" dirty="0" err="1" smtClean="0"/>
              <a:t>sẽ</a:t>
            </a:r>
            <a:r>
              <a:rPr lang="en-US" dirty="0" smtClean="0"/>
              <a:t> </a:t>
            </a:r>
            <a:r>
              <a:rPr lang="en-US" dirty="0" err="1" smtClean="0"/>
              <a:t>nghiêm</a:t>
            </a:r>
            <a:r>
              <a:rPr lang="en-US" dirty="0" smtClean="0"/>
              <a:t> </a:t>
            </a:r>
            <a:r>
              <a:rPr lang="en-US" dirty="0" err="1" smtClean="0"/>
              <a:t>trọng</a:t>
            </a:r>
            <a:r>
              <a:rPr lang="en-US" dirty="0" smtClean="0"/>
              <a:t> </a:t>
            </a:r>
            <a:r>
              <a:rPr lang="en-US" dirty="0" err="1" smtClean="0"/>
              <a:t>hơn</a:t>
            </a:r>
            <a:r>
              <a:rPr lang="en-US" dirty="0" smtClean="0"/>
              <a:t> </a:t>
            </a:r>
            <a:r>
              <a:rPr lang="en-US" dirty="0" err="1" smtClean="0"/>
              <a:t>nhiều</a:t>
            </a:r>
            <a:r>
              <a:rPr lang="en-US" dirty="0" smtClean="0"/>
              <a:t> </a:t>
            </a:r>
            <a:r>
              <a:rPr lang="en-US" dirty="0" err="1" smtClean="0"/>
              <a:t>khi</a:t>
            </a:r>
            <a:r>
              <a:rPr lang="en-US" dirty="0" smtClean="0"/>
              <a:t> </a:t>
            </a:r>
            <a:r>
              <a:rPr lang="en-US" dirty="0" err="1"/>
              <a:t>đo</a:t>
            </a:r>
            <a:r>
              <a:rPr lang="en-US" dirty="0"/>
              <a:t> </a:t>
            </a:r>
            <a:r>
              <a:rPr lang="en-US" dirty="0" err="1"/>
              <a:t>một</a:t>
            </a:r>
            <a:r>
              <a:rPr lang="en-US" dirty="0"/>
              <a:t> </a:t>
            </a:r>
            <a:r>
              <a:rPr lang="en-US" dirty="0" err="1"/>
              <a:t>cây</a:t>
            </a:r>
            <a:r>
              <a:rPr lang="en-US" dirty="0"/>
              <a:t> </a:t>
            </a:r>
            <a:r>
              <a:rPr lang="en-US" dirty="0" err="1"/>
              <a:t>đinh</a:t>
            </a:r>
            <a:r>
              <a:rPr lang="en-US" dirty="0"/>
              <a:t> </a:t>
            </a:r>
            <a:r>
              <a:rPr lang="en-US" dirty="0" err="1"/>
              <a:t>tán</a:t>
            </a:r>
            <a:r>
              <a:rPr lang="en-US" dirty="0"/>
              <a:t> </a:t>
            </a:r>
            <a:r>
              <a:rPr lang="en-US" dirty="0" smtClean="0"/>
              <a:t>so </a:t>
            </a:r>
            <a:r>
              <a:rPr lang="en-US" dirty="0" err="1" smtClean="0"/>
              <a:t>với</a:t>
            </a:r>
            <a:r>
              <a:rPr lang="en-US" dirty="0" smtClean="0"/>
              <a:t> </a:t>
            </a:r>
            <a:r>
              <a:rPr lang="en-US" dirty="0" err="1" smtClean="0"/>
              <a:t>đo</a:t>
            </a:r>
            <a:r>
              <a:rPr lang="en-US" dirty="0" smtClean="0"/>
              <a:t> </a:t>
            </a:r>
            <a:r>
              <a:rPr lang="en-US" dirty="0" err="1" smtClean="0"/>
              <a:t>một</a:t>
            </a:r>
            <a:r>
              <a:rPr lang="en-US" dirty="0" smtClean="0"/>
              <a:t> </a:t>
            </a:r>
            <a:r>
              <a:rPr lang="en-US" dirty="0" err="1" smtClean="0"/>
              <a:t>cây</a:t>
            </a:r>
            <a:r>
              <a:rPr lang="en-US" dirty="0" smtClean="0"/>
              <a:t> </a:t>
            </a:r>
            <a:r>
              <a:rPr lang="en-US" dirty="0" err="1" smtClean="0"/>
              <a:t>cầu</a:t>
            </a:r>
            <a:r>
              <a:rPr lang="en-US" dirty="0" smtClean="0"/>
              <a:t>.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smtClean="0">
                <a:solidFill>
                  <a:srgbClr val="0070C0"/>
                </a:solidFill>
              </a:rPr>
              <a:t>Sai </a:t>
            </a:r>
            <a:r>
              <a:rPr lang="en-US" b="1" dirty="0" err="1" smtClean="0">
                <a:solidFill>
                  <a:srgbClr val="0070C0"/>
                </a:solidFill>
              </a:rPr>
              <a:t>số</a:t>
            </a:r>
            <a:r>
              <a:rPr lang="en-US" b="1" dirty="0" smtClean="0">
                <a:solidFill>
                  <a:srgbClr val="0070C0"/>
                </a:solidFill>
              </a:rPr>
              <a:t> </a:t>
            </a:r>
            <a:r>
              <a:rPr lang="en-US" b="1" dirty="0" err="1" smtClean="0">
                <a:solidFill>
                  <a:srgbClr val="0070C0"/>
                </a:solidFill>
              </a:rPr>
              <a:t>tương</a:t>
            </a:r>
            <a:r>
              <a:rPr lang="en-US" b="1" dirty="0" smtClean="0">
                <a:solidFill>
                  <a:srgbClr val="0070C0"/>
                </a:solidFill>
              </a:rPr>
              <a:t> </a:t>
            </a:r>
            <a:r>
              <a:rPr lang="en-US" b="1" dirty="0" err="1" smtClean="0">
                <a:solidFill>
                  <a:srgbClr val="0070C0"/>
                </a:solidFill>
              </a:rPr>
              <a:t>đối</a:t>
            </a:r>
            <a:r>
              <a:rPr lang="en-US" b="1" dirty="0" smtClean="0">
                <a:solidFill>
                  <a:srgbClr val="0070C0"/>
                </a:solidFill>
              </a:rPr>
              <a:t> </a:t>
            </a:r>
            <a:r>
              <a:rPr lang="en-US" dirty="0" smtClean="0"/>
              <a:t>– </a:t>
            </a:r>
            <a:r>
              <a:rPr lang="en-US" dirty="0" err="1" smtClean="0"/>
              <a:t>cho</a:t>
            </a:r>
            <a:r>
              <a:rPr lang="en-US" dirty="0" smtClean="0"/>
              <a:t> </a:t>
            </a:r>
            <a:r>
              <a:rPr lang="en-US" dirty="0" err="1" smtClean="0"/>
              <a:t>biết</a:t>
            </a:r>
            <a:r>
              <a:rPr lang="en-US" dirty="0" smtClean="0"/>
              <a:t> </a:t>
            </a:r>
            <a:r>
              <a:rPr lang="en-US" dirty="0" err="1" smtClean="0"/>
              <a:t>sai</a:t>
            </a:r>
            <a:r>
              <a:rPr lang="en-US" dirty="0" smtClean="0"/>
              <a:t> </a:t>
            </a:r>
            <a:r>
              <a:rPr lang="en-US" dirty="0" err="1" smtClean="0"/>
              <a:t>số</a:t>
            </a:r>
            <a:r>
              <a:rPr lang="en-US" dirty="0" smtClean="0"/>
              <a:t> </a:t>
            </a:r>
            <a:r>
              <a:rPr lang="en-US" dirty="0" err="1" smtClean="0"/>
              <a:t>tuyệt</a:t>
            </a:r>
            <a:r>
              <a:rPr lang="en-US" dirty="0" smtClean="0"/>
              <a:t> </a:t>
            </a:r>
            <a:r>
              <a:rPr lang="en-US" dirty="0" err="1" smtClean="0"/>
              <a:t>đối</a:t>
            </a:r>
            <a:r>
              <a:rPr lang="en-US" dirty="0" smtClean="0"/>
              <a:t> </a:t>
            </a:r>
            <a:r>
              <a:rPr lang="en-US" dirty="0" err="1" smtClean="0"/>
              <a:t>chiếm</a:t>
            </a:r>
            <a:r>
              <a:rPr lang="en-US" dirty="0" smtClean="0"/>
              <a:t> </a:t>
            </a:r>
            <a:r>
              <a:rPr lang="en-US" dirty="0" err="1" smtClean="0"/>
              <a:t>bao</a:t>
            </a:r>
            <a:r>
              <a:rPr lang="en-US" dirty="0" smtClean="0"/>
              <a:t> </a:t>
            </a:r>
            <a:r>
              <a:rPr lang="en-US" dirty="0" err="1" smtClean="0"/>
              <a:t>nhiêu</a:t>
            </a:r>
            <a:r>
              <a:rPr lang="en-US" dirty="0" smtClean="0"/>
              <a:t> </a:t>
            </a:r>
            <a:r>
              <a:rPr lang="en-US" dirty="0" err="1" smtClean="0"/>
              <a:t>phần</a:t>
            </a:r>
            <a:r>
              <a:rPr lang="en-US" dirty="0" smtClean="0"/>
              <a:t> </a:t>
            </a:r>
            <a:r>
              <a:rPr lang="en-US" dirty="0" err="1" smtClean="0"/>
              <a:t>trăm</a:t>
            </a:r>
            <a:r>
              <a:rPr lang="en-US" dirty="0" smtClean="0"/>
              <a:t> </a:t>
            </a:r>
            <a:r>
              <a:rPr lang="en-US" dirty="0" err="1" smtClean="0"/>
              <a:t>của</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thực</a:t>
            </a:r>
            <a:endParaRPr lang="en-US" dirty="0"/>
          </a:p>
        </p:txBody>
      </p:sp>
      <p:pic>
        <p:nvPicPr>
          <p:cNvPr id="2" name="Picture 1"/>
          <p:cNvPicPr>
            <a:picLocks noChangeAspect="1"/>
          </p:cNvPicPr>
          <p:nvPr/>
        </p:nvPicPr>
        <p:blipFill>
          <a:blip r:embed="rId1"/>
          <a:stretch>
            <a:fillRect/>
          </a:stretch>
        </p:blipFill>
        <p:spPr>
          <a:xfrm>
            <a:off x="3008432" y="2507311"/>
            <a:ext cx="6175135" cy="1554480"/>
          </a:xfrm>
          <a:prstGeom prst="rect">
            <a:avLst/>
          </a:prstGeom>
        </p:spPr>
      </p:pic>
      <p:pic>
        <p:nvPicPr>
          <p:cNvPr id="4" name="Picture 3"/>
          <p:cNvPicPr>
            <a:picLocks noChangeAspect="1"/>
          </p:cNvPicPr>
          <p:nvPr/>
        </p:nvPicPr>
        <p:blipFill>
          <a:blip r:embed="rId2"/>
          <a:stretch>
            <a:fillRect/>
          </a:stretch>
        </p:blipFill>
        <p:spPr>
          <a:xfrm>
            <a:off x="5189551" y="4295572"/>
            <a:ext cx="3671048" cy="1143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Trong</a:t>
            </a:r>
            <a:r>
              <a:rPr lang="en-US" dirty="0" smtClean="0"/>
              <a:t> </a:t>
            </a:r>
            <a:r>
              <a:rPr lang="en-US" dirty="0" err="1" smtClean="0"/>
              <a:t>thực</a:t>
            </a:r>
            <a:r>
              <a:rPr lang="en-US" dirty="0" smtClean="0"/>
              <a:t> </a:t>
            </a:r>
            <a:r>
              <a:rPr lang="en-US" dirty="0" err="1" smtClean="0"/>
              <a:t>tế</a:t>
            </a:r>
            <a:r>
              <a:rPr lang="en-US" dirty="0" smtClean="0"/>
              <a:t> ta </a:t>
            </a:r>
            <a:r>
              <a:rPr lang="en-US" dirty="0" err="1" smtClean="0"/>
              <a:t>không</a:t>
            </a:r>
            <a:r>
              <a:rPr lang="en-US" dirty="0" smtClean="0"/>
              <a:t> </a:t>
            </a:r>
            <a:r>
              <a:rPr lang="en-US" dirty="0" err="1" smtClean="0"/>
              <a:t>biết</a:t>
            </a:r>
            <a:r>
              <a:rPr lang="en-US" dirty="0" smtClean="0"/>
              <a:t> </a:t>
            </a:r>
            <a:r>
              <a:rPr lang="en-US" dirty="0" err="1" smtClean="0"/>
              <a:t>được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thực</a:t>
            </a:r>
            <a:r>
              <a:rPr lang="en-US" dirty="0" smtClean="0"/>
              <a:t> (</a:t>
            </a:r>
            <a:r>
              <a:rPr lang="en-US" dirty="0" err="1" smtClean="0"/>
              <a:t>chỉ</a:t>
            </a:r>
            <a:r>
              <a:rPr lang="en-US" dirty="0" smtClean="0"/>
              <a:t> </a:t>
            </a:r>
            <a:r>
              <a:rPr lang="en-US" dirty="0" err="1" smtClean="0"/>
              <a:t>biết</a:t>
            </a:r>
            <a:r>
              <a:rPr lang="en-US" dirty="0" smtClean="0"/>
              <a:t> </a:t>
            </a:r>
            <a:r>
              <a:rPr lang="en-US" dirty="0" err="1" smtClean="0"/>
              <a:t>được</a:t>
            </a:r>
            <a:r>
              <a:rPr lang="en-US" dirty="0" smtClean="0"/>
              <a:t> </a:t>
            </a:r>
            <a:r>
              <a:rPr lang="en-US" dirty="0" err="1" smtClean="0"/>
              <a:t>khi</a:t>
            </a:r>
            <a:r>
              <a:rPr lang="en-US" dirty="0" smtClean="0"/>
              <a:t> </a:t>
            </a:r>
            <a:r>
              <a:rPr lang="en-US" dirty="0" err="1" smtClean="0"/>
              <a:t>tìm</a:t>
            </a:r>
            <a:r>
              <a:rPr lang="en-US" dirty="0" smtClean="0"/>
              <a:t> </a:t>
            </a:r>
            <a:r>
              <a:rPr lang="en-US" dirty="0" err="1" smtClean="0"/>
              <a:t>được</a:t>
            </a:r>
            <a:r>
              <a:rPr lang="en-US" dirty="0" smtClean="0"/>
              <a:t> </a:t>
            </a:r>
            <a:r>
              <a:rPr lang="en-US" dirty="0" err="1" smtClean="0"/>
              <a:t>nghiệm</a:t>
            </a:r>
            <a:r>
              <a:rPr lang="en-US" dirty="0" smtClean="0"/>
              <a:t> </a:t>
            </a:r>
            <a:r>
              <a:rPr lang="en-US" dirty="0" err="1" smtClean="0"/>
              <a:t>giải</a:t>
            </a:r>
            <a:r>
              <a:rPr lang="en-US" dirty="0" smtClean="0"/>
              <a:t> </a:t>
            </a:r>
            <a:r>
              <a:rPr lang="en-US" dirty="0" err="1" smtClean="0"/>
              <a:t>tích</a:t>
            </a:r>
            <a:r>
              <a:rPr lang="en-US" dirty="0" smtClean="0"/>
              <a:t>), do </a:t>
            </a:r>
            <a:r>
              <a:rPr lang="en-US" dirty="0" err="1" smtClean="0"/>
              <a:t>vậy</a:t>
            </a:r>
            <a:r>
              <a:rPr lang="en-US" dirty="0" smtClean="0"/>
              <a:t> </a:t>
            </a:r>
            <a:r>
              <a:rPr lang="en-US" dirty="0" err="1" smtClean="0"/>
              <a:t>một</a:t>
            </a:r>
            <a:r>
              <a:rPr lang="en-US" dirty="0" smtClean="0"/>
              <a:t> </a:t>
            </a:r>
            <a:r>
              <a:rPr lang="en-US" dirty="0" err="1" smtClean="0"/>
              <a:t>công</a:t>
            </a:r>
            <a:r>
              <a:rPr lang="en-US" dirty="0" smtClean="0"/>
              <a:t> </a:t>
            </a:r>
            <a:r>
              <a:rPr lang="en-US" dirty="0" err="1" smtClean="0"/>
              <a:t>thức</a:t>
            </a:r>
            <a:r>
              <a:rPr lang="en-US" dirty="0" smtClean="0"/>
              <a:t> </a:t>
            </a:r>
            <a:r>
              <a:rPr lang="en-US" dirty="0" err="1" smtClean="0"/>
              <a:t>thay</a:t>
            </a:r>
            <a:r>
              <a:rPr lang="en-US" dirty="0" smtClean="0"/>
              <a:t> </a:t>
            </a:r>
            <a:r>
              <a:rPr lang="en-US" dirty="0" err="1" smtClean="0"/>
              <a:t>thế</a:t>
            </a:r>
            <a:r>
              <a:rPr lang="en-US" dirty="0" smtClean="0"/>
              <a:t> </a:t>
            </a:r>
            <a:r>
              <a:rPr lang="en-US" dirty="0" err="1" smtClean="0"/>
              <a:t>được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bằng</a:t>
            </a:r>
            <a:r>
              <a:rPr lang="en-US" dirty="0" smtClean="0"/>
              <a:t> </a:t>
            </a:r>
            <a:r>
              <a:rPr lang="en-US" dirty="0" err="1" smtClean="0"/>
              <a:t>cách</a:t>
            </a:r>
            <a:r>
              <a:rPr lang="en-US" dirty="0" smtClean="0"/>
              <a:t> </a:t>
            </a:r>
            <a:r>
              <a:rPr lang="en-US" dirty="0" err="1" smtClean="0"/>
              <a:t>thay</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thực</a:t>
            </a:r>
            <a:r>
              <a:rPr lang="en-US" dirty="0" smtClean="0"/>
              <a:t> </a:t>
            </a:r>
            <a:r>
              <a:rPr lang="en-US" dirty="0" err="1" smtClean="0"/>
              <a:t>bằng</a:t>
            </a:r>
            <a:r>
              <a:rPr lang="en-US" dirty="0" smtClean="0"/>
              <a:t> </a:t>
            </a:r>
            <a:r>
              <a:rPr lang="en-US" dirty="0" err="1" smtClean="0"/>
              <a:t>xấp</a:t>
            </a:r>
            <a:r>
              <a:rPr lang="en-US" dirty="0" smtClean="0"/>
              <a:t> </a:t>
            </a:r>
            <a:r>
              <a:rPr lang="en-US" dirty="0" err="1" smtClean="0"/>
              <a:t>xỉ</a:t>
            </a:r>
            <a:r>
              <a:rPr lang="en-US" dirty="0" smtClean="0"/>
              <a:t> </a:t>
            </a:r>
            <a:r>
              <a:rPr lang="en-US" dirty="0" err="1" smtClean="0"/>
              <a:t>tốt</a:t>
            </a:r>
            <a:r>
              <a:rPr lang="en-US" dirty="0" smtClean="0"/>
              <a:t> </a:t>
            </a:r>
            <a:r>
              <a:rPr lang="en-US" dirty="0" err="1" smtClean="0"/>
              <a:t>nhất</a:t>
            </a:r>
            <a:r>
              <a:rPr lang="en-US" dirty="0" smtClean="0"/>
              <a:t> </a:t>
            </a:r>
            <a:r>
              <a:rPr lang="en-US" dirty="0" err="1" smtClean="0"/>
              <a:t>có</a:t>
            </a:r>
            <a:r>
              <a:rPr lang="en-US" dirty="0" smtClean="0"/>
              <a:t> </a:t>
            </a:r>
            <a:r>
              <a:rPr lang="en-US" dirty="0" err="1" smtClean="0"/>
              <a:t>thể</a:t>
            </a:r>
            <a:r>
              <a:rPr lang="en-US" dirty="0" smtClean="0"/>
              <a:t> </a:t>
            </a:r>
            <a:r>
              <a:rPr lang="en-US" dirty="0" err="1" smtClean="0"/>
              <a:t>của</a:t>
            </a:r>
            <a:r>
              <a:rPr lang="en-US" dirty="0" smtClean="0"/>
              <a:t> </a:t>
            </a:r>
            <a:r>
              <a:rPr lang="en-US" dirty="0" err="1" smtClean="0"/>
              <a:t>nó</a:t>
            </a:r>
            <a:r>
              <a:rPr lang="en-US" dirty="0" smtClean="0"/>
              <a:t>. Do </a:t>
            </a:r>
            <a:r>
              <a:rPr lang="en-US" dirty="0" err="1" smtClean="0"/>
              <a:t>vậy</a:t>
            </a:r>
            <a:r>
              <a:rPr lang="en-US" dirty="0" smtClean="0"/>
              <a:t> </a:t>
            </a:r>
            <a:endParaRPr lang="en-US" dirty="0"/>
          </a:p>
        </p:txBody>
      </p:sp>
      <p:pic>
        <p:nvPicPr>
          <p:cNvPr id="2" name="Picture 1"/>
          <p:cNvPicPr>
            <a:picLocks noChangeAspect="1"/>
          </p:cNvPicPr>
          <p:nvPr/>
        </p:nvPicPr>
        <p:blipFill>
          <a:blip r:embed="rId1"/>
          <a:stretch>
            <a:fillRect/>
          </a:stretch>
        </p:blipFill>
        <p:spPr>
          <a:xfrm>
            <a:off x="4349915" y="3503478"/>
            <a:ext cx="3846135" cy="10972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Nhiều</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số</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các</a:t>
            </a:r>
            <a:r>
              <a:rPr lang="en-US" dirty="0" smtClean="0"/>
              <a:t> </a:t>
            </a:r>
            <a:r>
              <a:rPr lang="en-US" dirty="0" err="1" smtClean="0"/>
              <a:t>vòng</a:t>
            </a:r>
            <a:r>
              <a:rPr lang="en-US" dirty="0" smtClean="0"/>
              <a:t> </a:t>
            </a:r>
            <a:r>
              <a:rPr lang="en-US" dirty="0" err="1" smtClean="0"/>
              <a:t>lặp</a:t>
            </a:r>
            <a:r>
              <a:rPr lang="en-US" dirty="0" smtClean="0"/>
              <a:t> </a:t>
            </a:r>
            <a:r>
              <a:rPr lang="en-US" dirty="0" err="1" smtClean="0"/>
              <a:t>để</a:t>
            </a:r>
            <a:r>
              <a:rPr lang="en-US" dirty="0" smtClean="0"/>
              <a:t> </a:t>
            </a:r>
            <a:r>
              <a:rPr lang="en-US" dirty="0" err="1" smtClean="0"/>
              <a:t>đưa</a:t>
            </a:r>
            <a:r>
              <a:rPr lang="en-US" dirty="0" smtClean="0"/>
              <a:t> </a:t>
            </a:r>
            <a:r>
              <a:rPr lang="en-US" dirty="0" err="1" smtClean="0"/>
              <a:t>ra</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ngày</a:t>
            </a:r>
            <a:r>
              <a:rPr lang="en-US" dirty="0" smtClean="0"/>
              <a:t> </a:t>
            </a:r>
            <a:r>
              <a:rPr lang="en-US" dirty="0" err="1" smtClean="0"/>
              <a:t>càng</a:t>
            </a:r>
            <a:r>
              <a:rPr lang="en-US" dirty="0" smtClean="0"/>
              <a:t> </a:t>
            </a:r>
            <a:r>
              <a:rPr lang="en-US" dirty="0" err="1" smtClean="0"/>
              <a:t>chính</a:t>
            </a:r>
            <a:r>
              <a:rPr lang="en-US" dirty="0" smtClean="0"/>
              <a:t> </a:t>
            </a:r>
            <a:r>
              <a:rPr lang="en-US" dirty="0" err="1" smtClean="0"/>
              <a:t>xác</a:t>
            </a:r>
            <a:r>
              <a:rPr lang="en-US" dirty="0" smtClean="0"/>
              <a:t> </a:t>
            </a:r>
            <a:r>
              <a:rPr lang="en-US" dirty="0" err="1" smtClean="0"/>
              <a:t>hơn</a:t>
            </a:r>
            <a:r>
              <a:rPr lang="en-US" dirty="0" smtClean="0"/>
              <a:t>. </a:t>
            </a:r>
            <a:r>
              <a:rPr lang="en-US" dirty="0" err="1" smtClean="0"/>
              <a:t>Khi</a:t>
            </a:r>
            <a:r>
              <a:rPr lang="en-US" dirty="0" smtClean="0"/>
              <a:t> </a:t>
            </a:r>
            <a:r>
              <a:rPr lang="en-US" dirty="0" err="1" smtClean="0"/>
              <a:t>đó</a:t>
            </a:r>
            <a:r>
              <a:rPr lang="en-US" dirty="0" smtClean="0"/>
              <a:t>, </a:t>
            </a:r>
            <a:r>
              <a:rPr lang="en-US" dirty="0" err="1" smtClean="0"/>
              <a:t>sai</a:t>
            </a:r>
            <a:r>
              <a:rPr lang="en-US" dirty="0" smtClean="0"/>
              <a:t> </a:t>
            </a:r>
            <a:r>
              <a:rPr lang="en-US" dirty="0" err="1" smtClean="0"/>
              <a:t>số</a:t>
            </a:r>
            <a:r>
              <a:rPr lang="en-US" dirty="0" smtClean="0"/>
              <a:t> </a:t>
            </a:r>
            <a:r>
              <a:rPr lang="en-US" dirty="0" err="1" smtClean="0"/>
              <a:t>được</a:t>
            </a:r>
            <a:r>
              <a:rPr lang="en-US" dirty="0" smtClean="0"/>
              <a:t> </a:t>
            </a:r>
            <a:r>
              <a:rPr lang="en-US" dirty="0" err="1" smtClean="0"/>
              <a:t>tính</a:t>
            </a:r>
            <a:r>
              <a:rPr lang="en-US" dirty="0" smtClean="0"/>
              <a:t> </a:t>
            </a:r>
            <a:r>
              <a:rPr lang="en-US" dirty="0" err="1" smtClean="0"/>
              <a:t>dựa</a:t>
            </a:r>
            <a:r>
              <a:rPr lang="en-US" dirty="0" smtClean="0"/>
              <a:t> </a:t>
            </a:r>
            <a:r>
              <a:rPr lang="en-US" dirty="0" err="1" smtClean="0"/>
              <a:t>trên</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của</a:t>
            </a:r>
            <a:r>
              <a:rPr lang="en-US" dirty="0" smtClean="0"/>
              <a:t> </a:t>
            </a:r>
            <a:r>
              <a:rPr lang="en-US" dirty="0" err="1" smtClean="0"/>
              <a:t>hai</a:t>
            </a:r>
            <a:r>
              <a:rPr lang="en-US" dirty="0" smtClean="0"/>
              <a:t> </a:t>
            </a:r>
            <a:r>
              <a:rPr lang="en-US" dirty="0" err="1" smtClean="0"/>
              <a:t>lần</a:t>
            </a:r>
            <a:r>
              <a:rPr lang="en-US" dirty="0" smtClean="0"/>
              <a:t> </a:t>
            </a:r>
            <a:r>
              <a:rPr lang="en-US" dirty="0" err="1" smtClean="0"/>
              <a:t>lặp</a:t>
            </a:r>
            <a:r>
              <a:rPr lang="en-US" dirty="0" smtClean="0"/>
              <a:t> </a:t>
            </a:r>
            <a:r>
              <a:rPr lang="en-US" dirty="0" err="1" smtClean="0"/>
              <a:t>liên</a:t>
            </a:r>
            <a:r>
              <a:rPr lang="en-US" dirty="0" smtClean="0"/>
              <a:t> </a:t>
            </a:r>
            <a:r>
              <a:rPr lang="en-US" dirty="0" err="1" smtClean="0"/>
              <a:t>tiếp</a:t>
            </a:r>
            <a:endParaRPr lang="en-US" dirty="0"/>
          </a:p>
        </p:txBody>
      </p:sp>
      <p:graphicFrame>
        <p:nvGraphicFramePr>
          <p:cNvPr id="2" name="Object 1"/>
          <p:cNvGraphicFramePr>
            <a:graphicFrameLocks noChangeAspect="1"/>
          </p:cNvGraphicFramePr>
          <p:nvPr/>
        </p:nvGraphicFramePr>
        <p:xfrm>
          <a:off x="3340000" y="3503478"/>
          <a:ext cx="6072552" cy="914400"/>
        </p:xfrm>
        <a:graphic>
          <a:graphicData uri="http://schemas.openxmlformats.org/presentationml/2006/ole">
            <mc:AlternateContent xmlns:mc="http://schemas.openxmlformats.org/markup-compatibility/2006">
              <mc:Choice xmlns:v="urn:schemas-microsoft-com:vml" Requires="v">
                <p:oleObj spid="_x0000_s3084" name="Equation" r:id="rId1" imgW="78943200" imgH="11887200" progId="Equation.3">
                  <p:embed/>
                </p:oleObj>
              </mc:Choice>
              <mc:Fallback>
                <p:oleObj name="Equation" r:id="rId1" imgW="78943200" imgH="11887200" progId="Equation.3">
                  <p:embed/>
                  <p:pic>
                    <p:nvPicPr>
                      <p:cNvPr id="0" name="Picture 3083"/>
                      <p:cNvPicPr/>
                      <p:nvPr/>
                    </p:nvPicPr>
                    <p:blipFill>
                      <a:blip r:embed="rId2"/>
                      <a:stretch>
                        <a:fillRect/>
                      </a:stretch>
                    </p:blipFill>
                    <p:spPr>
                      <a:xfrm>
                        <a:off x="3340000" y="3503478"/>
                        <a:ext cx="6072552" cy="914400"/>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err="1" smtClean="0"/>
              <a:t>Điều</a:t>
            </a:r>
            <a:r>
              <a:rPr lang="en-US" b="1" dirty="0" smtClean="0"/>
              <a:t> </a:t>
            </a:r>
            <a:r>
              <a:rPr lang="en-US" b="1" dirty="0" err="1" smtClean="0"/>
              <a:t>kiện</a:t>
            </a:r>
            <a:r>
              <a:rPr lang="en-US" b="1" dirty="0" smtClean="0"/>
              <a:t> </a:t>
            </a:r>
            <a:r>
              <a:rPr lang="en-US" b="1" dirty="0" err="1" smtClean="0"/>
              <a:t>dừng</a:t>
            </a:r>
            <a:r>
              <a:rPr lang="en-US" b="1" dirty="0" smtClean="0"/>
              <a:t> </a:t>
            </a:r>
            <a:r>
              <a:rPr lang="en-US" b="1" dirty="0" err="1" smtClean="0"/>
              <a:t>và</a:t>
            </a:r>
            <a:r>
              <a:rPr lang="en-US" b="1" dirty="0" smtClean="0"/>
              <a:t> </a:t>
            </a:r>
            <a:r>
              <a:rPr lang="en-US" b="1" dirty="0" err="1" smtClean="0"/>
              <a:t>chữ</a:t>
            </a:r>
            <a:r>
              <a:rPr lang="en-US" b="1" dirty="0" smtClean="0"/>
              <a:t> </a:t>
            </a:r>
            <a:r>
              <a:rPr lang="en-US" b="1" dirty="0" err="1" smtClean="0"/>
              <a:t>số</a:t>
            </a:r>
            <a:r>
              <a:rPr lang="en-US" b="1" dirty="0" smtClean="0"/>
              <a:t> </a:t>
            </a:r>
            <a:r>
              <a:rPr lang="en-US" b="1" dirty="0" err="1" smtClean="0"/>
              <a:t>có</a:t>
            </a:r>
            <a:r>
              <a:rPr lang="en-US" b="1" dirty="0" smtClean="0"/>
              <a:t> </a:t>
            </a:r>
            <a:r>
              <a:rPr lang="en-US" b="1" dirty="0" err="1" smtClean="0"/>
              <a:t>nghĩa</a:t>
            </a:r>
            <a:endParaRPr lang="en-US" b="1" dirty="0" smtClean="0"/>
          </a:p>
          <a:p>
            <a:pPr marL="0" indent="0" algn="just">
              <a:lnSpc>
                <a:spcPct val="150000"/>
              </a:lnSpc>
              <a:buNone/>
            </a:pPr>
            <a:r>
              <a:rPr lang="en-US" dirty="0" smtClean="0">
                <a:latin typeface="Calibri (Body)"/>
              </a:rPr>
              <a:t>Ta </a:t>
            </a:r>
            <a:r>
              <a:rPr lang="vi-VN" dirty="0" smtClean="0">
                <a:latin typeface="Calibri (Body)"/>
              </a:rPr>
              <a:t>chỉ quan tâm đến độ lớn tuyệt đối của </a:t>
            </a:r>
            <a:r>
              <a:rPr lang="en-US" dirty="0" err="1" smtClean="0">
                <a:latin typeface="Calibri (Body)"/>
              </a:rPr>
              <a:t>sai</a:t>
            </a:r>
            <a:r>
              <a:rPr lang="en-US" dirty="0" smtClean="0">
                <a:latin typeface="Calibri (Body)"/>
              </a:rPr>
              <a:t> </a:t>
            </a:r>
            <a:r>
              <a:rPr lang="en-US" dirty="0" err="1" smtClean="0">
                <a:latin typeface="Calibri (Body)"/>
              </a:rPr>
              <a:t>số</a:t>
            </a:r>
            <a:r>
              <a:rPr lang="en-US" dirty="0" smtClean="0">
                <a:latin typeface="Calibri (Body)"/>
              </a:rPr>
              <a:t>. </a:t>
            </a:r>
            <a:r>
              <a:rPr lang="vi-VN" dirty="0" smtClean="0">
                <a:latin typeface="Calibri (Body)"/>
              </a:rPr>
              <a:t>Quá trình tính toán sẽ lặp lại cho đến khi giá trị tuyệt đối của sai số xấp xỉ nhỏ hơn một mức dung sai</a:t>
            </a:r>
            <a:r>
              <a:rPr lang="en-US" dirty="0" smtClean="0">
                <a:latin typeface="Calibri (Body)"/>
              </a:rPr>
              <a:t> </a:t>
            </a:r>
            <a:r>
              <a:rPr lang="vi-VN" dirty="0" smtClean="0">
                <a:latin typeface="Calibri (Body)"/>
              </a:rPr>
              <a:t> </a:t>
            </a:r>
            <a:r>
              <a:rPr lang="en-US" dirty="0" smtClean="0">
                <a:latin typeface="Calibri (Body)"/>
              </a:rPr>
              <a:t>    </a:t>
            </a:r>
            <a:r>
              <a:rPr lang="vi-VN" dirty="0" smtClean="0">
                <a:latin typeface="Calibri (Body)"/>
              </a:rPr>
              <a:t>cho trước</a:t>
            </a:r>
            <a:endParaRPr lang="en-US" dirty="0">
              <a:latin typeface="Calibri (Body)"/>
            </a:endParaRPr>
          </a:p>
        </p:txBody>
      </p:sp>
      <p:graphicFrame>
        <p:nvGraphicFramePr>
          <p:cNvPr id="2" name="Object 1"/>
          <p:cNvGraphicFramePr>
            <a:graphicFrameLocks noChangeAspect="1"/>
          </p:cNvGraphicFramePr>
          <p:nvPr/>
        </p:nvGraphicFramePr>
        <p:xfrm>
          <a:off x="2229093" y="3111146"/>
          <a:ext cx="336885" cy="457200"/>
        </p:xfrm>
        <a:graphic>
          <a:graphicData uri="http://schemas.openxmlformats.org/presentationml/2006/ole">
            <mc:AlternateContent xmlns:mc="http://schemas.openxmlformats.org/markup-compatibility/2006">
              <mc:Choice xmlns:v="urn:schemas-microsoft-com:vml" Requires="v">
                <p:oleObj spid="_x0000_s4122" name="Equation" r:id="rId1" imgW="4267200" imgH="5791200" progId="Equation.3">
                  <p:embed/>
                </p:oleObj>
              </mc:Choice>
              <mc:Fallback>
                <p:oleObj name="Equation" r:id="rId1" imgW="4267200" imgH="5791200" progId="Equation.3">
                  <p:embed/>
                  <p:pic>
                    <p:nvPicPr>
                      <p:cNvPr id="0" name="Picture 4121"/>
                      <p:cNvPicPr/>
                      <p:nvPr/>
                    </p:nvPicPr>
                    <p:blipFill>
                      <a:blip r:embed="rId2"/>
                      <a:stretch>
                        <a:fillRect/>
                      </a:stretch>
                    </p:blipFill>
                    <p:spPr>
                      <a:xfrm>
                        <a:off x="2229093" y="3111146"/>
                        <a:ext cx="336885" cy="457200"/>
                      </a:xfrm>
                      <a:prstGeom prst="rect">
                        <a:avLst/>
                      </a:prstGeom>
                    </p:spPr>
                  </p:pic>
                </p:oleObj>
              </mc:Fallback>
            </mc:AlternateContent>
          </a:graphicData>
        </a:graphic>
      </p:graphicFrame>
      <p:graphicFrame>
        <p:nvGraphicFramePr>
          <p:cNvPr id="4" name="Object 3"/>
          <p:cNvGraphicFramePr>
            <a:graphicFrameLocks noChangeAspect="1"/>
          </p:cNvGraphicFramePr>
          <p:nvPr/>
        </p:nvGraphicFramePr>
        <p:xfrm>
          <a:off x="5479256" y="3944401"/>
          <a:ext cx="1233487" cy="457200"/>
        </p:xfrm>
        <a:graphic>
          <a:graphicData uri="http://schemas.openxmlformats.org/presentationml/2006/ole">
            <mc:AlternateContent xmlns:mc="http://schemas.openxmlformats.org/markup-compatibility/2006">
              <mc:Choice xmlns:v="urn:schemas-microsoft-com:vml" Requires="v">
                <p:oleObj spid="_x0000_s4123" name="Equation" r:id="rId3" imgW="15544800" imgH="5791200" progId="Equation.3">
                  <p:embed/>
                </p:oleObj>
              </mc:Choice>
              <mc:Fallback>
                <p:oleObj name="Equation" r:id="rId3" imgW="15544800" imgH="5791200" progId="Equation.3">
                  <p:embed/>
                  <p:pic>
                    <p:nvPicPr>
                      <p:cNvPr id="0" name="Object 1"/>
                      <p:cNvPicPr/>
                      <p:nvPr/>
                    </p:nvPicPr>
                    <p:blipFill>
                      <a:blip r:embed="rId4"/>
                      <a:stretch>
                        <a:fillRect/>
                      </a:stretch>
                    </p:blipFill>
                    <p:spPr>
                      <a:xfrm>
                        <a:off x="5479256" y="3944401"/>
                        <a:ext cx="1233487" cy="457200"/>
                      </a:xfrm>
                      <a:prstGeom prst="rect">
                        <a:avLst/>
                      </a:prstGeom>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Để</a:t>
            </a:r>
            <a:r>
              <a:rPr lang="en-US" dirty="0" smtClean="0"/>
              <a:t> </a:t>
            </a:r>
            <a:r>
              <a:rPr lang="en-US" dirty="0" err="1" smtClean="0"/>
              <a:t>đảm</a:t>
            </a:r>
            <a:r>
              <a:rPr lang="en-US" dirty="0" smtClean="0"/>
              <a:t> </a:t>
            </a:r>
            <a:r>
              <a:rPr lang="en-US" dirty="0" err="1" smtClean="0"/>
              <a:t>bảo</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chính</a:t>
            </a:r>
            <a:r>
              <a:rPr lang="en-US" dirty="0" smtClean="0"/>
              <a:t> </a:t>
            </a:r>
            <a:r>
              <a:rPr lang="en-US" dirty="0" err="1" smtClean="0"/>
              <a:t>xác</a:t>
            </a:r>
            <a:r>
              <a:rPr lang="en-US" dirty="0" smtClean="0"/>
              <a:t> </a:t>
            </a:r>
            <a:r>
              <a:rPr lang="en-US" dirty="0" err="1" smtClean="0"/>
              <a:t>đến</a:t>
            </a:r>
            <a:r>
              <a:rPr lang="en-US" dirty="0" smtClean="0"/>
              <a:t> </a:t>
            </a:r>
            <a:r>
              <a:rPr lang="en-US" dirty="0" err="1" smtClean="0"/>
              <a:t>ít</a:t>
            </a:r>
            <a:r>
              <a:rPr lang="en-US" dirty="0" smtClean="0"/>
              <a:t> </a:t>
            </a:r>
            <a:r>
              <a:rPr lang="en-US" dirty="0" err="1" smtClean="0"/>
              <a:t>nhất</a:t>
            </a:r>
            <a:r>
              <a:rPr lang="en-US" dirty="0" smtClean="0"/>
              <a:t> n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 ta </a:t>
            </a:r>
            <a:r>
              <a:rPr lang="en-US" dirty="0" err="1" smtClean="0"/>
              <a:t>sử</a:t>
            </a:r>
            <a:r>
              <a:rPr lang="en-US" dirty="0" smtClean="0"/>
              <a:t> </a:t>
            </a:r>
            <a:r>
              <a:rPr lang="en-US" dirty="0" err="1" smtClean="0"/>
              <a:t>dụng</a:t>
            </a:r>
            <a:r>
              <a:rPr lang="en-US" dirty="0" smtClean="0"/>
              <a:t> </a:t>
            </a:r>
            <a:r>
              <a:rPr lang="en-US" dirty="0" err="1" smtClean="0"/>
              <a:t>tiêu</a:t>
            </a:r>
            <a:r>
              <a:rPr lang="en-US" dirty="0" smtClean="0"/>
              <a:t> </a:t>
            </a:r>
            <a:r>
              <a:rPr lang="en-US" dirty="0" err="1" smtClean="0"/>
              <a:t>chuẩn</a:t>
            </a:r>
            <a:r>
              <a:rPr lang="en-US" dirty="0" smtClean="0"/>
              <a:t> Scarborough (1966) </a:t>
            </a:r>
            <a:r>
              <a:rPr lang="en-US" dirty="0" err="1" smtClean="0"/>
              <a:t>để</a:t>
            </a:r>
            <a:r>
              <a:rPr lang="en-US" dirty="0" smtClean="0"/>
              <a:t> </a:t>
            </a:r>
            <a:r>
              <a:rPr lang="en-US" dirty="0" err="1" smtClean="0"/>
              <a:t>thiết</a:t>
            </a:r>
            <a:r>
              <a:rPr lang="en-US" dirty="0" smtClean="0"/>
              <a:t> </a:t>
            </a:r>
            <a:r>
              <a:rPr lang="en-US" dirty="0" err="1" smtClean="0"/>
              <a:t>lập</a:t>
            </a:r>
            <a:r>
              <a:rPr lang="en-US" dirty="0" smtClean="0"/>
              <a:t> </a:t>
            </a:r>
            <a:r>
              <a:rPr lang="en-US" dirty="0" err="1" smtClean="0"/>
              <a:t>mức</a:t>
            </a:r>
            <a:r>
              <a:rPr lang="en-US" dirty="0" smtClean="0"/>
              <a:t> dung </a:t>
            </a:r>
            <a:r>
              <a:rPr lang="en-US" dirty="0" err="1" smtClean="0"/>
              <a:t>sai</a:t>
            </a:r>
            <a:endParaRPr lang="en-US" dirty="0" smtClean="0"/>
          </a:p>
          <a:p>
            <a:pPr marL="0" indent="0" algn="just">
              <a:lnSpc>
                <a:spcPct val="150000"/>
              </a:lnSpc>
              <a:buNone/>
            </a:pPr>
            <a:endParaRPr lang="en-US" dirty="0"/>
          </a:p>
          <a:p>
            <a:pPr marL="0" indent="0" algn="just">
              <a:lnSpc>
                <a:spcPct val="150000"/>
              </a:lnSpc>
              <a:buNone/>
            </a:pPr>
            <a:endParaRPr lang="en-US" dirty="0" smtClean="0"/>
          </a:p>
          <a:p>
            <a:pPr marL="0" indent="0" algn="just">
              <a:lnSpc>
                <a:spcPct val="150000"/>
              </a:lnSpc>
              <a:buNone/>
            </a:pPr>
            <a:r>
              <a:rPr lang="en-US" dirty="0" err="1" smtClean="0"/>
              <a:t>Ví</a:t>
            </a:r>
            <a:r>
              <a:rPr lang="en-US" dirty="0" smtClean="0"/>
              <a:t> </a:t>
            </a:r>
            <a:r>
              <a:rPr lang="en-US" dirty="0" err="1" smtClean="0"/>
              <a:t>dụ</a:t>
            </a:r>
            <a:r>
              <a:rPr lang="en-US" dirty="0" smtClean="0"/>
              <a:t> </a:t>
            </a:r>
            <a:r>
              <a:rPr lang="en-US" dirty="0" err="1" smtClean="0"/>
              <a:t>muốn</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chính</a:t>
            </a:r>
            <a:r>
              <a:rPr lang="en-US" dirty="0" smtClean="0"/>
              <a:t> </a:t>
            </a:r>
            <a:r>
              <a:rPr lang="en-US" dirty="0" err="1" smtClean="0"/>
              <a:t>xác</a:t>
            </a:r>
            <a:r>
              <a:rPr lang="en-US" dirty="0" smtClean="0"/>
              <a:t> </a:t>
            </a:r>
            <a:r>
              <a:rPr lang="en-US" dirty="0" err="1" smtClean="0"/>
              <a:t>tới</a:t>
            </a:r>
            <a:r>
              <a:rPr lang="en-US" dirty="0" smtClean="0"/>
              <a:t> 3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 dung </a:t>
            </a:r>
            <a:r>
              <a:rPr lang="en-US" dirty="0" err="1" smtClean="0"/>
              <a:t>sai</a:t>
            </a:r>
            <a:r>
              <a:rPr lang="en-US" dirty="0" smtClean="0"/>
              <a:t> </a:t>
            </a:r>
            <a:r>
              <a:rPr lang="en-US" dirty="0" err="1" smtClean="0"/>
              <a:t>cần</a:t>
            </a:r>
            <a:r>
              <a:rPr lang="en-US" dirty="0" smtClean="0"/>
              <a:t> </a:t>
            </a:r>
            <a:r>
              <a:rPr lang="en-US" dirty="0" err="1" smtClean="0"/>
              <a:t>chọn</a:t>
            </a:r>
            <a:r>
              <a:rPr lang="en-US" dirty="0" smtClean="0"/>
              <a:t> </a:t>
            </a:r>
            <a:r>
              <a:rPr lang="en-US" dirty="0" err="1" smtClean="0"/>
              <a:t>là</a:t>
            </a:r>
            <a:r>
              <a:rPr lang="en-US" dirty="0" smtClean="0"/>
              <a:t>                     </a:t>
            </a:r>
            <a:r>
              <a:rPr lang="en-US" dirty="0" err="1" smtClean="0"/>
              <a:t>và</a:t>
            </a:r>
            <a:r>
              <a:rPr lang="en-US" dirty="0" smtClean="0"/>
              <a:t> </a:t>
            </a:r>
            <a:r>
              <a:rPr lang="en-US" dirty="0" err="1" smtClean="0"/>
              <a:t>lặp</a:t>
            </a:r>
            <a:r>
              <a:rPr lang="en-US" dirty="0" smtClean="0"/>
              <a:t> </a:t>
            </a:r>
            <a:r>
              <a:rPr lang="en-US" dirty="0" err="1" smtClean="0"/>
              <a:t>cho</a:t>
            </a:r>
            <a:r>
              <a:rPr lang="en-US" dirty="0" smtClean="0"/>
              <a:t> </a:t>
            </a:r>
            <a:r>
              <a:rPr lang="en-US" dirty="0" err="1" smtClean="0"/>
              <a:t>tới</a:t>
            </a:r>
            <a:r>
              <a:rPr lang="en-US" dirty="0" smtClean="0"/>
              <a:t> </a:t>
            </a:r>
            <a:r>
              <a:rPr lang="en-US" dirty="0" err="1" smtClean="0"/>
              <a:t>khi</a:t>
            </a:r>
            <a:r>
              <a:rPr lang="en-US" dirty="0" smtClean="0"/>
              <a:t> |</a:t>
            </a:r>
            <a:r>
              <a:rPr lang="el-GR" dirty="0" smtClean="0"/>
              <a:t>ε</a:t>
            </a:r>
            <a:r>
              <a:rPr lang="en-US" i="1" baseline="-25000" dirty="0" smtClean="0"/>
              <a:t>a</a:t>
            </a:r>
            <a:r>
              <a:rPr lang="en-US" dirty="0" smtClean="0"/>
              <a:t>| &lt; 0.05.</a:t>
            </a:r>
            <a:endParaRPr lang="en-US" dirty="0" smtClean="0"/>
          </a:p>
          <a:p>
            <a:pPr marL="0" indent="0" algn="just">
              <a:lnSpc>
                <a:spcPct val="150000"/>
              </a:lnSpc>
              <a:buNone/>
            </a:pPr>
            <a:endParaRPr lang="en-US" dirty="0"/>
          </a:p>
        </p:txBody>
      </p:sp>
      <p:graphicFrame>
        <p:nvGraphicFramePr>
          <p:cNvPr id="6" name="Object 5"/>
          <p:cNvGraphicFramePr>
            <a:graphicFrameLocks noChangeAspect="1"/>
          </p:cNvGraphicFramePr>
          <p:nvPr/>
        </p:nvGraphicFramePr>
        <p:xfrm>
          <a:off x="4729162" y="2485317"/>
          <a:ext cx="2733675" cy="504825"/>
        </p:xfrm>
        <a:graphic>
          <a:graphicData uri="http://schemas.openxmlformats.org/presentationml/2006/ole">
            <mc:AlternateContent xmlns:mc="http://schemas.openxmlformats.org/markup-compatibility/2006">
              <mc:Choice xmlns:v="urn:schemas-microsoft-com:vml" Requires="v">
                <p:oleObj spid="_x0000_s2077" name="Equation" r:id="rId1" imgW="34442400" imgH="6400800" progId="Equation.3">
                  <p:embed/>
                </p:oleObj>
              </mc:Choice>
              <mc:Fallback>
                <p:oleObj name="Equation" r:id="rId1" imgW="34442400" imgH="6400800" progId="Equation.3">
                  <p:embed/>
                  <p:pic>
                    <p:nvPicPr>
                      <p:cNvPr id="0" name="Object 3"/>
                      <p:cNvPicPr/>
                      <p:nvPr/>
                    </p:nvPicPr>
                    <p:blipFill>
                      <a:blip r:embed="rId2"/>
                      <a:stretch>
                        <a:fillRect/>
                      </a:stretch>
                    </p:blipFill>
                    <p:spPr>
                      <a:xfrm>
                        <a:off x="4729162" y="2485317"/>
                        <a:ext cx="2733675" cy="504825"/>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1139749" y="4664491"/>
          <a:ext cx="1692275" cy="457200"/>
        </p:xfrm>
        <a:graphic>
          <a:graphicData uri="http://schemas.openxmlformats.org/presentationml/2006/ole">
            <mc:AlternateContent xmlns:mc="http://schemas.openxmlformats.org/markup-compatibility/2006">
              <mc:Choice xmlns:v="urn:schemas-microsoft-com:vml" Requires="v">
                <p:oleObj spid="_x0000_s2078" name="Equation" r:id="rId3" imgW="21336000" imgH="5791200" progId="Equation.3">
                  <p:embed/>
                </p:oleObj>
              </mc:Choice>
              <mc:Fallback>
                <p:oleObj name="Equation" r:id="rId3" imgW="21336000" imgH="5791200" progId="Equation.3">
                  <p:embed/>
                  <p:pic>
                    <p:nvPicPr>
                      <p:cNvPr id="0" name="Object 5"/>
                      <p:cNvPicPr/>
                      <p:nvPr/>
                    </p:nvPicPr>
                    <p:blipFill>
                      <a:blip r:embed="rId4"/>
                      <a:stretch>
                        <a:fillRect/>
                      </a:stretch>
                    </p:blipFill>
                    <p:spPr>
                      <a:xfrm>
                        <a:off x="1139749" y="4664491"/>
                        <a:ext cx="1692275" cy="457200"/>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err="1" smtClean="0">
                <a:solidFill>
                  <a:srgbClr val="00B050"/>
                </a:solidFill>
              </a:rPr>
              <a:t>Ví</a:t>
            </a:r>
            <a:r>
              <a:rPr lang="en-US" b="1" dirty="0" smtClean="0">
                <a:solidFill>
                  <a:srgbClr val="00B050"/>
                </a:solidFill>
              </a:rPr>
              <a:t> </a:t>
            </a:r>
            <a:r>
              <a:rPr lang="en-US" b="1" dirty="0" err="1" smtClean="0">
                <a:solidFill>
                  <a:srgbClr val="00B050"/>
                </a:solidFill>
              </a:rPr>
              <a:t>dụ</a:t>
            </a:r>
            <a:r>
              <a:rPr lang="en-US" b="1" dirty="0" smtClean="0">
                <a:solidFill>
                  <a:srgbClr val="00B050"/>
                </a:solidFill>
              </a:rPr>
              <a:t> 1 </a:t>
            </a:r>
            <a:r>
              <a:rPr lang="en-US" dirty="0" smtClean="0"/>
              <a:t>(</a:t>
            </a:r>
            <a:r>
              <a:rPr lang="en-US" dirty="0" err="1" smtClean="0"/>
              <a:t>Ước</a:t>
            </a:r>
            <a:r>
              <a:rPr lang="en-US" dirty="0" smtClean="0"/>
              <a:t> </a:t>
            </a:r>
            <a:r>
              <a:rPr lang="en-US" dirty="0" err="1" smtClean="0"/>
              <a:t>lượng</a:t>
            </a:r>
            <a:r>
              <a:rPr lang="en-US" dirty="0" smtClean="0"/>
              <a:t> </a:t>
            </a:r>
            <a:r>
              <a:rPr lang="en-US" dirty="0" err="1" smtClean="0"/>
              <a:t>sai</a:t>
            </a:r>
            <a:r>
              <a:rPr lang="en-US" dirty="0" smtClean="0"/>
              <a:t> </a:t>
            </a:r>
            <a:r>
              <a:rPr lang="en-US" dirty="0" err="1" smtClean="0"/>
              <a:t>số</a:t>
            </a:r>
            <a:r>
              <a:rPr lang="en-US" dirty="0" smtClean="0"/>
              <a:t> </a:t>
            </a:r>
            <a:r>
              <a:rPr lang="en-US" dirty="0" err="1" smtClean="0"/>
              <a:t>cho</a:t>
            </a:r>
            <a:r>
              <a:rPr lang="en-US" dirty="0" smtClean="0"/>
              <a:t> </a:t>
            </a:r>
            <a:r>
              <a:rPr lang="en-US" dirty="0" err="1" smtClean="0"/>
              <a:t>các</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lặp</a:t>
            </a:r>
            <a:r>
              <a:rPr lang="en-US" dirty="0" smtClean="0"/>
              <a:t>). </a:t>
            </a:r>
            <a:r>
              <a:rPr lang="en-US" dirty="0" err="1" smtClean="0"/>
              <a:t>Biết</a:t>
            </a:r>
            <a:endParaRPr lang="en-US" dirty="0" smtClean="0"/>
          </a:p>
          <a:p>
            <a:pPr marL="0" indent="0" algn="just">
              <a:lnSpc>
                <a:spcPct val="150000"/>
              </a:lnSpc>
              <a:buNone/>
            </a:pPr>
            <a:endParaRPr lang="en-US" dirty="0"/>
          </a:p>
          <a:p>
            <a:pPr marL="0" indent="0" algn="just">
              <a:lnSpc>
                <a:spcPct val="150000"/>
              </a:lnSpc>
              <a:buNone/>
            </a:pPr>
            <a:r>
              <a:rPr lang="en-US" dirty="0" err="1" smtClean="0"/>
              <a:t>Xuất</a:t>
            </a:r>
            <a:r>
              <a:rPr lang="en-US" dirty="0" smtClean="0"/>
              <a:t> </a:t>
            </a:r>
            <a:r>
              <a:rPr lang="en-US" dirty="0" err="1" smtClean="0"/>
              <a:t>phát</a:t>
            </a:r>
            <a:r>
              <a:rPr lang="en-US" dirty="0" smtClean="0"/>
              <a:t> </a:t>
            </a:r>
            <a:r>
              <a:rPr lang="en-US" dirty="0" err="1" smtClean="0"/>
              <a:t>từ</a:t>
            </a:r>
            <a:r>
              <a:rPr lang="en-US" dirty="0" smtClean="0"/>
              <a:t> </a:t>
            </a:r>
            <a:r>
              <a:rPr lang="en-US" dirty="0" err="1" smtClean="0"/>
              <a:t>phiên</a:t>
            </a:r>
            <a:r>
              <a:rPr lang="en-US" dirty="0" smtClean="0"/>
              <a:t> </a:t>
            </a:r>
            <a:r>
              <a:rPr lang="en-US" dirty="0" err="1" smtClean="0"/>
              <a:t>bản</a:t>
            </a:r>
            <a:r>
              <a:rPr lang="en-US" dirty="0" smtClean="0"/>
              <a:t> </a:t>
            </a:r>
            <a:r>
              <a:rPr lang="en-US" dirty="0" err="1" smtClean="0"/>
              <a:t>đơn</a:t>
            </a:r>
            <a:r>
              <a:rPr lang="en-US" dirty="0" smtClean="0"/>
              <a:t> </a:t>
            </a:r>
            <a:r>
              <a:rPr lang="en-US" dirty="0" err="1" smtClean="0"/>
              <a:t>giản</a:t>
            </a:r>
            <a:r>
              <a:rPr lang="en-US" dirty="0" smtClean="0"/>
              <a:t> </a:t>
            </a:r>
            <a:r>
              <a:rPr lang="en-US" dirty="0" err="1" smtClean="0"/>
              <a:t>nhất</a:t>
            </a:r>
            <a:r>
              <a:rPr lang="en-US" dirty="0" smtClean="0"/>
              <a:t>, e</a:t>
            </a:r>
            <a:r>
              <a:rPr lang="en-US" baseline="30000" dirty="0" smtClean="0"/>
              <a:t>x</a:t>
            </a:r>
            <a:r>
              <a:rPr lang="en-US" dirty="0" smtClean="0"/>
              <a:t> = 1, </a:t>
            </a:r>
            <a:r>
              <a:rPr lang="en-US" dirty="0" err="1" smtClean="0"/>
              <a:t>bằng</a:t>
            </a:r>
            <a:r>
              <a:rPr lang="en-US" dirty="0" smtClean="0"/>
              <a:t> </a:t>
            </a:r>
            <a:r>
              <a:rPr lang="en-US" dirty="0" err="1" smtClean="0"/>
              <a:t>cách</a:t>
            </a:r>
            <a:r>
              <a:rPr lang="en-US" dirty="0" smtClean="0"/>
              <a:t> </a:t>
            </a:r>
            <a:r>
              <a:rPr lang="en-US" dirty="0" err="1" smtClean="0"/>
              <a:t>cộng</a:t>
            </a:r>
            <a:r>
              <a:rPr lang="en-US" dirty="0" smtClean="0"/>
              <a:t> </a:t>
            </a:r>
            <a:r>
              <a:rPr lang="en-US" dirty="0" err="1" smtClean="0"/>
              <a:t>thêm</a:t>
            </a:r>
            <a:r>
              <a:rPr lang="en-US" dirty="0" smtClean="0"/>
              <a:t> </a:t>
            </a:r>
            <a:r>
              <a:rPr lang="en-US" dirty="0" err="1" smtClean="0"/>
              <a:t>dần</a:t>
            </a:r>
            <a:r>
              <a:rPr lang="en-US" dirty="0" smtClean="0"/>
              <a:t> </a:t>
            </a:r>
            <a:r>
              <a:rPr lang="en-US" dirty="0" err="1" smtClean="0"/>
              <a:t>các</a:t>
            </a:r>
            <a:r>
              <a:rPr lang="en-US" dirty="0" smtClean="0"/>
              <a:t> </a:t>
            </a:r>
            <a:r>
              <a:rPr lang="en-US" dirty="0" err="1" smtClean="0"/>
              <a:t>số</a:t>
            </a:r>
            <a:r>
              <a:rPr lang="en-US" dirty="0" smtClean="0"/>
              <a:t> </a:t>
            </a:r>
            <a:r>
              <a:rPr lang="en-US" dirty="0" err="1" smtClean="0"/>
              <a:t>hạng</a:t>
            </a:r>
            <a:r>
              <a:rPr lang="en-US" dirty="0" smtClean="0"/>
              <a:t> </a:t>
            </a:r>
            <a:r>
              <a:rPr lang="en-US" dirty="0" err="1" smtClean="0"/>
              <a:t>hãy</a:t>
            </a:r>
            <a:r>
              <a:rPr lang="en-US" dirty="0" smtClean="0"/>
              <a:t> </a:t>
            </a:r>
            <a:r>
              <a:rPr lang="en-US" dirty="0" err="1" smtClean="0"/>
              <a:t>tính</a:t>
            </a:r>
            <a:r>
              <a:rPr lang="en-US" dirty="0" smtClean="0"/>
              <a:t> </a:t>
            </a:r>
            <a:r>
              <a:rPr lang="en-US" dirty="0" err="1" smtClean="0"/>
              <a:t>xấp</a:t>
            </a:r>
            <a:r>
              <a:rPr lang="en-US" dirty="0" smtClean="0"/>
              <a:t> </a:t>
            </a:r>
            <a:r>
              <a:rPr lang="en-US" dirty="0" err="1" smtClean="0"/>
              <a:t>xỉ</a:t>
            </a:r>
            <a:r>
              <a:rPr lang="en-US" dirty="0" smtClean="0"/>
              <a:t> e</a:t>
            </a:r>
            <a:r>
              <a:rPr lang="en-US" baseline="30000" dirty="0" smtClean="0"/>
              <a:t>0.5</a:t>
            </a:r>
            <a:r>
              <a:rPr lang="en-US" dirty="0" smtClean="0"/>
              <a:t>. </a:t>
            </a:r>
            <a:r>
              <a:rPr lang="en-US" dirty="0" err="1" smtClean="0"/>
              <a:t>Tìm</a:t>
            </a:r>
            <a:r>
              <a:rPr lang="en-US" dirty="0" smtClean="0"/>
              <a:t> </a:t>
            </a:r>
            <a:r>
              <a:rPr lang="en-US" dirty="0" err="1" smtClean="0"/>
              <a:t>sai</a:t>
            </a:r>
            <a:r>
              <a:rPr lang="en-US" dirty="0" smtClean="0"/>
              <a:t> </a:t>
            </a:r>
            <a:r>
              <a:rPr lang="en-US" dirty="0" err="1" smtClean="0"/>
              <a:t>số</a:t>
            </a:r>
            <a:r>
              <a:rPr lang="en-US" dirty="0" smtClean="0"/>
              <a:t> </a:t>
            </a:r>
            <a:r>
              <a:rPr lang="en-US" dirty="0" err="1" smtClean="0"/>
              <a:t>tương</a:t>
            </a:r>
            <a:r>
              <a:rPr lang="en-US" dirty="0" smtClean="0"/>
              <a:t> </a:t>
            </a:r>
            <a:r>
              <a:rPr lang="en-US" dirty="0" err="1" smtClean="0"/>
              <a:t>đối</a:t>
            </a:r>
            <a:r>
              <a:rPr lang="en-US" dirty="0" smtClean="0"/>
              <a:t> </a:t>
            </a:r>
            <a:r>
              <a:rPr lang="en-US" dirty="0" err="1" smtClean="0"/>
              <a:t>thực</a:t>
            </a:r>
            <a:r>
              <a:rPr lang="en-US" dirty="0" smtClean="0"/>
              <a:t> </a:t>
            </a:r>
            <a:r>
              <a:rPr lang="en-US" dirty="0" err="1" smtClean="0"/>
              <a:t>và</a:t>
            </a:r>
            <a:r>
              <a:rPr lang="en-US" dirty="0" smtClean="0"/>
              <a:t> </a:t>
            </a:r>
            <a:r>
              <a:rPr lang="en-US" dirty="0" err="1" smtClean="0"/>
              <a:t>sai</a:t>
            </a:r>
            <a:r>
              <a:rPr lang="en-US" dirty="0" smtClean="0"/>
              <a:t> </a:t>
            </a:r>
            <a:r>
              <a:rPr lang="en-US" dirty="0" err="1" smtClean="0"/>
              <a:t>số</a:t>
            </a:r>
            <a:r>
              <a:rPr lang="en-US" dirty="0" smtClean="0"/>
              <a:t> </a:t>
            </a:r>
            <a:r>
              <a:rPr lang="en-US" dirty="0" err="1" smtClean="0"/>
              <a:t>tương</a:t>
            </a:r>
            <a:r>
              <a:rPr lang="en-US" dirty="0" smtClean="0"/>
              <a:t> </a:t>
            </a:r>
            <a:r>
              <a:rPr lang="en-US" dirty="0" err="1" smtClean="0"/>
              <a:t>đối</a:t>
            </a:r>
            <a:r>
              <a:rPr lang="en-US" dirty="0" smtClean="0"/>
              <a:t> </a:t>
            </a:r>
            <a:r>
              <a:rPr lang="en-US" dirty="0" err="1" smtClean="0"/>
              <a:t>xấp</a:t>
            </a:r>
            <a:r>
              <a:rPr lang="en-US" dirty="0" smtClean="0"/>
              <a:t> </a:t>
            </a:r>
            <a:r>
              <a:rPr lang="en-US" dirty="0" err="1" smtClean="0"/>
              <a:t>xỉ</a:t>
            </a:r>
            <a:r>
              <a:rPr lang="en-US" dirty="0" smtClean="0"/>
              <a:t> </a:t>
            </a:r>
            <a:r>
              <a:rPr lang="en-US" dirty="0" err="1" smtClean="0"/>
              <a:t>tại</a:t>
            </a:r>
            <a:r>
              <a:rPr lang="en-US" dirty="0" smtClean="0"/>
              <a:t> </a:t>
            </a:r>
            <a:r>
              <a:rPr lang="en-US" dirty="0" err="1" smtClean="0"/>
              <a:t>mỗi</a:t>
            </a:r>
            <a:r>
              <a:rPr lang="en-US" dirty="0" smtClean="0"/>
              <a:t> </a:t>
            </a:r>
            <a:r>
              <a:rPr lang="en-US" dirty="0" err="1" smtClean="0"/>
              <a:t>bước</a:t>
            </a:r>
            <a:r>
              <a:rPr lang="en-US" dirty="0" smtClean="0"/>
              <a:t>. </a:t>
            </a:r>
            <a:r>
              <a:rPr lang="en-US" dirty="0" err="1" smtClean="0"/>
              <a:t>Cần</a:t>
            </a:r>
            <a:r>
              <a:rPr lang="en-US" dirty="0" smtClean="0"/>
              <a:t> </a:t>
            </a:r>
            <a:r>
              <a:rPr lang="en-US" dirty="0" err="1" smtClean="0"/>
              <a:t>bao</a:t>
            </a:r>
            <a:r>
              <a:rPr lang="en-US" dirty="0" smtClean="0"/>
              <a:t> </a:t>
            </a:r>
            <a:r>
              <a:rPr lang="en-US" dirty="0" err="1" smtClean="0"/>
              <a:t>nhiêu</a:t>
            </a:r>
            <a:r>
              <a:rPr lang="en-US" dirty="0" smtClean="0"/>
              <a:t> </a:t>
            </a:r>
            <a:r>
              <a:rPr lang="en-US" dirty="0" err="1" smtClean="0"/>
              <a:t>số</a:t>
            </a:r>
            <a:r>
              <a:rPr lang="en-US" dirty="0" smtClean="0"/>
              <a:t> </a:t>
            </a:r>
            <a:r>
              <a:rPr lang="en-US" dirty="0" err="1" smtClean="0"/>
              <a:t>hạng</a:t>
            </a:r>
            <a:r>
              <a:rPr lang="en-US" dirty="0" smtClean="0"/>
              <a:t> </a:t>
            </a:r>
            <a:r>
              <a:rPr lang="en-US" dirty="0" err="1" smtClean="0"/>
              <a:t>để</a:t>
            </a:r>
            <a:r>
              <a:rPr lang="en-US" dirty="0" smtClean="0"/>
              <a:t> </a:t>
            </a:r>
            <a:r>
              <a:rPr lang="en-US" dirty="0" err="1" smtClean="0"/>
              <a:t>ước</a:t>
            </a:r>
            <a:r>
              <a:rPr lang="en-US" dirty="0" smtClean="0"/>
              <a:t> </a:t>
            </a:r>
            <a:r>
              <a:rPr lang="en-US" dirty="0" err="1" smtClean="0"/>
              <a:t>lượng</a:t>
            </a:r>
            <a:r>
              <a:rPr lang="en-US" dirty="0" smtClean="0"/>
              <a:t> </a:t>
            </a:r>
            <a:r>
              <a:rPr lang="en-US" dirty="0" err="1" smtClean="0"/>
              <a:t>cho</a:t>
            </a:r>
            <a:r>
              <a:rPr lang="en-US" dirty="0" smtClean="0"/>
              <a:t> </a:t>
            </a:r>
            <a:r>
              <a:rPr lang="en-US" dirty="0" err="1" smtClean="0"/>
              <a:t>sai</a:t>
            </a:r>
            <a:r>
              <a:rPr lang="en-US" dirty="0" smtClean="0"/>
              <a:t> </a:t>
            </a:r>
            <a:r>
              <a:rPr lang="en-US" dirty="0" err="1" smtClean="0"/>
              <a:t>số</a:t>
            </a:r>
            <a:r>
              <a:rPr lang="en-US" dirty="0" smtClean="0"/>
              <a:t> </a:t>
            </a:r>
            <a:r>
              <a:rPr lang="en-US" dirty="0" err="1" smtClean="0"/>
              <a:t>xấp</a:t>
            </a:r>
            <a:r>
              <a:rPr lang="en-US" dirty="0" smtClean="0"/>
              <a:t> </a:t>
            </a:r>
            <a:r>
              <a:rPr lang="en-US" dirty="0" err="1" smtClean="0"/>
              <a:t>xỉ</a:t>
            </a:r>
            <a:r>
              <a:rPr lang="en-US" dirty="0" smtClean="0"/>
              <a:t> </a:t>
            </a:r>
            <a:r>
              <a:rPr lang="el-GR" dirty="0"/>
              <a:t>ε</a:t>
            </a:r>
            <a:r>
              <a:rPr lang="en-US" i="1" baseline="-25000" dirty="0"/>
              <a:t>a</a:t>
            </a:r>
            <a:r>
              <a:rPr lang="en-US" dirty="0" smtClean="0"/>
              <a:t> </a:t>
            </a:r>
            <a:r>
              <a:rPr lang="en-US" dirty="0" err="1" smtClean="0"/>
              <a:t>không</a:t>
            </a:r>
            <a:r>
              <a:rPr lang="en-US" dirty="0" smtClean="0"/>
              <a:t> </a:t>
            </a:r>
            <a:r>
              <a:rPr lang="en-US" dirty="0" err="1" smtClean="0"/>
              <a:t>vượt</a:t>
            </a:r>
            <a:r>
              <a:rPr lang="en-US" dirty="0" smtClean="0"/>
              <a:t> </a:t>
            </a:r>
            <a:r>
              <a:rPr lang="en-US" dirty="0" err="1" smtClean="0"/>
              <a:t>quá</a:t>
            </a:r>
            <a:r>
              <a:rPr lang="en-US" dirty="0" smtClean="0"/>
              <a:t> dung </a:t>
            </a:r>
            <a:r>
              <a:rPr lang="en-US" dirty="0" err="1" smtClean="0"/>
              <a:t>sai</a:t>
            </a:r>
            <a:r>
              <a:rPr lang="en-US" dirty="0" smtClean="0"/>
              <a:t> </a:t>
            </a:r>
            <a:r>
              <a:rPr lang="el-GR" dirty="0" smtClean="0"/>
              <a:t>ε</a:t>
            </a:r>
            <a:r>
              <a:rPr lang="en-US" i="1" baseline="-25000" dirty="0" smtClean="0"/>
              <a:t>s</a:t>
            </a:r>
            <a:r>
              <a:rPr lang="en-US" dirty="0" smtClean="0"/>
              <a:t> </a:t>
            </a:r>
            <a:r>
              <a:rPr lang="en-US" dirty="0" err="1" smtClean="0"/>
              <a:t>phù</a:t>
            </a:r>
            <a:r>
              <a:rPr lang="en-US" dirty="0" smtClean="0"/>
              <a:t> </a:t>
            </a:r>
            <a:r>
              <a:rPr lang="en-US" dirty="0" err="1" smtClean="0"/>
              <a:t>hợp</a:t>
            </a:r>
            <a:r>
              <a:rPr lang="en-US" dirty="0" smtClean="0"/>
              <a:t> </a:t>
            </a:r>
            <a:r>
              <a:rPr lang="en-US" dirty="0" err="1" smtClean="0"/>
              <a:t>với</a:t>
            </a:r>
            <a:r>
              <a:rPr lang="en-US" dirty="0" smtClean="0"/>
              <a:t> 3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a:t> </a:t>
            </a:r>
            <a:r>
              <a:rPr lang="en-US" dirty="0" smtClean="0"/>
              <a:t>(</a:t>
            </a:r>
            <a:r>
              <a:rPr lang="en-US" dirty="0" err="1" smtClean="0"/>
              <a:t>cho</a:t>
            </a:r>
            <a:r>
              <a:rPr lang="en-US" dirty="0" smtClean="0"/>
              <a:t> e</a:t>
            </a:r>
            <a:r>
              <a:rPr lang="en-US" baseline="30000" dirty="0" smtClean="0"/>
              <a:t>0.5</a:t>
            </a:r>
            <a:r>
              <a:rPr lang="en-US" dirty="0" smtClean="0"/>
              <a:t> = 1.648721)</a:t>
            </a:r>
            <a:endParaRPr lang="en-US" dirty="0"/>
          </a:p>
        </p:txBody>
      </p:sp>
      <p:graphicFrame>
        <p:nvGraphicFramePr>
          <p:cNvPr id="2" name="Object 1"/>
          <p:cNvGraphicFramePr>
            <a:graphicFrameLocks noChangeAspect="1"/>
          </p:cNvGraphicFramePr>
          <p:nvPr/>
        </p:nvGraphicFramePr>
        <p:xfrm>
          <a:off x="3990438" y="1735773"/>
          <a:ext cx="3271520" cy="731520"/>
        </p:xfrm>
        <a:graphic>
          <a:graphicData uri="http://schemas.openxmlformats.org/presentationml/2006/ole">
            <mc:AlternateContent xmlns:mc="http://schemas.openxmlformats.org/markup-compatibility/2006">
              <mc:Choice xmlns:v="urn:schemas-microsoft-com:vml" Requires="v">
                <p:oleObj spid="_x0000_s5132" name="Equation" r:id="rId1" imgW="49072800" imgH="10972800" progId="Equation.3">
                  <p:embed/>
                </p:oleObj>
              </mc:Choice>
              <mc:Fallback>
                <p:oleObj name="Equation" r:id="rId1" imgW="49072800" imgH="10972800" progId="Equation.3">
                  <p:embed/>
                  <p:pic>
                    <p:nvPicPr>
                      <p:cNvPr id="0" name="Picture 5131"/>
                      <p:cNvPicPr/>
                      <p:nvPr/>
                    </p:nvPicPr>
                    <p:blipFill>
                      <a:blip r:embed="rId2"/>
                      <a:stretch>
                        <a:fillRect/>
                      </a:stretch>
                    </p:blipFill>
                    <p:spPr>
                      <a:xfrm>
                        <a:off x="3990438" y="1735773"/>
                        <a:ext cx="3271520" cy="731520"/>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631870" y="2691353"/>
            <a:ext cx="11164823" cy="3657600"/>
          </a:xfrm>
          <a:prstGeom prst="rect">
            <a:avLst/>
          </a:prstGeom>
        </p:spPr>
      </p:pic>
      <p:pic>
        <p:nvPicPr>
          <p:cNvPr id="4" name="Picture 3"/>
          <p:cNvPicPr>
            <a:picLocks noChangeAspect="1"/>
          </p:cNvPicPr>
          <p:nvPr/>
        </p:nvPicPr>
        <p:blipFill>
          <a:blip r:embed="rId2"/>
          <a:stretch>
            <a:fillRect/>
          </a:stretch>
        </p:blipFill>
        <p:spPr>
          <a:xfrm>
            <a:off x="4134655" y="1030019"/>
            <a:ext cx="3922368" cy="10972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Psedocode</a:t>
            </a:r>
            <a:endParaRPr lang="en-US" dirty="0"/>
          </a:p>
        </p:txBody>
      </p:sp>
      <p:pic>
        <p:nvPicPr>
          <p:cNvPr id="2" name="Picture 1"/>
          <p:cNvPicPr>
            <a:picLocks noChangeAspect="1"/>
          </p:cNvPicPr>
          <p:nvPr/>
        </p:nvPicPr>
        <p:blipFill>
          <a:blip r:embed="rId1"/>
          <a:stretch>
            <a:fillRect/>
          </a:stretch>
        </p:blipFill>
        <p:spPr>
          <a:xfrm>
            <a:off x="3482236" y="1482595"/>
            <a:ext cx="6096000" cy="4572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2287173" y="829994"/>
            <a:ext cx="7830643" cy="4315427"/>
          </a:xfrm>
          <a:prstGeom prst="rect">
            <a:avLst/>
          </a:prstGeom>
        </p:spPr>
      </p:pic>
      <p:pic>
        <p:nvPicPr>
          <p:cNvPr id="4" name="Picture 3"/>
          <p:cNvPicPr>
            <a:picLocks noChangeAspect="1"/>
          </p:cNvPicPr>
          <p:nvPr/>
        </p:nvPicPr>
        <p:blipFill>
          <a:blip r:embed="rId2"/>
          <a:stretch>
            <a:fillRect/>
          </a:stretch>
        </p:blipFill>
        <p:spPr>
          <a:xfrm>
            <a:off x="2287173" y="5148119"/>
            <a:ext cx="7811590" cy="102884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0070C0"/>
                </a:solidFill>
              </a:rPr>
              <a:t>IV. Sai </a:t>
            </a:r>
            <a:r>
              <a:rPr lang="en-US" b="1" u="sng" dirty="0" err="1" smtClean="0">
                <a:solidFill>
                  <a:srgbClr val="0070C0"/>
                </a:solidFill>
              </a:rPr>
              <a:t>số</a:t>
            </a:r>
            <a:r>
              <a:rPr lang="en-US" b="1" u="sng" dirty="0" smtClean="0">
                <a:solidFill>
                  <a:srgbClr val="0070C0"/>
                </a:solidFill>
              </a:rPr>
              <a:t> </a:t>
            </a:r>
            <a:r>
              <a:rPr lang="en-US" b="1" u="sng" dirty="0" err="1" smtClean="0">
                <a:solidFill>
                  <a:srgbClr val="0070C0"/>
                </a:solidFill>
              </a:rPr>
              <a:t>làm</a:t>
            </a:r>
            <a:r>
              <a:rPr lang="en-US" b="1" u="sng" dirty="0" smtClean="0">
                <a:solidFill>
                  <a:srgbClr val="0070C0"/>
                </a:solidFill>
              </a:rPr>
              <a:t> </a:t>
            </a:r>
            <a:r>
              <a:rPr lang="en-US" b="1" u="sng" dirty="0" err="1" smtClean="0">
                <a:solidFill>
                  <a:srgbClr val="0070C0"/>
                </a:solidFill>
              </a:rPr>
              <a:t>tròn</a:t>
            </a:r>
            <a:r>
              <a:rPr lang="en-US" b="1" u="sng" dirty="0" smtClean="0">
                <a:solidFill>
                  <a:srgbClr val="0070C0"/>
                </a:solidFill>
              </a:rPr>
              <a:t> (Round-off error)</a:t>
            </a:r>
            <a:endParaRPr lang="en-US" b="1" u="sng" dirty="0">
              <a:solidFill>
                <a:srgbClr val="0070C0"/>
              </a:solidFill>
            </a:endParaRPr>
          </a:p>
        </p:txBody>
      </p:sp>
      <p:sp>
        <p:nvSpPr>
          <p:cNvPr id="3" name="Content Placeholder 2"/>
          <p:cNvSpPr>
            <a:spLocks noGrp="1"/>
          </p:cNvSpPr>
          <p:nvPr>
            <p:ph idx="1"/>
          </p:nvPr>
        </p:nvSpPr>
        <p:spPr/>
        <p:txBody>
          <a:bodyPr/>
          <a:lstStyle/>
          <a:p>
            <a:pPr algn="just">
              <a:lnSpc>
                <a:spcPct val="150000"/>
              </a:lnSpc>
              <a:buFontTx/>
              <a:buChar char="-"/>
            </a:pPr>
            <a:r>
              <a:rPr lang="en-US" dirty="0" smtClean="0"/>
              <a:t>Do </a:t>
            </a:r>
            <a:r>
              <a:rPr lang="en-US" dirty="0" err="1" smtClean="0"/>
              <a:t>máy</a:t>
            </a:r>
            <a:r>
              <a:rPr lang="en-US" dirty="0" smtClean="0"/>
              <a:t> </a:t>
            </a:r>
            <a:r>
              <a:rPr lang="en-US" dirty="0" err="1" smtClean="0"/>
              <a:t>tính</a:t>
            </a:r>
            <a:r>
              <a:rPr lang="en-US" dirty="0" smtClean="0"/>
              <a:t> </a:t>
            </a:r>
            <a:r>
              <a:rPr lang="en-US" dirty="0" err="1" smtClean="0"/>
              <a:t>chỉ</a:t>
            </a:r>
            <a:r>
              <a:rPr lang="en-US" dirty="0" smtClean="0"/>
              <a:t> </a:t>
            </a:r>
            <a:r>
              <a:rPr lang="en-US" dirty="0" err="1" smtClean="0"/>
              <a:t>có</a:t>
            </a:r>
            <a:r>
              <a:rPr lang="en-US" dirty="0" smtClean="0"/>
              <a:t> </a:t>
            </a:r>
            <a:r>
              <a:rPr lang="en-US" dirty="0" err="1" smtClean="0"/>
              <a:t>thể</a:t>
            </a:r>
            <a:r>
              <a:rPr lang="en-US" dirty="0" smtClean="0"/>
              <a:t> </a:t>
            </a:r>
            <a:r>
              <a:rPr lang="en-US" dirty="0" err="1" smtClean="0"/>
              <a:t>lưu</a:t>
            </a:r>
            <a:r>
              <a:rPr lang="en-US" dirty="0" smtClean="0"/>
              <a:t> </a:t>
            </a:r>
            <a:r>
              <a:rPr lang="en-US" dirty="0" err="1" smtClean="0"/>
              <a:t>trữ</a:t>
            </a:r>
            <a:r>
              <a:rPr lang="en-US" dirty="0" smtClean="0"/>
              <a:t> </a:t>
            </a:r>
            <a:r>
              <a:rPr lang="en-US" dirty="0" err="1" smtClean="0"/>
              <a:t>hữu</a:t>
            </a:r>
            <a:r>
              <a:rPr lang="en-US" dirty="0" smtClean="0"/>
              <a:t> </a:t>
            </a:r>
            <a:r>
              <a:rPr lang="en-US" dirty="0" err="1" smtClean="0"/>
              <a:t>hạn</a:t>
            </a:r>
            <a:r>
              <a:rPr lang="en-US" dirty="0" smtClean="0"/>
              <a:t> </a:t>
            </a:r>
            <a:r>
              <a:rPr lang="en-US" dirty="0" err="1" smtClean="0"/>
              <a:t>các</a:t>
            </a:r>
            <a:r>
              <a:rPr lang="en-US" dirty="0" smtClean="0"/>
              <a:t> </a:t>
            </a:r>
            <a:r>
              <a:rPr lang="en-US" dirty="0" err="1" smtClean="0"/>
              <a:t>chữ</a:t>
            </a:r>
            <a:r>
              <a:rPr lang="en-US" dirty="0" smtClean="0"/>
              <a:t> </a:t>
            </a:r>
            <a:r>
              <a:rPr lang="en-US" dirty="0" err="1" smtClean="0"/>
              <a:t>số</a:t>
            </a:r>
            <a:r>
              <a:rPr lang="en-US" dirty="0" smtClean="0"/>
              <a:t>.</a:t>
            </a:r>
            <a:endParaRPr lang="en-US" dirty="0" smtClean="0"/>
          </a:p>
          <a:p>
            <a:pPr algn="just">
              <a:lnSpc>
                <a:spcPct val="150000"/>
              </a:lnSpc>
              <a:buFontTx/>
              <a:buChar char="-"/>
            </a:pPr>
            <a:r>
              <a:rPr lang="en-US" dirty="0" err="1" smtClean="0"/>
              <a:t>Vì</a:t>
            </a:r>
            <a:r>
              <a:rPr lang="en-US" dirty="0" smtClean="0"/>
              <a:t> </a:t>
            </a:r>
            <a:r>
              <a:rPr lang="en-US" dirty="0" err="1" smtClean="0"/>
              <a:t>máy</a:t>
            </a:r>
            <a:r>
              <a:rPr lang="en-US" dirty="0" smtClean="0"/>
              <a:t> </a:t>
            </a:r>
            <a:r>
              <a:rPr lang="en-US" dirty="0" err="1" smtClean="0"/>
              <a:t>tính</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hệ</a:t>
            </a:r>
            <a:r>
              <a:rPr lang="en-US" dirty="0" smtClean="0"/>
              <a:t> </a:t>
            </a:r>
            <a:r>
              <a:rPr lang="en-US" dirty="0" err="1" smtClean="0"/>
              <a:t>nhị</a:t>
            </a:r>
            <a:r>
              <a:rPr lang="en-US" dirty="0" smtClean="0"/>
              <a:t> </a:t>
            </a:r>
            <a:r>
              <a:rPr lang="en-US" dirty="0" err="1" smtClean="0"/>
              <a:t>phân</a:t>
            </a:r>
            <a:r>
              <a:rPr lang="en-US" dirty="0" smtClean="0"/>
              <a:t>, </a:t>
            </a:r>
            <a:r>
              <a:rPr lang="en-US" dirty="0" err="1" smtClean="0"/>
              <a:t>nên</a:t>
            </a:r>
            <a:r>
              <a:rPr lang="en-US" dirty="0" smtClean="0"/>
              <a:t> </a:t>
            </a:r>
            <a:r>
              <a:rPr lang="en-US" dirty="0" err="1" smtClean="0"/>
              <a:t>nó</a:t>
            </a:r>
            <a:r>
              <a:rPr lang="en-US" dirty="0" smtClean="0"/>
              <a:t> </a:t>
            </a:r>
            <a:r>
              <a:rPr lang="en-US" dirty="0" err="1" smtClean="0"/>
              <a:t>không</a:t>
            </a:r>
            <a:r>
              <a:rPr lang="en-US" dirty="0" smtClean="0"/>
              <a:t> </a:t>
            </a:r>
            <a:r>
              <a:rPr lang="en-US" dirty="0" err="1" smtClean="0"/>
              <a:t>thể</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chính</a:t>
            </a:r>
            <a:r>
              <a:rPr lang="en-US" dirty="0" smtClean="0"/>
              <a:t> </a:t>
            </a:r>
            <a:r>
              <a:rPr lang="en-US" dirty="0" err="1" smtClean="0"/>
              <a:t>xác</a:t>
            </a:r>
            <a:r>
              <a:rPr lang="en-US" dirty="0" smtClean="0"/>
              <a:t> </a:t>
            </a:r>
            <a:r>
              <a:rPr lang="en-US" dirty="0" err="1" smtClean="0"/>
              <a:t>mọi</a:t>
            </a:r>
            <a:r>
              <a:rPr lang="en-US" dirty="0" smtClean="0"/>
              <a:t> con </a:t>
            </a:r>
            <a:r>
              <a:rPr lang="en-US" dirty="0" err="1" smtClean="0"/>
              <a:t>số</a:t>
            </a:r>
            <a:r>
              <a:rPr lang="en-US" dirty="0" smtClean="0"/>
              <a:t> </a:t>
            </a:r>
            <a:r>
              <a:rPr lang="en-US" dirty="0" err="1" smtClean="0"/>
              <a:t>thuộc</a:t>
            </a:r>
            <a:r>
              <a:rPr lang="en-US" dirty="0" smtClean="0"/>
              <a:t> </a:t>
            </a:r>
            <a:r>
              <a:rPr lang="en-US" dirty="0" err="1" smtClean="0"/>
              <a:t>hệ</a:t>
            </a:r>
            <a:r>
              <a:rPr lang="en-US" dirty="0" smtClean="0"/>
              <a:t> </a:t>
            </a:r>
            <a:r>
              <a:rPr lang="en-US" dirty="0" err="1" smtClean="0"/>
              <a:t>thập</a:t>
            </a:r>
            <a:r>
              <a:rPr lang="en-US" dirty="0" smtClean="0"/>
              <a:t> </a:t>
            </a:r>
            <a:r>
              <a:rPr lang="en-US" dirty="0" err="1" smtClean="0"/>
              <a:t>phân</a:t>
            </a:r>
            <a:r>
              <a:rPr lang="en-US" dirty="0" smtClean="0"/>
              <a:t>.</a:t>
            </a:r>
            <a:endParaRPr lang="en-US" dirty="0" smtClean="0"/>
          </a:p>
          <a:p>
            <a:pPr marL="0" indent="0" algn="just">
              <a:lnSpc>
                <a:spcPct val="150000"/>
              </a:lnSpc>
              <a:buNone/>
            </a:pPr>
            <a:endParaRPr lang="en-US" dirty="0"/>
          </a:p>
          <a:p>
            <a:pPr marL="0" indent="0" algn="just">
              <a:lnSpc>
                <a:spcPct val="150000"/>
              </a:lnSpc>
              <a:buNone/>
            </a:pPr>
            <a:r>
              <a:rPr lang="en-US" dirty="0" err="1" smtClean="0"/>
              <a:t>Sự</a:t>
            </a:r>
            <a:r>
              <a:rPr lang="en-US" dirty="0" smtClean="0"/>
              <a:t> </a:t>
            </a:r>
            <a:r>
              <a:rPr lang="en-US" dirty="0" err="1" smtClean="0"/>
              <a:t>sai</a:t>
            </a:r>
            <a:r>
              <a:rPr lang="en-US" dirty="0" smtClean="0"/>
              <a:t> </a:t>
            </a:r>
            <a:r>
              <a:rPr lang="en-US" dirty="0" err="1" smtClean="0"/>
              <a:t>lệch</a:t>
            </a:r>
            <a:r>
              <a:rPr lang="en-US" dirty="0" smtClean="0"/>
              <a:t> </a:t>
            </a:r>
            <a:r>
              <a:rPr lang="en-US" dirty="0" err="1" smtClean="0"/>
              <a:t>phát</a:t>
            </a:r>
            <a:r>
              <a:rPr lang="en-US" dirty="0" smtClean="0"/>
              <a:t> </a:t>
            </a:r>
            <a:r>
              <a:rPr lang="en-US" dirty="0" err="1" smtClean="0"/>
              <a:t>sinh</a:t>
            </a:r>
            <a:r>
              <a:rPr lang="en-US" dirty="0" smtClean="0"/>
              <a:t> do </a:t>
            </a:r>
            <a:r>
              <a:rPr lang="en-US" dirty="0" err="1" smtClean="0"/>
              <a:t>việc</a:t>
            </a:r>
            <a:r>
              <a:rPr lang="en-US" dirty="0" smtClean="0"/>
              <a:t> </a:t>
            </a:r>
            <a:r>
              <a:rPr lang="en-US" dirty="0" err="1" smtClean="0"/>
              <a:t>loại</a:t>
            </a:r>
            <a:r>
              <a:rPr lang="en-US" dirty="0" smtClean="0"/>
              <a:t> </a:t>
            </a:r>
            <a:r>
              <a:rPr lang="en-US" dirty="0" err="1" smtClean="0"/>
              <a:t>bỏ</a:t>
            </a:r>
            <a:r>
              <a:rPr lang="en-US" dirty="0" smtClean="0"/>
              <a:t> </a:t>
            </a:r>
            <a:r>
              <a:rPr lang="en-US" dirty="0" err="1" smtClean="0"/>
              <a:t>các</a:t>
            </a:r>
            <a:r>
              <a:rPr lang="en-US" dirty="0" smtClean="0"/>
              <a:t>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 </a:t>
            </a:r>
            <a:r>
              <a:rPr lang="en-US" dirty="0" err="1" smtClean="0"/>
              <a:t>được</a:t>
            </a:r>
            <a:r>
              <a:rPr lang="en-US" dirty="0" smtClean="0"/>
              <a:t> </a:t>
            </a:r>
            <a:r>
              <a:rPr lang="en-US" dirty="0" err="1" smtClean="0"/>
              <a:t>gọi</a:t>
            </a:r>
            <a:r>
              <a:rPr lang="en-US" dirty="0" smtClean="0"/>
              <a:t> </a:t>
            </a:r>
            <a:r>
              <a:rPr lang="en-US" dirty="0" err="1" smtClean="0"/>
              <a:t>là</a:t>
            </a:r>
            <a:r>
              <a:rPr lang="en-US" dirty="0" smtClean="0"/>
              <a:t> </a:t>
            </a:r>
            <a:r>
              <a:rPr lang="en-US" dirty="0" err="1" smtClean="0"/>
              <a:t>lỗi</a:t>
            </a:r>
            <a:r>
              <a:rPr lang="en-US" dirty="0" smtClean="0"/>
              <a:t> </a:t>
            </a:r>
            <a:r>
              <a:rPr lang="en-US" dirty="0" err="1" smtClean="0"/>
              <a:t>làm</a:t>
            </a:r>
            <a:r>
              <a:rPr lang="en-US" dirty="0" smtClean="0"/>
              <a:t> </a:t>
            </a:r>
            <a:r>
              <a:rPr lang="en-US" dirty="0" err="1" smtClean="0"/>
              <a:t>tròn</a:t>
            </a:r>
            <a:r>
              <a:rPr lang="en-US" dirty="0" smtClean="0"/>
              <a:t>.</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849553" y="1080715"/>
            <a:ext cx="10737670" cy="914400"/>
          </a:xfrm>
          <a:prstGeom prst="rect">
            <a:avLst/>
          </a:prstGeom>
        </p:spPr>
      </p:pic>
      <p:pic>
        <p:nvPicPr>
          <p:cNvPr id="4" name="Picture 3"/>
          <p:cNvPicPr>
            <a:picLocks noChangeAspect="1"/>
          </p:cNvPicPr>
          <p:nvPr/>
        </p:nvPicPr>
        <p:blipFill>
          <a:blip r:embed="rId2"/>
          <a:stretch>
            <a:fillRect/>
          </a:stretch>
        </p:blipFill>
        <p:spPr>
          <a:xfrm>
            <a:off x="838200" y="2589078"/>
            <a:ext cx="10663713" cy="9144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i="1" dirty="0" smtClean="0"/>
              <a:t>4.1. </a:t>
            </a:r>
            <a:r>
              <a:rPr lang="en-US" b="1" i="1" dirty="0" err="1" smtClean="0"/>
              <a:t>Biểu</a:t>
            </a:r>
            <a:r>
              <a:rPr lang="en-US" b="1" i="1" dirty="0" smtClean="0"/>
              <a:t> </a:t>
            </a:r>
            <a:r>
              <a:rPr lang="en-US" b="1" i="1" dirty="0" err="1" smtClean="0"/>
              <a:t>diễn</a:t>
            </a:r>
            <a:r>
              <a:rPr lang="en-US" b="1" i="1" dirty="0" smtClean="0"/>
              <a:t> </a:t>
            </a:r>
            <a:r>
              <a:rPr lang="en-US" b="1" i="1" dirty="0" err="1" smtClean="0"/>
              <a:t>máy</a:t>
            </a:r>
            <a:r>
              <a:rPr lang="en-US" b="1" i="1" dirty="0" smtClean="0"/>
              <a:t> </a:t>
            </a:r>
            <a:r>
              <a:rPr lang="en-US" b="1" i="1" dirty="0" err="1" smtClean="0"/>
              <a:t>tính</a:t>
            </a:r>
            <a:r>
              <a:rPr lang="en-US" b="1" i="1" dirty="0" smtClean="0"/>
              <a:t> </a:t>
            </a:r>
            <a:r>
              <a:rPr lang="en-US" b="1" i="1" dirty="0" err="1" smtClean="0"/>
              <a:t>của</a:t>
            </a:r>
            <a:r>
              <a:rPr lang="en-US" b="1" i="1" dirty="0" smtClean="0"/>
              <a:t> </a:t>
            </a:r>
            <a:r>
              <a:rPr lang="en-US" b="1" i="1" dirty="0" err="1" smtClean="0"/>
              <a:t>các</a:t>
            </a:r>
            <a:r>
              <a:rPr lang="en-US" b="1" i="1" dirty="0" smtClean="0"/>
              <a:t> </a:t>
            </a:r>
            <a:r>
              <a:rPr lang="en-US" b="1" i="1" dirty="0" err="1" smtClean="0"/>
              <a:t>số</a:t>
            </a:r>
            <a:endParaRPr lang="en-US" b="1" i="1" dirty="0" smtClean="0"/>
          </a:p>
          <a:p>
            <a:pPr marL="0" indent="0" algn="just">
              <a:lnSpc>
                <a:spcPct val="150000"/>
              </a:lnSpc>
              <a:buNone/>
            </a:pPr>
            <a:r>
              <a:rPr lang="en-US" dirty="0" err="1" smtClean="0"/>
              <a:t>Các</a:t>
            </a:r>
            <a:r>
              <a:rPr lang="en-US" dirty="0" smtClean="0"/>
              <a:t> </a:t>
            </a:r>
            <a:r>
              <a:rPr lang="en-US" dirty="0" err="1" smtClean="0"/>
              <a:t>số</a:t>
            </a:r>
            <a:r>
              <a:rPr lang="en-US" dirty="0" smtClean="0"/>
              <a:t> </a:t>
            </a:r>
            <a:r>
              <a:rPr lang="en-US" dirty="0" err="1" smtClean="0"/>
              <a:t>được</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trong</a:t>
            </a:r>
            <a:r>
              <a:rPr lang="en-US" dirty="0" smtClean="0"/>
              <a:t> </a:t>
            </a:r>
            <a:r>
              <a:rPr lang="en-US" dirty="0" err="1" smtClean="0"/>
              <a:t>máy</a:t>
            </a:r>
            <a:r>
              <a:rPr lang="en-US" dirty="0" smtClean="0"/>
              <a:t> </a:t>
            </a:r>
            <a:r>
              <a:rPr lang="en-US" dirty="0" err="1" smtClean="0"/>
              <a:t>tính</a:t>
            </a:r>
            <a:r>
              <a:rPr lang="en-US" dirty="0" smtClean="0"/>
              <a:t> ở </a:t>
            </a:r>
            <a:r>
              <a:rPr lang="en-US" dirty="0" err="1" smtClean="0"/>
              <a:t>dạng</a:t>
            </a:r>
            <a:r>
              <a:rPr lang="en-US" dirty="0" smtClean="0"/>
              <a:t> </a:t>
            </a:r>
            <a:r>
              <a:rPr lang="en-US" dirty="0" err="1" smtClean="0"/>
              <a:t>nhị</a:t>
            </a:r>
            <a:r>
              <a:rPr lang="en-US" dirty="0" smtClean="0"/>
              <a:t> </a:t>
            </a:r>
            <a:r>
              <a:rPr lang="en-US" dirty="0" err="1" smtClean="0"/>
              <a:t>phân</a:t>
            </a:r>
            <a:r>
              <a:rPr lang="en-US" dirty="0" smtClean="0"/>
              <a:t> (</a:t>
            </a:r>
            <a:r>
              <a:rPr lang="en-US" dirty="0" err="1" smtClean="0"/>
              <a:t>cơ</a:t>
            </a:r>
            <a:r>
              <a:rPr lang="en-US" dirty="0" smtClean="0"/>
              <a:t> </a:t>
            </a:r>
            <a:r>
              <a:rPr lang="en-US" dirty="0" err="1" smtClean="0"/>
              <a:t>số</a:t>
            </a:r>
            <a:r>
              <a:rPr lang="en-US" dirty="0" smtClean="0"/>
              <a:t> 2).</a:t>
            </a:r>
            <a:endParaRPr lang="en-US" dirty="0" smtClean="0"/>
          </a:p>
          <a:p>
            <a:pPr marL="0" indent="0" algn="just">
              <a:lnSpc>
                <a:spcPct val="150000"/>
              </a:lnSpc>
              <a:buNone/>
            </a:pPr>
            <a:endParaRPr lang="en-US" dirty="0" smtClean="0"/>
          </a:p>
          <a:p>
            <a:pPr marL="0" indent="0" algn="just">
              <a:lnSpc>
                <a:spcPct val="150000"/>
              </a:lnSpc>
              <a:buNone/>
            </a:pPr>
            <a:r>
              <a:rPr lang="en-US" b="1" dirty="0" smtClean="0">
                <a:solidFill>
                  <a:srgbClr val="0070C0"/>
                </a:solidFill>
              </a:rPr>
              <a:t>a. </a:t>
            </a:r>
            <a:r>
              <a:rPr lang="en-US" b="1" dirty="0" err="1" smtClean="0">
                <a:solidFill>
                  <a:srgbClr val="0070C0"/>
                </a:solidFill>
              </a:rPr>
              <a:t>Biểu</a:t>
            </a:r>
            <a:r>
              <a:rPr lang="en-US" b="1" dirty="0" smtClean="0">
                <a:solidFill>
                  <a:srgbClr val="0070C0"/>
                </a:solidFill>
              </a:rPr>
              <a:t> </a:t>
            </a:r>
            <a:r>
              <a:rPr lang="en-US" b="1" dirty="0" err="1" smtClean="0">
                <a:solidFill>
                  <a:srgbClr val="0070C0"/>
                </a:solidFill>
              </a:rPr>
              <a:t>diễn</a:t>
            </a:r>
            <a:r>
              <a:rPr lang="en-US" b="1" dirty="0" smtClean="0">
                <a:solidFill>
                  <a:srgbClr val="0070C0"/>
                </a:solidFill>
              </a:rPr>
              <a:t> </a:t>
            </a:r>
            <a:r>
              <a:rPr lang="en-US" b="1" dirty="0" err="1" smtClean="0">
                <a:solidFill>
                  <a:srgbClr val="0070C0"/>
                </a:solidFill>
              </a:rPr>
              <a:t>số</a:t>
            </a:r>
            <a:r>
              <a:rPr lang="en-US" b="1" dirty="0" smtClean="0">
                <a:solidFill>
                  <a:srgbClr val="0070C0"/>
                </a:solidFill>
              </a:rPr>
              <a:t> </a:t>
            </a:r>
            <a:r>
              <a:rPr lang="en-US" b="1" dirty="0" err="1" smtClean="0">
                <a:solidFill>
                  <a:srgbClr val="0070C0"/>
                </a:solidFill>
              </a:rPr>
              <a:t>nguyên</a:t>
            </a:r>
            <a:endParaRPr lang="en-US" b="1" dirty="0" smtClean="0">
              <a:solidFill>
                <a:srgbClr val="0070C0"/>
              </a:solidFill>
            </a:endParaRPr>
          </a:p>
          <a:p>
            <a:pPr marL="0" indent="0" algn="just">
              <a:lnSpc>
                <a:spcPct val="150000"/>
              </a:lnSpc>
              <a:buNone/>
            </a:pPr>
            <a:r>
              <a:rPr lang="en-US" dirty="0" err="1" smtClean="0"/>
              <a:t>Ví</a:t>
            </a:r>
            <a:r>
              <a:rPr lang="en-US" dirty="0" smtClean="0"/>
              <a:t> </a:t>
            </a:r>
            <a:r>
              <a:rPr lang="en-US" dirty="0" err="1" smtClean="0"/>
              <a:t>dụ</a:t>
            </a:r>
            <a:r>
              <a:rPr lang="en-US" dirty="0" smtClean="0"/>
              <a:t>: </a:t>
            </a:r>
            <a:r>
              <a:rPr lang="en-US" dirty="0" err="1" smtClean="0"/>
              <a:t>Số</a:t>
            </a:r>
            <a:r>
              <a:rPr lang="en-US" dirty="0" smtClean="0"/>
              <a:t> – 173 (</a:t>
            </a:r>
            <a:r>
              <a:rPr lang="en-US" dirty="0" err="1" smtClean="0"/>
              <a:t>trong</a:t>
            </a:r>
            <a:r>
              <a:rPr lang="en-US" dirty="0" smtClean="0"/>
              <a:t> </a:t>
            </a:r>
            <a:r>
              <a:rPr lang="en-US" dirty="0" err="1" smtClean="0"/>
              <a:t>máy</a:t>
            </a:r>
            <a:r>
              <a:rPr lang="en-US" dirty="0" smtClean="0"/>
              <a:t> </a:t>
            </a:r>
            <a:r>
              <a:rPr lang="en-US" dirty="0" err="1" smtClean="0"/>
              <a:t>tính</a:t>
            </a:r>
            <a:r>
              <a:rPr lang="en-US" dirty="0" smtClean="0"/>
              <a:t> 16 bit)</a:t>
            </a:r>
            <a:endParaRPr lang="en-US" dirty="0"/>
          </a:p>
        </p:txBody>
      </p:sp>
      <p:pic>
        <p:nvPicPr>
          <p:cNvPr id="2" name="Picture 1"/>
          <p:cNvPicPr>
            <a:picLocks noChangeAspect="1"/>
          </p:cNvPicPr>
          <p:nvPr/>
        </p:nvPicPr>
        <p:blipFill>
          <a:blip r:embed="rId1"/>
          <a:stretch>
            <a:fillRect/>
          </a:stretch>
        </p:blipFill>
        <p:spPr>
          <a:xfrm>
            <a:off x="2628416" y="4814698"/>
            <a:ext cx="6935168" cy="136226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Miền</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a:t>
            </a:r>
            <a:r>
              <a:rPr lang="en-US" dirty="0" err="1" smtClean="0"/>
              <a:t>các</a:t>
            </a:r>
            <a:r>
              <a:rPr lang="en-US" dirty="0" smtClean="0"/>
              <a:t> </a:t>
            </a:r>
            <a:r>
              <a:rPr lang="en-US" dirty="0" err="1" smtClean="0"/>
              <a:t>số</a:t>
            </a:r>
            <a:r>
              <a:rPr lang="en-US" dirty="0" smtClean="0"/>
              <a:t> </a:t>
            </a:r>
            <a:r>
              <a:rPr lang="en-US" dirty="0" err="1" smtClean="0"/>
              <a:t>tự</a:t>
            </a:r>
            <a:r>
              <a:rPr lang="en-US" dirty="0" smtClean="0"/>
              <a:t> </a:t>
            </a:r>
            <a:r>
              <a:rPr lang="en-US" dirty="0" err="1" smtClean="0"/>
              <a:t>nhiên</a:t>
            </a:r>
            <a:r>
              <a:rPr lang="en-US" dirty="0" smtClean="0"/>
              <a:t> </a:t>
            </a:r>
            <a:r>
              <a:rPr lang="en-US" dirty="0" err="1" smtClean="0"/>
              <a:t>có</a:t>
            </a:r>
            <a:r>
              <a:rPr lang="en-US" dirty="0" smtClean="0"/>
              <a:t> </a:t>
            </a:r>
            <a:r>
              <a:rPr lang="en-US" dirty="0" err="1" smtClean="0"/>
              <a:t>thể</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trong</a:t>
            </a:r>
            <a:r>
              <a:rPr lang="en-US" dirty="0" smtClean="0"/>
              <a:t> </a:t>
            </a:r>
            <a:r>
              <a:rPr lang="en-US" dirty="0" err="1" smtClean="0"/>
              <a:t>máy</a:t>
            </a:r>
            <a:r>
              <a:rPr lang="en-US" dirty="0" smtClean="0"/>
              <a:t> </a:t>
            </a:r>
            <a:r>
              <a:rPr lang="en-US" dirty="0" err="1" smtClean="0"/>
              <a:t>tính</a:t>
            </a:r>
            <a:r>
              <a:rPr lang="en-US" dirty="0" smtClean="0"/>
              <a:t> 16-bit</a:t>
            </a:r>
            <a:endParaRPr lang="en-US" dirty="0"/>
          </a:p>
        </p:txBody>
      </p:sp>
      <p:pic>
        <p:nvPicPr>
          <p:cNvPr id="2" name="Picture 1"/>
          <p:cNvPicPr>
            <a:picLocks noChangeAspect="1"/>
          </p:cNvPicPr>
          <p:nvPr/>
        </p:nvPicPr>
        <p:blipFill>
          <a:blip r:embed="rId1"/>
          <a:stretch>
            <a:fillRect/>
          </a:stretch>
        </p:blipFill>
        <p:spPr>
          <a:xfrm>
            <a:off x="3263360" y="2084234"/>
            <a:ext cx="6180504" cy="3657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Hiện</a:t>
            </a:r>
            <a:r>
              <a:rPr lang="en-US" dirty="0" smtClean="0"/>
              <a:t> </a:t>
            </a:r>
            <a:r>
              <a:rPr lang="en-US" dirty="0" err="1" smtClean="0"/>
              <a:t>tượng</a:t>
            </a:r>
            <a:r>
              <a:rPr lang="en-US" dirty="0" smtClean="0"/>
              <a:t> </a:t>
            </a:r>
            <a:r>
              <a:rPr lang="en-US" dirty="0" err="1" smtClean="0"/>
              <a:t>tràn</a:t>
            </a:r>
            <a:r>
              <a:rPr lang="en-US" dirty="0" smtClean="0"/>
              <a:t> </a:t>
            </a:r>
            <a:r>
              <a:rPr lang="en-US" dirty="0" err="1" smtClean="0"/>
              <a:t>số</a:t>
            </a:r>
            <a:r>
              <a:rPr lang="en-US" dirty="0" smtClean="0"/>
              <a:t> </a:t>
            </a:r>
            <a:r>
              <a:rPr lang="en-US" dirty="0" err="1" smtClean="0"/>
              <a:t>nguyên</a:t>
            </a:r>
            <a:r>
              <a:rPr lang="en-US" dirty="0" smtClean="0"/>
              <a:t> (Integer overflow)</a:t>
            </a:r>
            <a:endParaRPr lang="en-US" dirty="0"/>
          </a:p>
        </p:txBody>
      </p:sp>
      <p:pic>
        <p:nvPicPr>
          <p:cNvPr id="2" name="Picture 1"/>
          <p:cNvPicPr>
            <a:picLocks noChangeAspect="1"/>
          </p:cNvPicPr>
          <p:nvPr/>
        </p:nvPicPr>
        <p:blipFill>
          <a:blip r:embed="rId1"/>
          <a:stretch>
            <a:fillRect/>
          </a:stretch>
        </p:blipFill>
        <p:spPr>
          <a:xfrm>
            <a:off x="1170541" y="1889691"/>
            <a:ext cx="10572052" cy="1463040"/>
          </a:xfrm>
          <a:prstGeom prst="rect">
            <a:avLst/>
          </a:prstGeom>
        </p:spPr>
      </p:pic>
      <p:pic>
        <p:nvPicPr>
          <p:cNvPr id="4" name="Picture 3"/>
          <p:cNvPicPr>
            <a:picLocks noChangeAspect="1"/>
          </p:cNvPicPr>
          <p:nvPr/>
        </p:nvPicPr>
        <p:blipFill>
          <a:blip r:embed="rId2"/>
          <a:stretch>
            <a:fillRect/>
          </a:stretch>
        </p:blipFill>
        <p:spPr>
          <a:xfrm>
            <a:off x="1170539" y="3859901"/>
            <a:ext cx="10455694" cy="14630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smtClean="0">
                <a:solidFill>
                  <a:srgbClr val="0070C0"/>
                </a:solidFill>
              </a:rPr>
              <a:t>b. </a:t>
            </a:r>
            <a:r>
              <a:rPr lang="en-US" b="1" dirty="0" err="1" smtClean="0">
                <a:solidFill>
                  <a:srgbClr val="0070C0"/>
                </a:solidFill>
              </a:rPr>
              <a:t>Biểu</a:t>
            </a:r>
            <a:r>
              <a:rPr lang="en-US" b="1" dirty="0" smtClean="0">
                <a:solidFill>
                  <a:srgbClr val="0070C0"/>
                </a:solidFill>
              </a:rPr>
              <a:t> </a:t>
            </a:r>
            <a:r>
              <a:rPr lang="en-US" b="1" dirty="0" err="1" smtClean="0">
                <a:solidFill>
                  <a:srgbClr val="0070C0"/>
                </a:solidFill>
              </a:rPr>
              <a:t>diễn</a:t>
            </a:r>
            <a:r>
              <a:rPr lang="en-US" b="1" dirty="0" smtClean="0">
                <a:solidFill>
                  <a:srgbClr val="0070C0"/>
                </a:solidFill>
              </a:rPr>
              <a:t> </a:t>
            </a:r>
            <a:r>
              <a:rPr lang="en-US" b="1" dirty="0" err="1" smtClean="0">
                <a:solidFill>
                  <a:srgbClr val="0070C0"/>
                </a:solidFill>
              </a:rPr>
              <a:t>số</a:t>
            </a:r>
            <a:r>
              <a:rPr lang="en-US" b="1" dirty="0" smtClean="0">
                <a:solidFill>
                  <a:srgbClr val="0070C0"/>
                </a:solidFill>
              </a:rPr>
              <a:t> </a:t>
            </a:r>
            <a:r>
              <a:rPr lang="en-US" b="1" dirty="0" err="1" smtClean="0">
                <a:solidFill>
                  <a:srgbClr val="0070C0"/>
                </a:solidFill>
              </a:rPr>
              <a:t>phẩy</a:t>
            </a:r>
            <a:r>
              <a:rPr lang="en-US" b="1" dirty="0" smtClean="0">
                <a:solidFill>
                  <a:srgbClr val="0070C0"/>
                </a:solidFill>
              </a:rPr>
              <a:t> </a:t>
            </a:r>
            <a:r>
              <a:rPr lang="en-US" b="1" dirty="0" err="1" smtClean="0">
                <a:solidFill>
                  <a:srgbClr val="0070C0"/>
                </a:solidFill>
              </a:rPr>
              <a:t>động</a:t>
            </a:r>
            <a:endParaRPr lang="en-US" b="1" dirty="0" smtClean="0">
              <a:solidFill>
                <a:srgbClr val="0070C0"/>
              </a:solidFill>
            </a:endParaRPr>
          </a:p>
          <a:p>
            <a:pPr marL="0" indent="0" algn="just">
              <a:lnSpc>
                <a:spcPct val="150000"/>
              </a:lnSpc>
              <a:buNone/>
            </a:pPr>
            <a:r>
              <a:rPr lang="en-US" dirty="0" err="1" smtClean="0"/>
              <a:t>Các</a:t>
            </a:r>
            <a:r>
              <a:rPr lang="en-US" dirty="0" smtClean="0"/>
              <a:t> </a:t>
            </a:r>
            <a:r>
              <a:rPr lang="en-US" dirty="0" err="1" smtClean="0"/>
              <a:t>số</a:t>
            </a:r>
            <a:r>
              <a:rPr lang="en-US" dirty="0" smtClean="0"/>
              <a:t> </a:t>
            </a:r>
            <a:r>
              <a:rPr lang="en-US" dirty="0" err="1" smtClean="0"/>
              <a:t>hữu</a:t>
            </a:r>
            <a:r>
              <a:rPr lang="en-US" dirty="0" smtClean="0"/>
              <a:t> </a:t>
            </a:r>
            <a:r>
              <a:rPr lang="en-US" dirty="0" err="1" smtClean="0"/>
              <a:t>tỉ</a:t>
            </a:r>
            <a:r>
              <a:rPr lang="en-US" dirty="0" smtClean="0"/>
              <a:t> </a:t>
            </a:r>
            <a:r>
              <a:rPr lang="en-US" dirty="0" err="1" smtClean="0"/>
              <a:t>được</a:t>
            </a:r>
            <a:r>
              <a:rPr lang="en-US" dirty="0" smtClean="0"/>
              <a:t> </a:t>
            </a:r>
            <a:r>
              <a:rPr lang="en-US" dirty="0" err="1" smtClean="0"/>
              <a:t>biểu</a:t>
            </a:r>
            <a:r>
              <a:rPr lang="en-US" dirty="0" smtClean="0"/>
              <a:t> </a:t>
            </a:r>
            <a:r>
              <a:rPr lang="en-US" dirty="0" err="1" smtClean="0"/>
              <a:t>diễn</a:t>
            </a:r>
            <a:r>
              <a:rPr lang="en-US" dirty="0" smtClean="0"/>
              <a:t> ở </a:t>
            </a:r>
            <a:r>
              <a:rPr lang="en-US" dirty="0" err="1" smtClean="0"/>
              <a:t>dạng</a:t>
            </a:r>
            <a:r>
              <a:rPr lang="en-US" dirty="0" smtClean="0"/>
              <a:t> </a:t>
            </a:r>
            <a:r>
              <a:rPr lang="en-US" dirty="0" err="1" smtClean="0"/>
              <a:t>phẩy</a:t>
            </a:r>
            <a:r>
              <a:rPr lang="en-US" dirty="0" smtClean="0"/>
              <a:t> </a:t>
            </a:r>
            <a:r>
              <a:rPr lang="en-US" dirty="0" err="1" smtClean="0"/>
              <a:t>động</a:t>
            </a:r>
            <a:r>
              <a:rPr lang="en-US" dirty="0" smtClean="0"/>
              <a:t> ở </a:t>
            </a:r>
            <a:r>
              <a:rPr lang="en-US" dirty="0" err="1" smtClean="0"/>
              <a:t>dạng</a:t>
            </a:r>
            <a:endParaRPr lang="en-US" dirty="0" smtClean="0"/>
          </a:p>
          <a:p>
            <a:pPr marL="0" indent="0" algn="just">
              <a:lnSpc>
                <a:spcPct val="150000"/>
              </a:lnSpc>
              <a:buNone/>
            </a:pPr>
            <a:endParaRPr lang="en-US" dirty="0"/>
          </a:p>
          <a:p>
            <a:pPr marL="0" indent="0" algn="just">
              <a:lnSpc>
                <a:spcPct val="150000"/>
              </a:lnSpc>
              <a:buNone/>
            </a:pPr>
            <a:r>
              <a:rPr lang="en-US" dirty="0" smtClean="0"/>
              <a:t>m – </a:t>
            </a:r>
            <a:r>
              <a:rPr lang="en-US" dirty="0" err="1" smtClean="0"/>
              <a:t>phần</a:t>
            </a:r>
            <a:r>
              <a:rPr lang="en-US" dirty="0" smtClean="0"/>
              <a:t> </a:t>
            </a:r>
            <a:r>
              <a:rPr lang="en-US" dirty="0" err="1" smtClean="0"/>
              <a:t>định</a:t>
            </a:r>
            <a:r>
              <a:rPr lang="en-US" dirty="0" smtClean="0"/>
              <a:t> </a:t>
            </a:r>
            <a:r>
              <a:rPr lang="en-US" dirty="0" err="1" smtClean="0"/>
              <a:t>trị</a:t>
            </a:r>
            <a:r>
              <a:rPr lang="en-US" dirty="0" smtClean="0"/>
              <a:t> (Mantissa), b – </a:t>
            </a:r>
            <a:r>
              <a:rPr lang="en-US" dirty="0" err="1" smtClean="0"/>
              <a:t>cơ</a:t>
            </a:r>
            <a:r>
              <a:rPr lang="en-US" dirty="0" smtClean="0"/>
              <a:t> </a:t>
            </a:r>
            <a:r>
              <a:rPr lang="en-US" dirty="0" err="1" smtClean="0"/>
              <a:t>sở</a:t>
            </a:r>
            <a:r>
              <a:rPr lang="en-US" dirty="0" smtClean="0"/>
              <a:t>, e – </a:t>
            </a:r>
            <a:r>
              <a:rPr lang="en-US" dirty="0" err="1" smtClean="0"/>
              <a:t>số</a:t>
            </a:r>
            <a:r>
              <a:rPr lang="en-US" dirty="0" smtClean="0"/>
              <a:t> </a:t>
            </a:r>
            <a:r>
              <a:rPr lang="en-US" dirty="0" err="1" smtClean="0"/>
              <a:t>mũ</a:t>
            </a:r>
            <a:endParaRPr lang="en-US" dirty="0" smtClean="0"/>
          </a:p>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3104743" y="4016278"/>
            <a:ext cx="6515497" cy="1920240"/>
          </a:xfrm>
          <a:prstGeom prst="rect">
            <a:avLst/>
          </a:prstGeom>
        </p:spPr>
      </p:pic>
      <p:graphicFrame>
        <p:nvGraphicFramePr>
          <p:cNvPr id="4" name="Object 3"/>
          <p:cNvGraphicFramePr>
            <a:graphicFrameLocks noChangeAspect="1"/>
          </p:cNvGraphicFramePr>
          <p:nvPr/>
        </p:nvGraphicFramePr>
        <p:xfrm>
          <a:off x="5805316" y="2566450"/>
          <a:ext cx="804863" cy="392112"/>
        </p:xfrm>
        <a:graphic>
          <a:graphicData uri="http://schemas.openxmlformats.org/presentationml/2006/ole">
            <mc:AlternateContent xmlns:mc="http://schemas.openxmlformats.org/markup-compatibility/2006">
              <mc:Choice xmlns:v="urn:schemas-microsoft-com:vml" Requires="v">
                <p:oleObj spid="_x0000_s6156" name="Equation" r:id="rId2" imgW="11277600" imgH="5486400" progId="Equation.3">
                  <p:embed/>
                </p:oleObj>
              </mc:Choice>
              <mc:Fallback>
                <p:oleObj name="Equation" r:id="rId2" imgW="11277600" imgH="5486400" progId="Equation.3">
                  <p:embed/>
                  <p:pic>
                    <p:nvPicPr>
                      <p:cNvPr id="0" name="Picture 6155"/>
                      <p:cNvPicPr/>
                      <p:nvPr/>
                    </p:nvPicPr>
                    <p:blipFill>
                      <a:blip r:embed="rId3"/>
                      <a:stretch>
                        <a:fillRect/>
                      </a:stretch>
                    </p:blipFill>
                    <p:spPr>
                      <a:xfrm>
                        <a:off x="5805316" y="2566450"/>
                        <a:ext cx="804863" cy="392112"/>
                      </a:xfrm>
                      <a:prstGeom prst="rect">
                        <a:avLst/>
                      </a:prstGeom>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Ví</a:t>
            </a:r>
            <a:r>
              <a:rPr lang="en-US" dirty="0" smtClean="0"/>
              <a:t> </a:t>
            </a:r>
            <a:r>
              <a:rPr lang="en-US" dirty="0" err="1" smtClean="0"/>
              <a:t>dụ</a:t>
            </a:r>
            <a:r>
              <a:rPr lang="en-US" dirty="0" smtClean="0"/>
              <a:t>: </a:t>
            </a:r>
            <a:r>
              <a:rPr lang="en-US" dirty="0" err="1" smtClean="0"/>
              <a:t>Số</a:t>
            </a:r>
            <a:r>
              <a:rPr lang="en-US" dirty="0" smtClean="0"/>
              <a:t> 1.648721 </a:t>
            </a:r>
            <a:r>
              <a:rPr lang="en-US" dirty="0" err="1" smtClean="0"/>
              <a:t>trong</a:t>
            </a:r>
            <a:r>
              <a:rPr lang="en-US" dirty="0" smtClean="0"/>
              <a:t> </a:t>
            </a:r>
            <a:r>
              <a:rPr lang="en-US" dirty="0" err="1" smtClean="0"/>
              <a:t>hệ</a:t>
            </a:r>
            <a:r>
              <a:rPr lang="en-US" dirty="0" smtClean="0"/>
              <a:t> 10 </a:t>
            </a:r>
            <a:r>
              <a:rPr lang="en-US" dirty="0" err="1" smtClean="0"/>
              <a:t>được</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như</a:t>
            </a:r>
            <a:r>
              <a:rPr lang="en-US" dirty="0" smtClean="0"/>
              <a:t> </a:t>
            </a:r>
            <a:r>
              <a:rPr lang="en-US" dirty="0" err="1" smtClean="0"/>
              <a:t>sau</a:t>
            </a:r>
            <a:r>
              <a:rPr lang="en-US" dirty="0" smtClean="0"/>
              <a:t>:</a:t>
            </a:r>
            <a:endParaRPr lang="en-US" dirty="0" smtClean="0"/>
          </a:p>
          <a:p>
            <a:pPr algn="just">
              <a:lnSpc>
                <a:spcPct val="150000"/>
              </a:lnSpc>
              <a:buFontTx/>
              <a:buChar char="-"/>
            </a:pPr>
            <a:r>
              <a:rPr lang="en-US" dirty="0" err="1" smtClean="0"/>
              <a:t>Dạng</a:t>
            </a:r>
            <a:r>
              <a:rPr lang="en-US" dirty="0" smtClean="0"/>
              <a:t> </a:t>
            </a:r>
            <a:r>
              <a:rPr lang="en-US" dirty="0" err="1" smtClean="0"/>
              <a:t>chuẩn</a:t>
            </a:r>
            <a:r>
              <a:rPr lang="en-US" dirty="0" smtClean="0"/>
              <a:t> </a:t>
            </a:r>
            <a:r>
              <a:rPr lang="en-US" dirty="0" err="1" smtClean="0"/>
              <a:t>hóa</a:t>
            </a:r>
            <a:r>
              <a:rPr lang="en-US" dirty="0" smtClean="0"/>
              <a:t>: 0.1648721×10</a:t>
            </a:r>
            <a:r>
              <a:rPr lang="en-US" baseline="30000" dirty="0" smtClean="0"/>
              <a:t>1</a:t>
            </a:r>
            <a:endParaRPr lang="en-US" baseline="30000" dirty="0" smtClean="0"/>
          </a:p>
          <a:p>
            <a:pPr algn="just">
              <a:lnSpc>
                <a:spcPct val="150000"/>
              </a:lnSpc>
              <a:buFontTx/>
              <a:buChar char="-"/>
            </a:pPr>
            <a:r>
              <a:rPr lang="en-US" dirty="0" smtClean="0"/>
              <a:t> Bit Sign </a:t>
            </a:r>
            <a:r>
              <a:rPr lang="en-US" dirty="0" err="1" smtClean="0"/>
              <a:t>lưu</a:t>
            </a:r>
            <a:r>
              <a:rPr lang="en-US" dirty="0" smtClean="0"/>
              <a:t> </a:t>
            </a:r>
            <a:r>
              <a:rPr lang="en-US" dirty="0" err="1" smtClean="0"/>
              <a:t>dấu</a:t>
            </a:r>
            <a:r>
              <a:rPr lang="en-US" dirty="0" smtClean="0"/>
              <a:t> </a:t>
            </a:r>
            <a:r>
              <a:rPr lang="en-US" dirty="0" err="1" smtClean="0"/>
              <a:t>dương</a:t>
            </a:r>
            <a:r>
              <a:rPr lang="en-US" dirty="0" smtClean="0"/>
              <a:t> (0)</a:t>
            </a:r>
            <a:endParaRPr lang="en-US" dirty="0" smtClean="0"/>
          </a:p>
          <a:p>
            <a:pPr algn="just">
              <a:lnSpc>
                <a:spcPct val="150000"/>
              </a:lnSpc>
              <a:buFontTx/>
              <a:buChar char="-"/>
            </a:pPr>
            <a:r>
              <a:rPr lang="en-US" dirty="0" err="1" smtClean="0"/>
              <a:t>Phần</a:t>
            </a:r>
            <a:r>
              <a:rPr lang="en-US" dirty="0" smtClean="0"/>
              <a:t> Mantissa </a:t>
            </a:r>
            <a:r>
              <a:rPr lang="en-US" dirty="0" err="1" smtClean="0"/>
              <a:t>lưu</a:t>
            </a:r>
            <a:r>
              <a:rPr lang="en-US" dirty="0"/>
              <a:t> </a:t>
            </a:r>
            <a:r>
              <a:rPr lang="en-US" dirty="0" err="1" smtClean="0"/>
              <a:t>số</a:t>
            </a:r>
            <a:r>
              <a:rPr lang="en-US" dirty="0" smtClean="0"/>
              <a:t> 1648721</a:t>
            </a:r>
            <a:endParaRPr lang="en-US" dirty="0" smtClean="0"/>
          </a:p>
          <a:p>
            <a:pPr algn="just">
              <a:lnSpc>
                <a:spcPct val="150000"/>
              </a:lnSpc>
              <a:buFontTx/>
              <a:buChar char="-"/>
            </a:pPr>
            <a:r>
              <a:rPr lang="en-US" dirty="0" err="1" smtClean="0"/>
              <a:t>Phần</a:t>
            </a:r>
            <a:r>
              <a:rPr lang="en-US" dirty="0" smtClean="0"/>
              <a:t> Signed exponent </a:t>
            </a:r>
            <a:r>
              <a:rPr lang="en-US" dirty="0" err="1" smtClean="0"/>
              <a:t>lưu</a:t>
            </a:r>
            <a:r>
              <a:rPr lang="en-US" dirty="0" smtClean="0"/>
              <a:t> +1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Nhận</a:t>
            </a:r>
            <a:r>
              <a:rPr lang="en-US" dirty="0" smtClean="0"/>
              <a:t> </a:t>
            </a:r>
            <a:r>
              <a:rPr lang="en-US" dirty="0" err="1" smtClean="0"/>
              <a:t>xét</a:t>
            </a:r>
            <a:endParaRPr lang="en-US" dirty="0" smtClean="0"/>
          </a:p>
          <a:p>
            <a:pPr marL="0" indent="0" algn="just">
              <a:lnSpc>
                <a:spcPct val="150000"/>
              </a:lnSpc>
              <a:buNone/>
            </a:pPr>
            <a:endParaRPr lang="en-US" dirty="0"/>
          </a:p>
          <a:p>
            <a:pPr marL="0" indent="0" algn="just">
              <a:lnSpc>
                <a:spcPct val="150000"/>
              </a:lnSpc>
              <a:buNone/>
            </a:pPr>
            <a:r>
              <a:rPr lang="en-US" dirty="0" err="1" smtClean="0"/>
              <a:t>Ví</a:t>
            </a:r>
            <a:r>
              <a:rPr lang="en-US" dirty="0" smtClean="0"/>
              <a:t> </a:t>
            </a:r>
            <a:r>
              <a:rPr lang="en-US" dirty="0" err="1" smtClean="0"/>
              <a:t>dụ</a:t>
            </a:r>
            <a:r>
              <a:rPr lang="en-US" dirty="0" smtClean="0"/>
              <a:t> </a:t>
            </a:r>
            <a:r>
              <a:rPr lang="en-US" dirty="0" err="1" smtClean="0"/>
              <a:t>với</a:t>
            </a:r>
            <a:r>
              <a:rPr lang="en-US" dirty="0" smtClean="0"/>
              <a:t> </a:t>
            </a:r>
            <a:r>
              <a:rPr lang="en-US" dirty="0" err="1" smtClean="0"/>
              <a:t>hệ</a:t>
            </a:r>
            <a:r>
              <a:rPr lang="en-US" dirty="0" smtClean="0"/>
              <a:t> 10 </a:t>
            </a:r>
            <a:r>
              <a:rPr lang="en-US" dirty="0" err="1" smtClean="0"/>
              <a:t>thì</a:t>
            </a:r>
            <a:r>
              <a:rPr lang="en-US" dirty="0" smtClean="0"/>
              <a:t> m </a:t>
            </a:r>
            <a:r>
              <a:rPr lang="en-US" dirty="0" err="1" smtClean="0"/>
              <a:t>nằm</a:t>
            </a:r>
            <a:r>
              <a:rPr lang="en-US" dirty="0" smtClean="0"/>
              <a:t> </a:t>
            </a:r>
            <a:r>
              <a:rPr lang="en-US" dirty="0" err="1" smtClean="0"/>
              <a:t>giữa</a:t>
            </a:r>
            <a:r>
              <a:rPr lang="en-US" dirty="0" smtClean="0"/>
              <a:t> 0.1 </a:t>
            </a:r>
            <a:r>
              <a:rPr lang="en-US" dirty="0" err="1" smtClean="0"/>
              <a:t>và</a:t>
            </a:r>
            <a:r>
              <a:rPr lang="en-US" dirty="0" smtClean="0"/>
              <a:t> 1, </a:t>
            </a:r>
            <a:r>
              <a:rPr lang="en-US" dirty="0" err="1" smtClean="0"/>
              <a:t>với</a:t>
            </a:r>
            <a:r>
              <a:rPr lang="en-US" dirty="0" smtClean="0"/>
              <a:t> </a:t>
            </a:r>
            <a:r>
              <a:rPr lang="en-US" dirty="0" err="1" smtClean="0"/>
              <a:t>hệ</a:t>
            </a:r>
            <a:r>
              <a:rPr lang="en-US" dirty="0" smtClean="0"/>
              <a:t> </a:t>
            </a:r>
            <a:r>
              <a:rPr lang="en-US" dirty="0" err="1" smtClean="0"/>
              <a:t>nhị</a:t>
            </a:r>
            <a:r>
              <a:rPr lang="en-US" dirty="0" smtClean="0"/>
              <a:t> </a:t>
            </a:r>
            <a:r>
              <a:rPr lang="en-US" dirty="0" err="1" smtClean="0"/>
              <a:t>phân</a:t>
            </a:r>
            <a:r>
              <a:rPr lang="en-US" dirty="0" smtClean="0"/>
              <a:t> m </a:t>
            </a:r>
            <a:r>
              <a:rPr lang="en-US" dirty="0" err="1" smtClean="0"/>
              <a:t>nằm</a:t>
            </a:r>
            <a:r>
              <a:rPr lang="en-US" dirty="0" smtClean="0"/>
              <a:t> </a:t>
            </a:r>
            <a:r>
              <a:rPr lang="en-US" dirty="0" err="1" smtClean="0"/>
              <a:t>giữa</a:t>
            </a:r>
            <a:r>
              <a:rPr lang="en-US" dirty="0" smtClean="0"/>
              <a:t> 0.5 </a:t>
            </a:r>
            <a:r>
              <a:rPr lang="en-US" dirty="0" err="1" smtClean="0"/>
              <a:t>và</a:t>
            </a:r>
            <a:r>
              <a:rPr lang="en-US" dirty="0" smtClean="0"/>
              <a:t> 1.</a:t>
            </a:r>
            <a:endParaRPr lang="en-US" dirty="0"/>
          </a:p>
        </p:txBody>
      </p:sp>
      <p:pic>
        <p:nvPicPr>
          <p:cNvPr id="2" name="Picture 1"/>
          <p:cNvPicPr>
            <a:picLocks noChangeAspect="1"/>
          </p:cNvPicPr>
          <p:nvPr/>
        </p:nvPicPr>
        <p:blipFill>
          <a:blip r:embed="rId1"/>
          <a:stretch>
            <a:fillRect/>
          </a:stretch>
        </p:blipFill>
        <p:spPr>
          <a:xfrm>
            <a:off x="5133840" y="1524095"/>
            <a:ext cx="1924319" cy="74305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Ví</a:t>
            </a:r>
            <a:r>
              <a:rPr lang="en-US" dirty="0" smtClean="0"/>
              <a:t> </a:t>
            </a:r>
            <a:r>
              <a:rPr lang="en-US" dirty="0" err="1" smtClean="0"/>
              <a:t>dụ</a:t>
            </a:r>
            <a:r>
              <a:rPr lang="en-US" dirty="0" smtClean="0"/>
              <a:t>: </a:t>
            </a:r>
            <a:r>
              <a:rPr lang="en-US" dirty="0" err="1" smtClean="0"/>
              <a:t>Giả</a:t>
            </a:r>
            <a:r>
              <a:rPr lang="en-US" dirty="0" smtClean="0"/>
              <a:t> </a:t>
            </a:r>
            <a:r>
              <a:rPr lang="en-US" dirty="0" err="1" smtClean="0"/>
              <a:t>sử</a:t>
            </a:r>
            <a:r>
              <a:rPr lang="en-US" dirty="0" smtClean="0"/>
              <a:t> </a:t>
            </a:r>
            <a:r>
              <a:rPr lang="en-US" dirty="0" err="1" smtClean="0"/>
              <a:t>một</a:t>
            </a:r>
            <a:r>
              <a:rPr lang="en-US" dirty="0" smtClean="0"/>
              <a:t> </a:t>
            </a:r>
            <a:r>
              <a:rPr lang="en-US" dirty="0" err="1" smtClean="0"/>
              <a:t>chuỗi</a:t>
            </a:r>
            <a:r>
              <a:rPr lang="en-US" dirty="0" smtClean="0"/>
              <a:t> 7 bit </a:t>
            </a:r>
            <a:r>
              <a:rPr lang="en-US" dirty="0" err="1" smtClean="0"/>
              <a:t>được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để</a:t>
            </a:r>
            <a:r>
              <a:rPr lang="en-US" dirty="0" smtClean="0"/>
              <a:t> </a:t>
            </a:r>
            <a:r>
              <a:rPr lang="en-US" dirty="0" err="1" smtClean="0"/>
              <a:t>lưu</a:t>
            </a:r>
            <a:r>
              <a:rPr lang="en-US" dirty="0" smtClean="0"/>
              <a:t> </a:t>
            </a:r>
            <a:r>
              <a:rPr lang="en-US" dirty="0" err="1" smtClean="0"/>
              <a:t>trữ</a:t>
            </a:r>
            <a:r>
              <a:rPr lang="en-US" dirty="0" smtClean="0"/>
              <a:t> </a:t>
            </a:r>
            <a:r>
              <a:rPr lang="en-US" dirty="0" err="1" smtClean="0"/>
              <a:t>số</a:t>
            </a:r>
            <a:r>
              <a:rPr lang="en-US" dirty="0" smtClean="0"/>
              <a:t>. Bit </a:t>
            </a:r>
            <a:r>
              <a:rPr lang="en-US" dirty="0" err="1" smtClean="0"/>
              <a:t>đầu</a:t>
            </a:r>
            <a:r>
              <a:rPr lang="en-US" dirty="0" smtClean="0"/>
              <a:t> </a:t>
            </a:r>
            <a:r>
              <a:rPr lang="en-US" dirty="0" err="1" smtClean="0"/>
              <a:t>tiên</a:t>
            </a:r>
            <a:r>
              <a:rPr lang="en-US" dirty="0" smtClean="0"/>
              <a:t> </a:t>
            </a:r>
            <a:r>
              <a:rPr lang="en-US" dirty="0" err="1" smtClean="0"/>
              <a:t>cho</a:t>
            </a:r>
            <a:r>
              <a:rPr lang="en-US" dirty="0" smtClean="0"/>
              <a:t> Sign, 3 bit </a:t>
            </a:r>
            <a:r>
              <a:rPr lang="en-US" dirty="0" err="1" smtClean="0"/>
              <a:t>tiếp</a:t>
            </a:r>
            <a:r>
              <a:rPr lang="en-US" dirty="0" smtClean="0"/>
              <a:t> </a:t>
            </a:r>
            <a:r>
              <a:rPr lang="en-US" dirty="0" err="1" smtClean="0"/>
              <a:t>theo</a:t>
            </a:r>
            <a:r>
              <a:rPr lang="en-US" dirty="0" smtClean="0"/>
              <a:t> </a:t>
            </a:r>
            <a:r>
              <a:rPr lang="en-US" dirty="0" err="1" smtClean="0"/>
              <a:t>cho</a:t>
            </a:r>
            <a:r>
              <a:rPr lang="en-US" dirty="0" smtClean="0"/>
              <a:t> Signed exponent, 3 bit </a:t>
            </a:r>
            <a:r>
              <a:rPr lang="en-US" dirty="0" err="1" smtClean="0"/>
              <a:t>còn</a:t>
            </a:r>
            <a:r>
              <a:rPr lang="en-US" dirty="0" smtClean="0"/>
              <a:t> </a:t>
            </a:r>
            <a:r>
              <a:rPr lang="en-US" dirty="0" err="1" smtClean="0"/>
              <a:t>lại</a:t>
            </a:r>
            <a:r>
              <a:rPr lang="en-US" dirty="0" smtClean="0"/>
              <a:t> </a:t>
            </a:r>
            <a:r>
              <a:rPr lang="en-US" dirty="0" err="1" smtClean="0"/>
              <a:t>cho</a:t>
            </a:r>
            <a:r>
              <a:rPr lang="en-US" dirty="0" smtClean="0"/>
              <a:t> Mantissa. </a:t>
            </a:r>
            <a:r>
              <a:rPr lang="en-US" dirty="0" err="1" smtClean="0"/>
              <a:t>Hãy</a:t>
            </a:r>
            <a:r>
              <a:rPr lang="en-US" dirty="0" smtClean="0"/>
              <a:t> </a:t>
            </a:r>
            <a:r>
              <a:rPr lang="en-US" dirty="0" err="1" smtClean="0"/>
              <a:t>xác</a:t>
            </a:r>
            <a:r>
              <a:rPr lang="en-US" dirty="0" smtClean="0"/>
              <a:t> </a:t>
            </a:r>
            <a:r>
              <a:rPr lang="en-US" dirty="0" err="1" smtClean="0"/>
              <a:t>định</a:t>
            </a:r>
            <a:r>
              <a:rPr lang="en-US" dirty="0"/>
              <a:t> </a:t>
            </a:r>
            <a:r>
              <a:rPr lang="en-US" dirty="0" err="1" smtClean="0"/>
              <a:t>khoảng</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a:t>
            </a:r>
            <a:r>
              <a:rPr lang="en-US" dirty="0" err="1" smtClean="0"/>
              <a:t>các</a:t>
            </a:r>
            <a:r>
              <a:rPr lang="en-US" dirty="0" smtClean="0"/>
              <a:t> </a:t>
            </a:r>
            <a:r>
              <a:rPr lang="en-US" dirty="0" err="1" smtClean="0"/>
              <a:t>số</a:t>
            </a:r>
            <a:r>
              <a:rPr lang="en-US" dirty="0" smtClean="0"/>
              <a:t> </a:t>
            </a:r>
            <a:r>
              <a:rPr lang="en-US" dirty="0" err="1" smtClean="0"/>
              <a:t>được</a:t>
            </a:r>
            <a:r>
              <a:rPr lang="en-US" dirty="0" smtClean="0"/>
              <a:t> </a:t>
            </a:r>
            <a:r>
              <a:rPr lang="en-US" dirty="0" err="1" smtClean="0"/>
              <a:t>lưu</a:t>
            </a:r>
            <a:r>
              <a:rPr lang="en-US" dirty="0" smtClean="0"/>
              <a:t> </a:t>
            </a:r>
            <a:r>
              <a:rPr lang="en-US" dirty="0" err="1" smtClean="0"/>
              <a:t>trữ</a:t>
            </a:r>
            <a:r>
              <a:rPr lang="en-US" dirty="0" smtClean="0"/>
              <a:t>.</a:t>
            </a:r>
            <a:endParaRPr lang="en-US" dirty="0" smtClean="0"/>
          </a:p>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4275475" y="3503478"/>
            <a:ext cx="3999268" cy="20116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3046"/>
            <a:ext cx="10515600" cy="5543917"/>
          </a:xfrm>
        </p:spPr>
        <p:txBody>
          <a:bodyPr/>
          <a:lstStyle/>
          <a:p>
            <a:pPr marL="0" indent="0" algn="just">
              <a:lnSpc>
                <a:spcPct val="150000"/>
              </a:lnSpc>
              <a:buNone/>
            </a:pPr>
            <a:r>
              <a:rPr lang="en-US" dirty="0" smtClean="0"/>
              <a:t>LG. </a:t>
            </a:r>
            <a:r>
              <a:rPr lang="en-US" dirty="0" err="1" smtClean="0"/>
              <a:t>Số</a:t>
            </a:r>
            <a:r>
              <a:rPr lang="en-US" dirty="0" smtClean="0"/>
              <a:t> </a:t>
            </a:r>
            <a:r>
              <a:rPr lang="en-US" dirty="0" err="1" smtClean="0"/>
              <a:t>dương</a:t>
            </a:r>
            <a:r>
              <a:rPr lang="en-US" dirty="0" smtClean="0"/>
              <a:t> </a:t>
            </a:r>
            <a:r>
              <a:rPr lang="en-US" dirty="0" err="1" smtClean="0"/>
              <a:t>nhỏ</a:t>
            </a:r>
            <a:r>
              <a:rPr lang="en-US" dirty="0" smtClean="0"/>
              <a:t> </a:t>
            </a:r>
            <a:r>
              <a:rPr lang="en-US" dirty="0" err="1" smtClean="0"/>
              <a:t>nhất</a:t>
            </a:r>
            <a:r>
              <a:rPr lang="en-US" dirty="0" smtClean="0"/>
              <a:t> </a:t>
            </a:r>
            <a:r>
              <a:rPr lang="en-US" dirty="0" err="1" smtClean="0"/>
              <a:t>được</a:t>
            </a:r>
            <a:r>
              <a:rPr lang="en-US" dirty="0" smtClean="0"/>
              <a:t> </a:t>
            </a:r>
            <a:r>
              <a:rPr lang="en-US" dirty="0" err="1" smtClean="0"/>
              <a:t>lưu</a:t>
            </a:r>
            <a:r>
              <a:rPr lang="en-US" dirty="0" smtClean="0"/>
              <a:t> </a:t>
            </a:r>
            <a:r>
              <a:rPr lang="en-US" dirty="0" err="1" smtClean="0"/>
              <a:t>trữ</a:t>
            </a:r>
            <a:r>
              <a:rPr lang="en-US" dirty="0" smtClean="0"/>
              <a:t> </a:t>
            </a:r>
            <a:r>
              <a:rPr lang="en-US" dirty="0" err="1" smtClean="0"/>
              <a:t>là</a:t>
            </a:r>
            <a:r>
              <a:rPr lang="en-US" dirty="0" smtClean="0"/>
              <a:t>: 0 111 100</a:t>
            </a:r>
            <a:endParaRPr lang="en-US" dirty="0"/>
          </a:p>
          <a:p>
            <a:pPr marL="0" indent="0" algn="just">
              <a:lnSpc>
                <a:spcPct val="150000"/>
              </a:lnSpc>
              <a:buNone/>
            </a:pPr>
            <a:endParaRPr lang="en-US" dirty="0" smtClean="0"/>
          </a:p>
          <a:p>
            <a:pPr marL="0" indent="0" algn="just">
              <a:lnSpc>
                <a:spcPct val="150000"/>
              </a:lnSpc>
              <a:buNone/>
            </a:pPr>
            <a:r>
              <a:rPr lang="en-US" dirty="0" err="1" smtClean="0"/>
              <a:t>Số</a:t>
            </a:r>
            <a:r>
              <a:rPr lang="en-US" dirty="0" smtClean="0"/>
              <a:t> </a:t>
            </a:r>
            <a:r>
              <a:rPr lang="en-US" dirty="0" err="1" smtClean="0"/>
              <a:t>lớn</a:t>
            </a:r>
            <a:r>
              <a:rPr lang="en-US" dirty="0" smtClean="0"/>
              <a:t> </a:t>
            </a:r>
            <a:r>
              <a:rPr lang="en-US" dirty="0" err="1" smtClean="0"/>
              <a:t>hơn</a:t>
            </a:r>
            <a:r>
              <a:rPr lang="en-US" dirty="0" smtClean="0"/>
              <a:t> </a:t>
            </a:r>
            <a:r>
              <a:rPr lang="en-US" dirty="0" err="1" smtClean="0"/>
              <a:t>tiếp</a:t>
            </a:r>
            <a:r>
              <a:rPr lang="en-US" dirty="0" smtClean="0"/>
              <a:t> </a:t>
            </a:r>
            <a:r>
              <a:rPr lang="en-US" dirty="0" err="1" smtClean="0"/>
              <a:t>theo</a:t>
            </a:r>
            <a:r>
              <a:rPr lang="en-US" dirty="0" smtClean="0"/>
              <a:t> </a:t>
            </a:r>
            <a:r>
              <a:rPr lang="en-US" dirty="0" err="1" smtClean="0"/>
              <a:t>là</a:t>
            </a:r>
            <a:r>
              <a:rPr lang="en-US" dirty="0" smtClean="0"/>
              <a:t> 0 111 101</a:t>
            </a:r>
            <a:endParaRPr lang="en-US" dirty="0" smtClean="0"/>
          </a:p>
          <a:p>
            <a:pPr marL="0" indent="0" algn="just">
              <a:lnSpc>
                <a:spcPct val="150000"/>
              </a:lnSpc>
              <a:buNone/>
            </a:pPr>
            <a:endParaRPr lang="en-US" dirty="0"/>
          </a:p>
          <a:p>
            <a:pPr marL="0" indent="0" algn="just">
              <a:lnSpc>
                <a:spcPct val="150000"/>
              </a:lnSpc>
              <a:buNone/>
            </a:pPr>
            <a:r>
              <a:rPr lang="en-US" dirty="0" err="1" smtClean="0"/>
              <a:t>Số</a:t>
            </a:r>
            <a:r>
              <a:rPr lang="en-US" dirty="0" smtClean="0"/>
              <a:t> </a:t>
            </a:r>
            <a:r>
              <a:rPr lang="en-US" dirty="0" err="1" smtClean="0"/>
              <a:t>dương</a:t>
            </a:r>
            <a:r>
              <a:rPr lang="en-US" dirty="0" smtClean="0"/>
              <a:t> </a:t>
            </a:r>
            <a:r>
              <a:rPr lang="en-US" dirty="0" err="1" smtClean="0"/>
              <a:t>lớn</a:t>
            </a:r>
            <a:r>
              <a:rPr lang="en-US" dirty="0" smtClean="0"/>
              <a:t> </a:t>
            </a:r>
            <a:r>
              <a:rPr lang="en-US" dirty="0" err="1" smtClean="0"/>
              <a:t>nhất</a:t>
            </a:r>
            <a:r>
              <a:rPr lang="en-US" dirty="0" smtClean="0"/>
              <a:t> </a:t>
            </a:r>
            <a:r>
              <a:rPr lang="en-US" dirty="0" err="1" smtClean="0"/>
              <a:t>được</a:t>
            </a:r>
            <a:r>
              <a:rPr lang="en-US" dirty="0" smtClean="0"/>
              <a:t> </a:t>
            </a:r>
            <a:r>
              <a:rPr lang="en-US" dirty="0" err="1" smtClean="0"/>
              <a:t>lưu</a:t>
            </a:r>
            <a:r>
              <a:rPr lang="en-US" dirty="0" smtClean="0"/>
              <a:t> </a:t>
            </a:r>
            <a:r>
              <a:rPr lang="en-US" dirty="0" err="1" smtClean="0"/>
              <a:t>trữ</a:t>
            </a:r>
            <a:r>
              <a:rPr lang="en-US" dirty="0" smtClean="0"/>
              <a:t> </a:t>
            </a:r>
            <a:r>
              <a:rPr lang="en-US" dirty="0" err="1" smtClean="0"/>
              <a:t>là</a:t>
            </a:r>
            <a:r>
              <a:rPr lang="en-US" dirty="0" smtClean="0"/>
              <a:t> 0 011 111</a:t>
            </a:r>
            <a:endParaRPr lang="en-US" dirty="0" smtClean="0"/>
          </a:p>
        </p:txBody>
      </p:sp>
      <p:graphicFrame>
        <p:nvGraphicFramePr>
          <p:cNvPr id="2" name="Object 1"/>
          <p:cNvGraphicFramePr>
            <a:graphicFrameLocks noChangeAspect="1"/>
          </p:cNvGraphicFramePr>
          <p:nvPr/>
        </p:nvGraphicFramePr>
        <p:xfrm>
          <a:off x="2505075" y="1535625"/>
          <a:ext cx="7183438" cy="457200"/>
        </p:xfrm>
        <a:graphic>
          <a:graphicData uri="http://schemas.openxmlformats.org/presentationml/2006/ole">
            <mc:AlternateContent xmlns:mc="http://schemas.openxmlformats.org/markup-compatibility/2006">
              <mc:Choice xmlns:v="urn:schemas-microsoft-com:vml" Requires="v">
                <p:oleObj spid="_x0000_s7192" name="Equation" r:id="rId1" imgW="100584000" imgH="6400800" progId="Equation.3">
                  <p:embed/>
                </p:oleObj>
              </mc:Choice>
              <mc:Fallback>
                <p:oleObj name="Equation" r:id="rId1" imgW="100584000" imgH="6400800" progId="Equation.3">
                  <p:embed/>
                  <p:pic>
                    <p:nvPicPr>
                      <p:cNvPr id="0" name="Picture 7191"/>
                      <p:cNvPicPr/>
                      <p:nvPr/>
                    </p:nvPicPr>
                    <p:blipFill>
                      <a:blip r:embed="rId2"/>
                      <a:stretch>
                        <a:fillRect/>
                      </a:stretch>
                    </p:blipFill>
                    <p:spPr>
                      <a:xfrm>
                        <a:off x="2505075" y="1535625"/>
                        <a:ext cx="7183438" cy="457200"/>
                      </a:xfrm>
                      <a:prstGeom prst="rect">
                        <a:avLst/>
                      </a:prstGeom>
                    </p:spPr>
                  </p:pic>
                </p:oleObj>
              </mc:Fallback>
            </mc:AlternateContent>
          </a:graphicData>
        </a:graphic>
      </p:graphicFrame>
      <p:graphicFrame>
        <p:nvGraphicFramePr>
          <p:cNvPr id="4" name="Object 3"/>
          <p:cNvGraphicFramePr>
            <a:graphicFrameLocks noChangeAspect="1"/>
          </p:cNvGraphicFramePr>
          <p:nvPr/>
        </p:nvGraphicFramePr>
        <p:xfrm>
          <a:off x="2505075" y="3176404"/>
          <a:ext cx="7443787" cy="457200"/>
        </p:xfrm>
        <a:graphic>
          <a:graphicData uri="http://schemas.openxmlformats.org/presentationml/2006/ole">
            <mc:AlternateContent xmlns:mc="http://schemas.openxmlformats.org/markup-compatibility/2006">
              <mc:Choice xmlns:v="urn:schemas-microsoft-com:vml" Requires="v">
                <p:oleObj spid="_x0000_s7193" name="Equation" r:id="rId3" imgW="104241600" imgH="6400800" progId="Equation.3">
                  <p:embed/>
                </p:oleObj>
              </mc:Choice>
              <mc:Fallback>
                <p:oleObj name="Equation" r:id="rId3" imgW="104241600" imgH="6400800" progId="Equation.3">
                  <p:embed/>
                  <p:pic>
                    <p:nvPicPr>
                      <p:cNvPr id="0" name="Object 1"/>
                      <p:cNvPicPr/>
                      <p:nvPr/>
                    </p:nvPicPr>
                    <p:blipFill>
                      <a:blip r:embed="rId4"/>
                      <a:stretch>
                        <a:fillRect/>
                      </a:stretch>
                    </p:blipFill>
                    <p:spPr>
                      <a:xfrm>
                        <a:off x="2505075" y="3176404"/>
                        <a:ext cx="7443787" cy="457200"/>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2973387" y="4817183"/>
          <a:ext cx="6507162" cy="457200"/>
        </p:xfrm>
        <a:graphic>
          <a:graphicData uri="http://schemas.openxmlformats.org/presentationml/2006/ole">
            <mc:AlternateContent xmlns:mc="http://schemas.openxmlformats.org/markup-compatibility/2006">
              <mc:Choice xmlns:v="urn:schemas-microsoft-com:vml" Requires="v">
                <p:oleObj spid="_x0000_s7194" name="Equation" r:id="rId5" imgW="91135200" imgH="6400800" progId="Equation.3">
                  <p:embed/>
                </p:oleObj>
              </mc:Choice>
              <mc:Fallback>
                <p:oleObj name="Equation" r:id="rId5" imgW="91135200" imgH="6400800" progId="Equation.3">
                  <p:embed/>
                  <p:pic>
                    <p:nvPicPr>
                      <p:cNvPr id="0" name="Object 3"/>
                      <p:cNvPicPr/>
                      <p:nvPr/>
                    </p:nvPicPr>
                    <p:blipFill>
                      <a:blip r:embed="rId6"/>
                      <a:stretch>
                        <a:fillRect/>
                      </a:stretch>
                    </p:blipFill>
                    <p:spPr>
                      <a:xfrm>
                        <a:off x="2973387" y="4817183"/>
                        <a:ext cx="6507162" cy="457200"/>
                      </a:xfrm>
                      <a:prstGeom prst="rect">
                        <a:avLst/>
                      </a:prstGeom>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err="1" smtClean="0"/>
              <a:t>Nhận</a:t>
            </a:r>
            <a:r>
              <a:rPr lang="en-US" b="1" dirty="0" smtClean="0"/>
              <a:t> </a:t>
            </a:r>
            <a:r>
              <a:rPr lang="en-US" b="1" dirty="0" err="1" smtClean="0"/>
              <a:t>xét</a:t>
            </a:r>
            <a:endParaRPr lang="en-US" b="1" dirty="0" smtClean="0"/>
          </a:p>
          <a:p>
            <a:pPr algn="just">
              <a:lnSpc>
                <a:spcPct val="150000"/>
              </a:lnSpc>
              <a:buFontTx/>
              <a:buChar char="-"/>
            </a:pPr>
            <a:r>
              <a:rPr lang="en-US" dirty="0" err="1" smtClean="0"/>
              <a:t>Tồn</a:t>
            </a:r>
            <a:r>
              <a:rPr lang="en-US" dirty="0" smtClean="0"/>
              <a:t> </a:t>
            </a:r>
            <a:r>
              <a:rPr lang="en-US" dirty="0" err="1" smtClean="0"/>
              <a:t>tại</a:t>
            </a:r>
            <a:r>
              <a:rPr lang="en-US" dirty="0" smtClean="0"/>
              <a:t> </a:t>
            </a:r>
            <a:r>
              <a:rPr lang="en-US" dirty="0" err="1" smtClean="0"/>
              <a:t>giới</a:t>
            </a:r>
            <a:r>
              <a:rPr lang="en-US" dirty="0" smtClean="0"/>
              <a:t> </a:t>
            </a:r>
            <a:r>
              <a:rPr lang="en-US" dirty="0" err="1" smtClean="0"/>
              <a:t>hạn</a:t>
            </a:r>
            <a:r>
              <a:rPr lang="en-US" dirty="0" smtClean="0"/>
              <a:t> </a:t>
            </a:r>
            <a:r>
              <a:rPr lang="en-US" dirty="0" err="1" smtClean="0"/>
              <a:t>của</a:t>
            </a:r>
            <a:r>
              <a:rPr lang="en-US" dirty="0" smtClean="0"/>
              <a:t> </a:t>
            </a:r>
            <a:r>
              <a:rPr lang="en-US" dirty="0" err="1" smtClean="0"/>
              <a:t>các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được</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việc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các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nằm</a:t>
            </a:r>
            <a:r>
              <a:rPr lang="en-US" dirty="0" smtClean="0"/>
              <a:t> </a:t>
            </a:r>
            <a:r>
              <a:rPr lang="en-US" dirty="0" err="1" smtClean="0"/>
              <a:t>ngoài</a:t>
            </a:r>
            <a:r>
              <a:rPr lang="en-US" dirty="0" smtClean="0"/>
              <a:t> </a:t>
            </a:r>
            <a:r>
              <a:rPr lang="en-US" dirty="0" err="1" smtClean="0"/>
              <a:t>vùng</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dẫn</a:t>
            </a:r>
            <a:r>
              <a:rPr lang="en-US" dirty="0" smtClean="0"/>
              <a:t> </a:t>
            </a:r>
            <a:r>
              <a:rPr lang="en-US" dirty="0" err="1" smtClean="0"/>
              <a:t>tới</a:t>
            </a:r>
            <a:r>
              <a:rPr lang="en-US" dirty="0" smtClean="0"/>
              <a:t> </a:t>
            </a:r>
            <a:r>
              <a:rPr lang="en-US" dirty="0" err="1" smtClean="0"/>
              <a:t>hiện</a:t>
            </a:r>
            <a:r>
              <a:rPr lang="en-US" dirty="0" smtClean="0"/>
              <a:t> </a:t>
            </a:r>
            <a:r>
              <a:rPr lang="en-US" dirty="0" err="1" smtClean="0"/>
              <a:t>tượng</a:t>
            </a:r>
            <a:r>
              <a:rPr lang="en-US" dirty="0" smtClean="0"/>
              <a:t> </a:t>
            </a:r>
            <a:r>
              <a:rPr lang="en-US" dirty="0" err="1" smtClean="0"/>
              <a:t>tràn</a:t>
            </a:r>
            <a:r>
              <a:rPr lang="en-US" dirty="0" smtClean="0"/>
              <a:t> </a:t>
            </a:r>
            <a:r>
              <a:rPr lang="en-US" dirty="0" err="1" smtClean="0"/>
              <a:t>trên</a:t>
            </a:r>
            <a:r>
              <a:rPr lang="en-US" dirty="0" smtClean="0"/>
              <a:t> (overflow) </a:t>
            </a:r>
            <a:r>
              <a:rPr lang="en-US" dirty="0" err="1" smtClean="0"/>
              <a:t>và</a:t>
            </a:r>
            <a:r>
              <a:rPr lang="en-US" dirty="0" smtClean="0"/>
              <a:t> </a:t>
            </a:r>
            <a:r>
              <a:rPr lang="en-US" dirty="0" err="1" smtClean="0"/>
              <a:t>tràn</a:t>
            </a:r>
            <a:r>
              <a:rPr lang="en-US" dirty="0" smtClean="0"/>
              <a:t> </a:t>
            </a:r>
            <a:r>
              <a:rPr lang="en-US" dirty="0" err="1" smtClean="0"/>
              <a:t>dưới</a:t>
            </a:r>
            <a:r>
              <a:rPr lang="en-US" dirty="0" smtClean="0"/>
              <a:t> (underflow).</a:t>
            </a:r>
            <a:endParaRPr lang="en-US" dirty="0" smtClean="0"/>
          </a:p>
          <a:p>
            <a:pPr algn="just">
              <a:lnSpc>
                <a:spcPct val="150000"/>
              </a:lnSpc>
              <a:buFontTx/>
              <a:buChar char="-"/>
            </a:pPr>
            <a:r>
              <a:rPr lang="en-US" dirty="0" err="1" smtClean="0"/>
              <a:t>Chỉ</a:t>
            </a:r>
            <a:r>
              <a:rPr lang="en-US" dirty="0" smtClean="0"/>
              <a:t> </a:t>
            </a:r>
            <a:r>
              <a:rPr lang="en-US" dirty="0" err="1" smtClean="0"/>
              <a:t>có</a:t>
            </a:r>
            <a:r>
              <a:rPr lang="en-US" dirty="0" smtClean="0"/>
              <a:t> </a:t>
            </a:r>
            <a:r>
              <a:rPr lang="en-US" dirty="0" err="1" smtClean="0"/>
              <a:t>một</a:t>
            </a:r>
            <a:r>
              <a:rPr lang="en-US" dirty="0" smtClean="0"/>
              <a:t> </a:t>
            </a:r>
            <a:r>
              <a:rPr lang="en-US" dirty="0" err="1" smtClean="0"/>
              <a:t>số</a:t>
            </a:r>
            <a:r>
              <a:rPr lang="en-US" dirty="0" smtClean="0"/>
              <a:t> </a:t>
            </a:r>
            <a:r>
              <a:rPr lang="en-US" dirty="0" err="1" smtClean="0"/>
              <a:t>hữu</a:t>
            </a:r>
            <a:r>
              <a:rPr lang="en-US" dirty="0" smtClean="0"/>
              <a:t> </a:t>
            </a:r>
            <a:r>
              <a:rPr lang="en-US" dirty="0" err="1" smtClean="0"/>
              <a:t>hạn</a:t>
            </a:r>
            <a:r>
              <a:rPr lang="en-US" dirty="0" smtClean="0"/>
              <a:t> </a:t>
            </a:r>
            <a:r>
              <a:rPr lang="en-US" dirty="0" err="1" smtClean="0"/>
              <a:t>các</a:t>
            </a:r>
            <a:r>
              <a:rPr lang="en-US" dirty="0" smtClean="0"/>
              <a:t> </a:t>
            </a:r>
            <a:r>
              <a:rPr lang="en-US" dirty="0" err="1" smtClean="0"/>
              <a:t>giá</a:t>
            </a:r>
            <a:r>
              <a:rPr lang="en-US" dirty="0" smtClean="0"/>
              <a:t> </a:t>
            </a:r>
            <a:r>
              <a:rPr lang="en-US" dirty="0" err="1" smtClean="0"/>
              <a:t>trị</a:t>
            </a:r>
            <a:r>
              <a:rPr lang="en-US" dirty="0" smtClean="0"/>
              <a:t> </a:t>
            </a:r>
            <a:r>
              <a:rPr lang="en-US" dirty="0" err="1" smtClean="0"/>
              <a:t>là</a:t>
            </a:r>
            <a:r>
              <a:rPr lang="en-US" dirty="0" smtClean="0"/>
              <a:t> </a:t>
            </a:r>
            <a:r>
              <a:rPr lang="en-US" dirty="0" err="1" smtClean="0"/>
              <a:t>biểu</a:t>
            </a:r>
            <a:r>
              <a:rPr lang="en-US" dirty="0" smtClean="0"/>
              <a:t> </a:t>
            </a:r>
            <a:r>
              <a:rPr lang="en-US" dirty="0" err="1" smtClean="0"/>
              <a:t>diễn</a:t>
            </a:r>
            <a:r>
              <a:rPr lang="en-US" dirty="0" smtClean="0"/>
              <a:t> </a:t>
            </a:r>
            <a:r>
              <a:rPr lang="en-US" dirty="0" err="1" smtClean="0"/>
              <a:t>được</a:t>
            </a:r>
            <a:r>
              <a:rPr lang="en-US" dirty="0" smtClean="0"/>
              <a:t> </a:t>
            </a:r>
            <a:r>
              <a:rPr lang="en-US" dirty="0" err="1" smtClean="0"/>
              <a:t>trong</a:t>
            </a:r>
            <a:r>
              <a:rPr lang="en-US" dirty="0" smtClean="0"/>
              <a:t> </a:t>
            </a:r>
            <a:r>
              <a:rPr lang="en-US" dirty="0" err="1" smtClean="0"/>
              <a:t>vùng</a:t>
            </a:r>
            <a:r>
              <a:rPr lang="en-US" dirty="0" smtClean="0"/>
              <a:t> </a:t>
            </a:r>
            <a:r>
              <a:rPr lang="en-US" dirty="0" err="1" smtClean="0"/>
              <a:t>biểu</a:t>
            </a:r>
            <a:r>
              <a:rPr lang="en-US" dirty="0" smtClean="0"/>
              <a:t> </a:t>
            </a:r>
            <a:r>
              <a:rPr lang="en-US" dirty="0" err="1" smtClean="0"/>
              <a:t>diễn</a:t>
            </a:r>
            <a:r>
              <a:rPr lang="en-US" dirty="0"/>
              <a:t> </a:t>
            </a:r>
            <a:r>
              <a:rPr lang="en-US" dirty="0" smtClean="0"/>
              <a:t>(do </a:t>
            </a:r>
            <a:r>
              <a:rPr lang="en-US" dirty="0" err="1" smtClean="0"/>
              <a:t>vậy</a:t>
            </a:r>
            <a:r>
              <a:rPr lang="en-US" dirty="0" smtClean="0"/>
              <a:t> </a:t>
            </a:r>
            <a:r>
              <a:rPr lang="en-US" dirty="0" err="1" smtClean="0"/>
              <a:t>độ</a:t>
            </a:r>
            <a:r>
              <a:rPr lang="en-US" dirty="0" smtClean="0"/>
              <a:t> </a:t>
            </a:r>
            <a:r>
              <a:rPr lang="en-US" dirty="0" err="1" smtClean="0"/>
              <a:t>chụm</a:t>
            </a:r>
            <a:r>
              <a:rPr lang="en-US" dirty="0" smtClean="0"/>
              <a:t> </a:t>
            </a:r>
            <a:r>
              <a:rPr lang="en-US" dirty="0" err="1" smtClean="0"/>
              <a:t>bị</a:t>
            </a:r>
            <a:r>
              <a:rPr lang="en-US" dirty="0" smtClean="0"/>
              <a:t> </a:t>
            </a:r>
            <a:r>
              <a:rPr lang="en-US" dirty="0" err="1" smtClean="0"/>
              <a:t>giới</a:t>
            </a:r>
            <a:r>
              <a:rPr lang="en-US" dirty="0" smtClean="0"/>
              <a:t> </a:t>
            </a:r>
            <a:r>
              <a:rPr lang="en-US" dirty="0" err="1" smtClean="0"/>
              <a:t>hạn</a:t>
            </a:r>
            <a:r>
              <a:rPr lang="en-US" dirty="0" smtClean="0"/>
              <a:t>).</a:t>
            </a:r>
            <a:endParaRPr lang="en-US"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smtClean="0"/>
              <a:t>- </a:t>
            </a:r>
            <a:r>
              <a:rPr lang="en-US" dirty="0" err="1" smtClean="0"/>
              <a:t>Khoảng</a:t>
            </a:r>
            <a:r>
              <a:rPr lang="en-US" dirty="0" smtClean="0"/>
              <a:t> </a:t>
            </a:r>
            <a:r>
              <a:rPr lang="en-US" dirty="0" err="1"/>
              <a:t>cách</a:t>
            </a:r>
            <a:r>
              <a:rPr lang="en-US" dirty="0"/>
              <a:t> </a:t>
            </a:r>
            <a:r>
              <a:rPr lang="en-US" dirty="0" err="1"/>
              <a:t>giữa</a:t>
            </a:r>
            <a:r>
              <a:rPr lang="en-US" dirty="0"/>
              <a:t> </a:t>
            </a:r>
            <a:r>
              <a:rPr lang="en-US" dirty="0" err="1"/>
              <a:t>các</a:t>
            </a:r>
            <a:r>
              <a:rPr lang="en-US" dirty="0"/>
              <a:t> </a:t>
            </a:r>
            <a:r>
              <a:rPr lang="en-US" dirty="0" err="1"/>
              <a:t>số</a:t>
            </a:r>
            <a:r>
              <a:rPr lang="en-US" dirty="0"/>
              <a:t> </a:t>
            </a:r>
            <a:r>
              <a:rPr lang="en-US" dirty="0" err="1" smtClean="0"/>
              <a:t>liên</a:t>
            </a:r>
            <a:r>
              <a:rPr lang="en-US" dirty="0" smtClean="0"/>
              <a:t> </a:t>
            </a:r>
            <a:r>
              <a:rPr lang="en-US" dirty="0" err="1" smtClean="0"/>
              <a:t>tiếp</a:t>
            </a:r>
            <a:r>
              <a:rPr lang="en-US" dirty="0" smtClean="0"/>
              <a:t>, ∆x, </a:t>
            </a:r>
            <a:r>
              <a:rPr lang="en-US" dirty="0" err="1" smtClean="0"/>
              <a:t>tăng</a:t>
            </a:r>
            <a:r>
              <a:rPr lang="en-US" dirty="0" smtClean="0"/>
              <a:t> </a:t>
            </a:r>
            <a:r>
              <a:rPr lang="en-US" dirty="0" err="1" smtClean="0"/>
              <a:t>dần</a:t>
            </a:r>
            <a:r>
              <a:rPr lang="en-US" dirty="0" smtClean="0"/>
              <a:t> </a:t>
            </a:r>
            <a:r>
              <a:rPr lang="en-US" dirty="0" err="1" smtClean="0"/>
              <a:t>khi</a:t>
            </a:r>
            <a:r>
              <a:rPr lang="en-US" dirty="0" smtClean="0"/>
              <a:t> </a:t>
            </a:r>
            <a:r>
              <a:rPr lang="en-US" dirty="0" err="1" smtClean="0"/>
              <a:t>các</a:t>
            </a:r>
            <a:r>
              <a:rPr lang="en-US" dirty="0" smtClean="0"/>
              <a:t> </a:t>
            </a:r>
            <a:r>
              <a:rPr lang="en-US" dirty="0" err="1" smtClean="0"/>
              <a:t>số</a:t>
            </a:r>
            <a:r>
              <a:rPr lang="en-US" dirty="0" smtClean="0"/>
              <a:t> </a:t>
            </a:r>
            <a:r>
              <a:rPr lang="en-US" dirty="0" err="1" smtClean="0"/>
              <a:t>lớn</a:t>
            </a:r>
            <a:r>
              <a:rPr lang="en-US" dirty="0" smtClean="0"/>
              <a:t> </a:t>
            </a:r>
            <a:r>
              <a:rPr lang="en-US" dirty="0" err="1" smtClean="0"/>
              <a:t>dần.</a:t>
            </a:r>
            <a:endParaRPr lang="en-US" dirty="0"/>
          </a:p>
          <a:p>
            <a:pPr marL="0" indent="0" algn="just">
              <a:lnSpc>
                <a:spcPct val="150000"/>
              </a:lnSpc>
              <a:buNone/>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smtClean="0"/>
              <a:t>4.2. </a:t>
            </a:r>
            <a:r>
              <a:rPr lang="en-US" b="1" dirty="0" err="1" smtClean="0"/>
              <a:t>Các</a:t>
            </a:r>
            <a:r>
              <a:rPr lang="en-US" b="1" dirty="0" smtClean="0"/>
              <a:t> </a:t>
            </a:r>
            <a:r>
              <a:rPr lang="en-US" b="1" dirty="0" err="1" smtClean="0"/>
              <a:t>thao</a:t>
            </a:r>
            <a:r>
              <a:rPr lang="en-US" b="1" dirty="0" smtClean="0"/>
              <a:t> </a:t>
            </a:r>
            <a:r>
              <a:rPr lang="en-US" b="1" dirty="0" err="1" smtClean="0"/>
              <a:t>tác</a:t>
            </a:r>
            <a:r>
              <a:rPr lang="en-US" b="1" dirty="0" smtClean="0"/>
              <a:t> </a:t>
            </a:r>
            <a:r>
              <a:rPr lang="en-US" b="1" dirty="0" err="1" smtClean="0"/>
              <a:t>số</a:t>
            </a:r>
            <a:r>
              <a:rPr lang="en-US" b="1" dirty="0" smtClean="0"/>
              <a:t> </a:t>
            </a:r>
            <a:r>
              <a:rPr lang="en-US" b="1" dirty="0" err="1" smtClean="0"/>
              <a:t>học</a:t>
            </a:r>
            <a:r>
              <a:rPr lang="en-US" b="1" dirty="0" smtClean="0"/>
              <a:t> </a:t>
            </a:r>
            <a:r>
              <a:rPr lang="en-US" b="1" dirty="0" err="1" smtClean="0"/>
              <a:t>trên</a:t>
            </a:r>
            <a:r>
              <a:rPr lang="en-US" b="1" dirty="0" smtClean="0"/>
              <a:t> </a:t>
            </a:r>
            <a:r>
              <a:rPr lang="en-US" b="1" dirty="0" err="1" smtClean="0"/>
              <a:t>máy</a:t>
            </a:r>
            <a:r>
              <a:rPr lang="en-US" b="1" dirty="0" smtClean="0"/>
              <a:t> </a:t>
            </a:r>
            <a:r>
              <a:rPr lang="en-US" b="1" dirty="0" err="1" smtClean="0"/>
              <a:t>tính</a:t>
            </a:r>
            <a:endParaRPr lang="en-US" b="1" dirty="0" smtClean="0"/>
          </a:p>
          <a:p>
            <a:pPr algn="just">
              <a:lnSpc>
                <a:spcPct val="150000"/>
              </a:lnSpc>
              <a:buFontTx/>
              <a:buChar char="-"/>
            </a:pPr>
            <a:r>
              <a:rPr lang="en-US" dirty="0" err="1" smtClean="0"/>
              <a:t>Các</a:t>
            </a:r>
            <a:r>
              <a:rPr lang="en-US" dirty="0" smtClean="0"/>
              <a:t> </a:t>
            </a:r>
            <a:r>
              <a:rPr lang="en-US" dirty="0" err="1" smtClean="0"/>
              <a:t>phép</a:t>
            </a:r>
            <a:r>
              <a:rPr lang="en-US" dirty="0" smtClean="0"/>
              <a:t> </a:t>
            </a:r>
            <a:r>
              <a:rPr lang="en-US" dirty="0" err="1" smtClean="0"/>
              <a:t>toán</a:t>
            </a:r>
            <a:r>
              <a:rPr lang="en-US" dirty="0" smtClean="0"/>
              <a:t> </a:t>
            </a:r>
            <a:r>
              <a:rPr lang="en-US" dirty="0" err="1" smtClean="0"/>
              <a:t>số</a:t>
            </a:r>
            <a:r>
              <a:rPr lang="en-US" dirty="0" smtClean="0"/>
              <a:t> </a:t>
            </a:r>
            <a:r>
              <a:rPr lang="en-US" dirty="0" err="1" smtClean="0"/>
              <a:t>học</a:t>
            </a:r>
            <a:r>
              <a:rPr lang="en-US" dirty="0" smtClean="0"/>
              <a:t> </a:t>
            </a:r>
            <a:r>
              <a:rPr lang="en-US" dirty="0" err="1" smtClean="0"/>
              <a:t>cơ</a:t>
            </a:r>
            <a:r>
              <a:rPr lang="en-US" dirty="0" smtClean="0"/>
              <a:t> </a:t>
            </a:r>
            <a:r>
              <a:rPr lang="en-US" dirty="0" err="1" smtClean="0"/>
              <a:t>bản</a:t>
            </a:r>
            <a:r>
              <a:rPr lang="en-US" dirty="0" smtClean="0"/>
              <a:t>: </a:t>
            </a:r>
            <a:r>
              <a:rPr lang="en-US" dirty="0"/>
              <a:t>	</a:t>
            </a:r>
            <a:r>
              <a:rPr lang="en-US" dirty="0" err="1" smtClean="0"/>
              <a:t>khi</a:t>
            </a:r>
            <a:r>
              <a:rPr lang="en-US" dirty="0" smtClean="0"/>
              <a:t> </a:t>
            </a:r>
            <a:r>
              <a:rPr lang="en-US" dirty="0" err="1" smtClean="0"/>
              <a:t>cộng</a:t>
            </a:r>
            <a:r>
              <a:rPr lang="en-US" dirty="0" smtClean="0"/>
              <a:t> (</a:t>
            </a:r>
            <a:r>
              <a:rPr lang="en-US" dirty="0" err="1" smtClean="0"/>
              <a:t>trừ</a:t>
            </a:r>
            <a:r>
              <a:rPr lang="en-US" dirty="0" smtClean="0"/>
              <a:t>) </a:t>
            </a:r>
            <a:r>
              <a:rPr lang="en-US" dirty="0" err="1" smtClean="0"/>
              <a:t>hai</a:t>
            </a:r>
            <a:r>
              <a:rPr lang="en-US" dirty="0" smtClean="0"/>
              <a:t> </a:t>
            </a:r>
            <a:r>
              <a:rPr lang="en-US" dirty="0" err="1" smtClean="0"/>
              <a:t>số</a:t>
            </a:r>
            <a:r>
              <a:rPr lang="en-US" dirty="0" smtClean="0"/>
              <a:t> </a:t>
            </a:r>
            <a:r>
              <a:rPr lang="en-US" dirty="0" err="1" smtClean="0"/>
              <a:t>không</a:t>
            </a:r>
            <a:r>
              <a:rPr lang="en-US" dirty="0" smtClean="0"/>
              <a:t> </a:t>
            </a:r>
            <a:r>
              <a:rPr lang="en-US" dirty="0" err="1" smtClean="0"/>
              <a:t>cùng</a:t>
            </a:r>
            <a:r>
              <a:rPr lang="en-US" dirty="0" smtClean="0"/>
              <a:t> </a:t>
            </a:r>
            <a:r>
              <a:rPr lang="en-US" dirty="0" err="1" smtClean="0"/>
              <a:t>số</a:t>
            </a:r>
            <a:r>
              <a:rPr lang="en-US" dirty="0" smtClean="0"/>
              <a:t> </a:t>
            </a:r>
            <a:r>
              <a:rPr lang="en-US" dirty="0" err="1" smtClean="0"/>
              <a:t>mũ</a:t>
            </a:r>
            <a:r>
              <a:rPr lang="en-US" dirty="0" smtClean="0"/>
              <a:t>, </a:t>
            </a:r>
            <a:r>
              <a:rPr lang="en-US" dirty="0" err="1" smtClean="0"/>
              <a:t>chuyển</a:t>
            </a:r>
            <a:r>
              <a:rPr lang="en-US" dirty="0" smtClean="0"/>
              <a:t> </a:t>
            </a:r>
            <a:r>
              <a:rPr lang="en-US" dirty="0" err="1" smtClean="0"/>
              <a:t>số</a:t>
            </a:r>
            <a:r>
              <a:rPr lang="en-US" dirty="0" smtClean="0"/>
              <a:t> </a:t>
            </a:r>
            <a:r>
              <a:rPr lang="en-US" dirty="0" err="1" smtClean="0"/>
              <a:t>có</a:t>
            </a:r>
            <a:r>
              <a:rPr lang="en-US" dirty="0" smtClean="0"/>
              <a:t> </a:t>
            </a:r>
            <a:r>
              <a:rPr lang="en-US" dirty="0" err="1" smtClean="0"/>
              <a:t>mũ</a:t>
            </a:r>
            <a:r>
              <a:rPr lang="en-US" dirty="0" smtClean="0"/>
              <a:t> </a:t>
            </a:r>
            <a:r>
              <a:rPr lang="en-US" dirty="0" err="1" smtClean="0"/>
              <a:t>nhỏ</a:t>
            </a:r>
            <a:r>
              <a:rPr lang="en-US" dirty="0" smtClean="0"/>
              <a:t> </a:t>
            </a:r>
            <a:r>
              <a:rPr lang="en-US" dirty="0" err="1" smtClean="0"/>
              <a:t>hơn</a:t>
            </a:r>
            <a:r>
              <a:rPr lang="en-US" dirty="0" smtClean="0"/>
              <a:t> </a:t>
            </a:r>
            <a:r>
              <a:rPr lang="en-US" dirty="0" err="1" smtClean="0"/>
              <a:t>về</a:t>
            </a:r>
            <a:r>
              <a:rPr lang="en-US" dirty="0" smtClean="0"/>
              <a:t> </a:t>
            </a:r>
            <a:r>
              <a:rPr lang="en-US" dirty="0" err="1" smtClean="0"/>
              <a:t>số</a:t>
            </a:r>
            <a:r>
              <a:rPr lang="en-US" dirty="0" smtClean="0"/>
              <a:t> </a:t>
            </a:r>
            <a:r>
              <a:rPr lang="en-US" dirty="0" err="1" smtClean="0"/>
              <a:t>mũ</a:t>
            </a:r>
            <a:r>
              <a:rPr lang="en-US" dirty="0" smtClean="0"/>
              <a:t> </a:t>
            </a:r>
            <a:r>
              <a:rPr lang="en-US" dirty="0" err="1" smtClean="0"/>
              <a:t>lớn</a:t>
            </a:r>
            <a:r>
              <a:rPr lang="en-US" dirty="0" smtClean="0"/>
              <a:t> </a:t>
            </a:r>
            <a:r>
              <a:rPr lang="en-US" dirty="0" err="1" smtClean="0"/>
              <a:t>hơn</a:t>
            </a:r>
            <a:endParaRPr lang="en-US" dirty="0"/>
          </a:p>
          <a:p>
            <a:pPr marL="0" indent="0" algn="just">
              <a:lnSpc>
                <a:spcPct val="150000"/>
              </a:lnSpc>
              <a:buNone/>
            </a:pPr>
            <a:endParaRPr lang="en-US" dirty="0" smtClean="0"/>
          </a:p>
          <a:p>
            <a:pPr marL="0" indent="0" algn="just">
              <a:lnSpc>
                <a:spcPct val="150000"/>
              </a:lnSpc>
              <a:buNone/>
            </a:pPr>
            <a:r>
              <a:rPr lang="en-US" dirty="0" err="1" smtClean="0"/>
              <a:t>Kết</a:t>
            </a:r>
            <a:r>
              <a:rPr lang="en-US" dirty="0" smtClean="0"/>
              <a:t> </a:t>
            </a:r>
            <a:r>
              <a:rPr lang="en-US" dirty="0" err="1" smtClean="0"/>
              <a:t>quả</a:t>
            </a:r>
            <a:r>
              <a:rPr lang="en-US" dirty="0" smtClean="0"/>
              <a:t> </a:t>
            </a:r>
            <a:r>
              <a:rPr lang="en-US" dirty="0" err="1" smtClean="0"/>
              <a:t>đưa</a:t>
            </a:r>
            <a:r>
              <a:rPr lang="en-US" dirty="0" smtClean="0"/>
              <a:t> </a:t>
            </a:r>
            <a:r>
              <a:rPr lang="en-US" dirty="0" err="1" smtClean="0"/>
              <a:t>ra</a:t>
            </a:r>
            <a:r>
              <a:rPr lang="en-US" dirty="0" smtClean="0"/>
              <a:t> </a:t>
            </a:r>
            <a:r>
              <a:rPr lang="en-US" dirty="0" err="1" smtClean="0"/>
              <a:t>là</a:t>
            </a:r>
            <a:r>
              <a:rPr lang="en-US" dirty="0" smtClean="0"/>
              <a:t> (</a:t>
            </a:r>
            <a:r>
              <a:rPr lang="en-US" dirty="0" err="1" smtClean="0"/>
              <a:t>với</a:t>
            </a:r>
            <a:r>
              <a:rPr lang="en-US" dirty="0" smtClean="0"/>
              <a:t> 4 </a:t>
            </a:r>
            <a:r>
              <a:rPr lang="en-US" dirty="0" err="1" smtClean="0"/>
              <a:t>chữ</a:t>
            </a:r>
            <a:r>
              <a:rPr lang="en-US" dirty="0" smtClean="0"/>
              <a:t> </a:t>
            </a:r>
            <a:r>
              <a:rPr lang="en-US" dirty="0" err="1" smtClean="0"/>
              <a:t>số</a:t>
            </a:r>
            <a:r>
              <a:rPr lang="en-US" dirty="0" smtClean="0"/>
              <a:t> </a:t>
            </a:r>
            <a:r>
              <a:rPr lang="en-US" dirty="0" err="1" smtClean="0"/>
              <a:t>thập</a:t>
            </a:r>
            <a:r>
              <a:rPr lang="en-US" dirty="0" smtClean="0"/>
              <a:t> </a:t>
            </a:r>
            <a:r>
              <a:rPr lang="en-US" dirty="0" err="1" smtClean="0"/>
              <a:t>phân</a:t>
            </a:r>
            <a:r>
              <a:rPr lang="en-US" dirty="0" smtClean="0"/>
              <a:t>, pp </a:t>
            </a:r>
            <a:r>
              <a:rPr lang="en-US" dirty="0" err="1" smtClean="0"/>
              <a:t>cắt</a:t>
            </a:r>
            <a:r>
              <a:rPr lang="en-US" dirty="0" smtClean="0"/>
              <a:t>): 0.1600×10</a:t>
            </a:r>
            <a:r>
              <a:rPr lang="en-US" baseline="30000" dirty="0" smtClean="0"/>
              <a:t>1</a:t>
            </a:r>
            <a:r>
              <a:rPr lang="en-US" dirty="0" smtClean="0"/>
              <a:t>. Hai </a:t>
            </a:r>
            <a:r>
              <a:rPr lang="en-US" dirty="0" err="1" smtClean="0"/>
              <a:t>chữ</a:t>
            </a:r>
            <a:r>
              <a:rPr lang="en-US" dirty="0" smtClean="0"/>
              <a:t> </a:t>
            </a:r>
            <a:r>
              <a:rPr lang="en-US" dirty="0" err="1" smtClean="0"/>
              <a:t>số</a:t>
            </a:r>
            <a:r>
              <a:rPr lang="en-US" dirty="0" smtClean="0"/>
              <a:t> </a:t>
            </a:r>
            <a:r>
              <a:rPr lang="en-US" dirty="0" err="1" smtClean="0"/>
              <a:t>cuối</a:t>
            </a:r>
            <a:r>
              <a:rPr lang="en-US" dirty="0" smtClean="0"/>
              <a:t> </a:t>
            </a:r>
            <a:r>
              <a:rPr lang="en-US" dirty="0" err="1" smtClean="0"/>
              <a:t>trong</a:t>
            </a:r>
            <a:r>
              <a:rPr lang="en-US" dirty="0" smtClean="0"/>
              <a:t> </a:t>
            </a:r>
            <a:r>
              <a:rPr lang="en-US" dirty="0" err="1" smtClean="0"/>
              <a:t>số</a:t>
            </a:r>
            <a:r>
              <a:rPr lang="en-US" dirty="0" smtClean="0"/>
              <a:t> </a:t>
            </a:r>
            <a:r>
              <a:rPr lang="en-US" dirty="0" err="1" smtClean="0"/>
              <a:t>thứ</a:t>
            </a:r>
            <a:r>
              <a:rPr lang="en-US" dirty="0" smtClean="0"/>
              <a:t> 2 </a:t>
            </a:r>
            <a:r>
              <a:rPr lang="en-US" dirty="0" err="1" smtClean="0"/>
              <a:t>bị</a:t>
            </a:r>
            <a:r>
              <a:rPr lang="en-US" dirty="0" smtClean="0"/>
              <a:t> </a:t>
            </a:r>
            <a:r>
              <a:rPr lang="en-US" dirty="0" err="1" smtClean="0"/>
              <a:t>mất</a:t>
            </a:r>
            <a:r>
              <a:rPr lang="en-US" dirty="0" smtClean="0"/>
              <a:t> </a:t>
            </a:r>
            <a:r>
              <a:rPr lang="en-US" dirty="0" err="1" smtClean="0"/>
              <a:t>đi</a:t>
            </a:r>
            <a:r>
              <a:rPr lang="en-US" dirty="0" smtClean="0"/>
              <a:t> </a:t>
            </a:r>
            <a:r>
              <a:rPr lang="en-US" dirty="0" err="1" smtClean="0"/>
              <a:t>trong</a:t>
            </a:r>
            <a:r>
              <a:rPr lang="en-US" dirty="0" smtClean="0"/>
              <a:t> </a:t>
            </a:r>
            <a:r>
              <a:rPr lang="en-US" dirty="0" err="1" smtClean="0"/>
              <a:t>quá</a:t>
            </a:r>
            <a:r>
              <a:rPr lang="en-US" dirty="0" smtClean="0"/>
              <a:t> </a:t>
            </a:r>
            <a:r>
              <a:rPr lang="en-US" dirty="0" err="1" smtClean="0"/>
              <a:t>trình</a:t>
            </a:r>
            <a:r>
              <a:rPr lang="en-US" dirty="0" smtClean="0"/>
              <a:t> </a:t>
            </a:r>
            <a:r>
              <a:rPr lang="en-US" dirty="0" err="1" smtClean="0"/>
              <a:t>tính</a:t>
            </a:r>
            <a:r>
              <a:rPr lang="en-US" dirty="0" smtClean="0"/>
              <a:t> </a:t>
            </a:r>
            <a:r>
              <a:rPr lang="en-US" dirty="0" err="1" smtClean="0"/>
              <a:t>toán</a:t>
            </a:r>
            <a:r>
              <a:rPr lang="en-US" dirty="0" smtClean="0"/>
              <a:t>.</a:t>
            </a:r>
            <a:endParaRPr lang="en-US" dirty="0" smtClean="0"/>
          </a:p>
          <a:p>
            <a:pPr marL="0" indent="0" algn="just">
              <a:lnSpc>
                <a:spcPct val="150000"/>
              </a:lnSpc>
              <a:buNone/>
            </a:pPr>
            <a:endParaRPr lang="en-US" dirty="0"/>
          </a:p>
        </p:txBody>
      </p:sp>
      <p:graphicFrame>
        <p:nvGraphicFramePr>
          <p:cNvPr id="2" name="Object 1"/>
          <p:cNvGraphicFramePr>
            <a:graphicFrameLocks noChangeAspect="1"/>
          </p:cNvGraphicFramePr>
          <p:nvPr/>
        </p:nvGraphicFramePr>
        <p:xfrm>
          <a:off x="1943685" y="3046278"/>
          <a:ext cx="8882744" cy="457200"/>
        </p:xfrm>
        <a:graphic>
          <a:graphicData uri="http://schemas.openxmlformats.org/presentationml/2006/ole">
            <mc:AlternateContent xmlns:mc="http://schemas.openxmlformats.org/markup-compatibility/2006">
              <mc:Choice xmlns:v="urn:schemas-microsoft-com:vml" Requires="v">
                <p:oleObj spid="_x0000_s8202" name="Equation" r:id="rId1" imgW="124358400" imgH="6400800" progId="Equation.3">
                  <p:embed/>
                </p:oleObj>
              </mc:Choice>
              <mc:Fallback>
                <p:oleObj name="Equation" r:id="rId1" imgW="124358400" imgH="6400800" progId="Equation.3">
                  <p:embed/>
                  <p:pic>
                    <p:nvPicPr>
                      <p:cNvPr id="0" name="Picture 8201"/>
                      <p:cNvPicPr/>
                      <p:nvPr/>
                    </p:nvPicPr>
                    <p:blipFill>
                      <a:blip r:embed="rId2"/>
                      <a:stretch>
                        <a:fillRect/>
                      </a:stretch>
                    </p:blipFill>
                    <p:spPr>
                      <a:xfrm>
                        <a:off x="1943685" y="3046278"/>
                        <a:ext cx="8882744" cy="457200"/>
                      </a:xfrm>
                      <a:prstGeom prst="rect">
                        <a:avLst/>
                      </a:prstGeom>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Trong</a:t>
            </a:r>
            <a:r>
              <a:rPr lang="en-US" dirty="0" smtClean="0"/>
              <a:t> </a:t>
            </a:r>
            <a:r>
              <a:rPr lang="en-US" dirty="0" err="1" smtClean="0"/>
              <a:t>phép</a:t>
            </a:r>
            <a:r>
              <a:rPr lang="en-US" dirty="0" smtClean="0"/>
              <a:t> </a:t>
            </a:r>
            <a:r>
              <a:rPr lang="en-US" dirty="0" err="1" smtClean="0"/>
              <a:t>trừ</a:t>
            </a:r>
            <a:r>
              <a:rPr lang="en-US" dirty="0" smtClean="0"/>
              <a:t>:</a:t>
            </a:r>
            <a:endParaRPr lang="en-US" dirty="0" smtClean="0"/>
          </a:p>
          <a:p>
            <a:pPr marL="0" indent="0" algn="just">
              <a:lnSpc>
                <a:spcPct val="150000"/>
              </a:lnSpc>
              <a:buNone/>
            </a:pPr>
            <a:endParaRPr lang="en-US" dirty="0"/>
          </a:p>
          <a:p>
            <a:pPr marL="0" indent="0" algn="just">
              <a:lnSpc>
                <a:spcPct val="150000"/>
              </a:lnSpc>
              <a:buNone/>
            </a:pPr>
            <a:r>
              <a:rPr lang="en-US" dirty="0" err="1" smtClean="0"/>
              <a:t>Kết</a:t>
            </a:r>
            <a:r>
              <a:rPr lang="en-US" dirty="0" smtClean="0"/>
              <a:t> </a:t>
            </a:r>
            <a:r>
              <a:rPr lang="en-US" dirty="0" err="1" smtClean="0"/>
              <a:t>quả</a:t>
            </a:r>
            <a:r>
              <a:rPr lang="en-US" dirty="0" smtClean="0"/>
              <a:t> </a:t>
            </a:r>
            <a:r>
              <a:rPr lang="en-US" dirty="0" err="1" smtClean="0"/>
              <a:t>được</a:t>
            </a:r>
            <a:r>
              <a:rPr lang="en-US" dirty="0" smtClean="0"/>
              <a:t> </a:t>
            </a:r>
            <a:r>
              <a:rPr lang="en-US" dirty="0" err="1" smtClean="0"/>
              <a:t>đưa</a:t>
            </a:r>
            <a:r>
              <a:rPr lang="en-US" dirty="0" smtClean="0"/>
              <a:t> </a:t>
            </a:r>
            <a:r>
              <a:rPr lang="en-US" dirty="0" err="1" smtClean="0"/>
              <a:t>ra</a:t>
            </a:r>
            <a:r>
              <a:rPr lang="en-US" dirty="0" smtClean="0"/>
              <a:t> </a:t>
            </a:r>
            <a:r>
              <a:rPr lang="en-US" dirty="0" err="1" smtClean="0"/>
              <a:t>là</a:t>
            </a:r>
            <a:r>
              <a:rPr lang="en-US" dirty="0"/>
              <a:t>: </a:t>
            </a:r>
            <a:r>
              <a:rPr lang="en-US" dirty="0" smtClean="0"/>
              <a:t>0.1000×10</a:t>
            </a:r>
            <a:r>
              <a:rPr lang="en-US" baseline="30000" dirty="0"/>
              <a:t>0</a:t>
            </a:r>
            <a:r>
              <a:rPr lang="en-US" dirty="0" smtClean="0"/>
              <a:t>. </a:t>
            </a:r>
            <a:r>
              <a:rPr lang="en-US" dirty="0" err="1" smtClean="0"/>
              <a:t>Chữ</a:t>
            </a:r>
            <a:r>
              <a:rPr lang="en-US" dirty="0" smtClean="0"/>
              <a:t> </a:t>
            </a:r>
            <a:r>
              <a:rPr lang="en-US" dirty="0" err="1" smtClean="0"/>
              <a:t>số</a:t>
            </a:r>
            <a:r>
              <a:rPr lang="en-US" dirty="0" smtClean="0"/>
              <a:t> 0 </a:t>
            </a:r>
            <a:r>
              <a:rPr lang="en-US" dirty="0" err="1" smtClean="0"/>
              <a:t>được</a:t>
            </a:r>
            <a:r>
              <a:rPr lang="en-US" dirty="0" smtClean="0"/>
              <a:t> </a:t>
            </a:r>
            <a:r>
              <a:rPr lang="en-US" dirty="0" err="1" smtClean="0"/>
              <a:t>đưa</a:t>
            </a:r>
            <a:r>
              <a:rPr lang="en-US" dirty="0" smtClean="0"/>
              <a:t> </a:t>
            </a:r>
            <a:r>
              <a:rPr lang="en-US" dirty="0" err="1" smtClean="0"/>
              <a:t>vào</a:t>
            </a:r>
            <a:r>
              <a:rPr lang="en-US" dirty="0" smtClean="0"/>
              <a:t> </a:t>
            </a:r>
            <a:r>
              <a:rPr lang="en-US" dirty="0" err="1" smtClean="0"/>
              <a:t>cuối</a:t>
            </a:r>
            <a:r>
              <a:rPr lang="en-US" dirty="0" smtClean="0"/>
              <a:t> </a:t>
            </a:r>
            <a:r>
              <a:rPr lang="en-US" dirty="0" err="1" smtClean="0"/>
              <a:t>phần</a:t>
            </a:r>
            <a:r>
              <a:rPr lang="en-US" dirty="0" smtClean="0"/>
              <a:t> </a:t>
            </a:r>
            <a:r>
              <a:rPr lang="en-US" dirty="0" err="1" smtClean="0"/>
              <a:t>định</a:t>
            </a:r>
            <a:r>
              <a:rPr lang="en-US" dirty="0" smtClean="0"/>
              <a:t> </a:t>
            </a:r>
            <a:r>
              <a:rPr lang="en-US" dirty="0" err="1" smtClean="0"/>
              <a:t>trị</a:t>
            </a:r>
            <a:r>
              <a:rPr lang="en-US" dirty="0" smtClean="0"/>
              <a:t> </a:t>
            </a:r>
            <a:r>
              <a:rPr lang="en-US" dirty="0" err="1" smtClean="0"/>
              <a:t>là</a:t>
            </a:r>
            <a:r>
              <a:rPr lang="en-US" dirty="0" smtClean="0"/>
              <a:t> </a:t>
            </a:r>
            <a:r>
              <a:rPr lang="en-US" dirty="0" err="1" smtClean="0"/>
              <a:t>chữ</a:t>
            </a:r>
            <a:r>
              <a:rPr lang="en-US" dirty="0" smtClean="0"/>
              <a:t> </a:t>
            </a:r>
            <a:r>
              <a:rPr lang="en-US" dirty="0" err="1" smtClean="0"/>
              <a:t>số</a:t>
            </a:r>
            <a:r>
              <a:rPr lang="en-US" dirty="0" smtClean="0"/>
              <a:t> </a:t>
            </a:r>
            <a:r>
              <a:rPr lang="en-US" dirty="0" err="1" smtClean="0"/>
              <a:t>không</a:t>
            </a:r>
            <a:r>
              <a:rPr lang="en-US" dirty="0" smtClean="0"/>
              <a:t> </a:t>
            </a:r>
            <a:r>
              <a:rPr lang="en-US" dirty="0" err="1" smtClean="0"/>
              <a:t>có</a:t>
            </a:r>
            <a:r>
              <a:rPr lang="en-US" dirty="0" smtClean="0"/>
              <a:t> ý </a:t>
            </a:r>
            <a:r>
              <a:rPr lang="en-US" dirty="0" err="1" smtClean="0"/>
              <a:t>nghĩa</a:t>
            </a:r>
            <a:r>
              <a:rPr lang="en-US" dirty="0" smtClean="0"/>
              <a:t> (</a:t>
            </a:r>
            <a:r>
              <a:rPr lang="en-US" dirty="0" err="1" smtClean="0"/>
              <a:t>thêm</a:t>
            </a:r>
            <a:r>
              <a:rPr lang="en-US" dirty="0" smtClean="0"/>
              <a:t> </a:t>
            </a:r>
            <a:r>
              <a:rPr lang="en-US" dirty="0" err="1" smtClean="0"/>
              <a:t>vào</a:t>
            </a:r>
            <a:r>
              <a:rPr lang="en-US" dirty="0" smtClean="0"/>
              <a:t> </a:t>
            </a:r>
            <a:r>
              <a:rPr lang="en-US" dirty="0" err="1" smtClean="0"/>
              <a:t>để</a:t>
            </a:r>
            <a:r>
              <a:rPr lang="en-US" dirty="0" smtClean="0"/>
              <a:t> </a:t>
            </a:r>
            <a:r>
              <a:rPr lang="en-US" dirty="0" err="1" smtClean="0"/>
              <a:t>lấp</a:t>
            </a:r>
            <a:r>
              <a:rPr lang="en-US" dirty="0" smtClean="0"/>
              <a:t> </a:t>
            </a:r>
            <a:r>
              <a:rPr lang="en-US" dirty="0" err="1" smtClean="0"/>
              <a:t>khoảng</a:t>
            </a:r>
            <a:r>
              <a:rPr lang="en-US" dirty="0" smtClean="0"/>
              <a:t> </a:t>
            </a:r>
            <a:r>
              <a:rPr lang="en-US" dirty="0" err="1" smtClean="0"/>
              <a:t>trống</a:t>
            </a:r>
            <a:r>
              <a:rPr lang="en-US" dirty="0" smtClean="0"/>
              <a:t> </a:t>
            </a:r>
            <a:r>
              <a:rPr lang="en-US" dirty="0" err="1" smtClean="0"/>
              <a:t>tạo</a:t>
            </a:r>
            <a:r>
              <a:rPr lang="en-US" dirty="0" smtClean="0"/>
              <a:t> </a:t>
            </a:r>
            <a:r>
              <a:rPr lang="en-US" dirty="0" err="1" smtClean="0"/>
              <a:t>ra</a:t>
            </a:r>
            <a:r>
              <a:rPr lang="en-US" dirty="0" smtClean="0"/>
              <a:t> do </a:t>
            </a:r>
            <a:r>
              <a:rPr lang="en-US" dirty="0" err="1" smtClean="0"/>
              <a:t>việc</a:t>
            </a:r>
            <a:r>
              <a:rPr lang="en-US" dirty="0" smtClean="0"/>
              <a:t> </a:t>
            </a:r>
            <a:r>
              <a:rPr lang="en-US" dirty="0" err="1" smtClean="0"/>
              <a:t>dịch</a:t>
            </a:r>
            <a:r>
              <a:rPr lang="en-US" dirty="0" smtClean="0"/>
              <a:t> </a:t>
            </a:r>
            <a:r>
              <a:rPr lang="en-US" dirty="0" err="1" smtClean="0"/>
              <a:t>chuyển</a:t>
            </a:r>
            <a:r>
              <a:rPr lang="en-US" dirty="0" smtClean="0"/>
              <a:t>), </a:t>
            </a:r>
            <a:r>
              <a:rPr lang="en-US" dirty="0" err="1" smtClean="0"/>
              <a:t>tuy</a:t>
            </a:r>
            <a:r>
              <a:rPr lang="en-US" dirty="0" smtClean="0"/>
              <a:t> </a:t>
            </a:r>
            <a:r>
              <a:rPr lang="en-US" dirty="0" err="1" smtClean="0"/>
              <a:t>nhiên</a:t>
            </a:r>
            <a:r>
              <a:rPr lang="en-US" dirty="0" smtClean="0"/>
              <a:t> </a:t>
            </a:r>
            <a:r>
              <a:rPr lang="en-US" dirty="0" err="1" smtClean="0"/>
              <a:t>các</a:t>
            </a:r>
            <a:r>
              <a:rPr lang="en-US" dirty="0" smtClean="0"/>
              <a:t> </a:t>
            </a:r>
            <a:r>
              <a:rPr lang="en-US" dirty="0" err="1" smtClean="0"/>
              <a:t>thao</a:t>
            </a:r>
            <a:r>
              <a:rPr lang="en-US" dirty="0" smtClean="0"/>
              <a:t> </a:t>
            </a:r>
            <a:r>
              <a:rPr lang="en-US" dirty="0" err="1" smtClean="0"/>
              <a:t>tác</a:t>
            </a:r>
            <a:r>
              <a:rPr lang="en-US" dirty="0" smtClean="0"/>
              <a:t> </a:t>
            </a:r>
            <a:r>
              <a:rPr lang="en-US" dirty="0" err="1" smtClean="0"/>
              <a:t>xử</a:t>
            </a:r>
            <a:r>
              <a:rPr lang="en-US" dirty="0" smtClean="0"/>
              <a:t> </a:t>
            </a:r>
            <a:r>
              <a:rPr lang="en-US" dirty="0" err="1" smtClean="0"/>
              <a:t>lý</a:t>
            </a:r>
            <a:r>
              <a:rPr lang="en-US" dirty="0" smtClean="0"/>
              <a:t> </a:t>
            </a:r>
            <a:r>
              <a:rPr lang="en-US" dirty="0" err="1" smtClean="0"/>
              <a:t>tiếp</a:t>
            </a:r>
            <a:r>
              <a:rPr lang="en-US" dirty="0" smtClean="0"/>
              <a:t> </a:t>
            </a:r>
            <a:r>
              <a:rPr lang="en-US" dirty="0" err="1" smtClean="0"/>
              <a:t>theo</a:t>
            </a:r>
            <a:r>
              <a:rPr lang="en-US" dirty="0" smtClean="0"/>
              <a:t> </a:t>
            </a:r>
            <a:r>
              <a:rPr lang="en-US" dirty="0" err="1" smtClean="0"/>
              <a:t>sẽ</a:t>
            </a:r>
            <a:r>
              <a:rPr lang="en-US" dirty="0" smtClean="0"/>
              <a:t> </a:t>
            </a:r>
            <a:r>
              <a:rPr lang="en-US" dirty="0" err="1" smtClean="0"/>
              <a:t>coi</a:t>
            </a:r>
            <a:r>
              <a:rPr lang="en-US" dirty="0" smtClean="0"/>
              <a:t> </a:t>
            </a:r>
            <a:r>
              <a:rPr lang="en-US" dirty="0" err="1" smtClean="0"/>
              <a:t>các</a:t>
            </a:r>
            <a:r>
              <a:rPr lang="en-US" dirty="0" smtClean="0"/>
              <a:t> </a:t>
            </a:r>
            <a:r>
              <a:rPr lang="en-US" dirty="0" err="1" smtClean="0"/>
              <a:t>chữ</a:t>
            </a:r>
            <a:r>
              <a:rPr lang="en-US" dirty="0" smtClean="0"/>
              <a:t> </a:t>
            </a:r>
            <a:r>
              <a:rPr lang="en-US" dirty="0" err="1" smtClean="0"/>
              <a:t>số</a:t>
            </a:r>
            <a:r>
              <a:rPr lang="en-US" dirty="0" smtClean="0"/>
              <a:t> 0 </a:t>
            </a:r>
            <a:r>
              <a:rPr lang="en-US" dirty="0" err="1" smtClean="0"/>
              <a:t>này</a:t>
            </a:r>
            <a:r>
              <a:rPr lang="en-US" dirty="0" smtClean="0"/>
              <a:t> </a:t>
            </a:r>
            <a:r>
              <a:rPr lang="en-US" dirty="0" err="1" smtClean="0"/>
              <a:t>là</a:t>
            </a:r>
            <a:r>
              <a:rPr lang="en-US" dirty="0" smtClean="0"/>
              <a:t> </a:t>
            </a:r>
            <a:r>
              <a:rPr lang="en-US" dirty="0" err="1" smtClean="0"/>
              <a:t>có</a:t>
            </a:r>
            <a:r>
              <a:rPr lang="en-US" dirty="0" smtClean="0"/>
              <a:t> </a:t>
            </a:r>
            <a:r>
              <a:rPr lang="en-US" dirty="0" err="1" smtClean="0"/>
              <a:t>nghĩa</a:t>
            </a:r>
            <a:r>
              <a:rPr lang="en-US" dirty="0" smtClean="0"/>
              <a:t>.</a:t>
            </a:r>
            <a:endParaRPr lang="en-US" dirty="0"/>
          </a:p>
        </p:txBody>
      </p:sp>
      <p:pic>
        <p:nvPicPr>
          <p:cNvPr id="2" name="Picture 1"/>
          <p:cNvPicPr>
            <a:picLocks noChangeAspect="1"/>
          </p:cNvPicPr>
          <p:nvPr/>
        </p:nvPicPr>
        <p:blipFill>
          <a:blip r:embed="rId1"/>
          <a:stretch>
            <a:fillRect/>
          </a:stretch>
        </p:blipFill>
        <p:spPr>
          <a:xfrm>
            <a:off x="3488478" y="829994"/>
            <a:ext cx="1728875" cy="12801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b="1" dirty="0" err="1" smtClean="0"/>
              <a:t>Lưu</a:t>
            </a:r>
            <a:r>
              <a:rPr lang="en-US" b="1" dirty="0" smtClean="0"/>
              <a:t> ý: </a:t>
            </a:r>
            <a:r>
              <a:rPr lang="en-US" dirty="0" smtClean="0">
                <a:latin typeface="Calibri" panose="020F0502020204030204" charset="0"/>
                <a:ea typeface="Calibri" panose="020F0502020204030204" charset="0"/>
                <a:cs typeface="Calibri" panose="020F0502020204030204" charset="0"/>
              </a:rPr>
              <a:t>V</a:t>
            </a:r>
            <a:r>
              <a:rPr lang="vi-VN" dirty="0" smtClean="0">
                <a:latin typeface="Calibri" panose="020F0502020204030204" charset="0"/>
                <a:ea typeface="Calibri" panose="020F0502020204030204" charset="0"/>
                <a:cs typeface="Calibri" panose="020F0502020204030204" charset="0"/>
              </a:rPr>
              <a:t>iệc </a:t>
            </a:r>
            <a:r>
              <a:rPr lang="vi-VN" dirty="0">
                <a:latin typeface="Calibri" panose="020F0502020204030204" charset="0"/>
                <a:ea typeface="Calibri" panose="020F0502020204030204" charset="0"/>
                <a:cs typeface="Calibri" panose="020F0502020204030204" charset="0"/>
              </a:rPr>
              <a:t>mất đi các chữ số có nghĩa trong quá trình trừ hai số gần bằng nhau là một trong những nguồn gây ra lỗi làm tròn lớn nhất trong các phương pháp </a:t>
            </a:r>
            <a:r>
              <a:rPr lang="vi-VN" dirty="0" smtClean="0">
                <a:latin typeface="Calibri" panose="020F0502020204030204" charset="0"/>
                <a:ea typeface="Calibri" panose="020F0502020204030204" charset="0"/>
                <a:cs typeface="Calibri" panose="020F0502020204030204" charset="0"/>
              </a:rPr>
              <a:t>tính</a:t>
            </a:r>
            <a:r>
              <a:rPr lang="en-US" dirty="0" smtClean="0"/>
              <a:t>.</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solidFill>
                  <a:srgbClr val="00B0F0"/>
                </a:solidFill>
              </a:rPr>
              <a:t>Thực</a:t>
            </a:r>
            <a:r>
              <a:rPr lang="en-US" dirty="0" smtClean="0">
                <a:solidFill>
                  <a:srgbClr val="00B0F0"/>
                </a:solidFill>
              </a:rPr>
              <a:t> </a:t>
            </a:r>
            <a:r>
              <a:rPr lang="en-US" dirty="0" err="1" smtClean="0">
                <a:solidFill>
                  <a:srgbClr val="00B0F0"/>
                </a:solidFill>
              </a:rPr>
              <a:t>hiện</a:t>
            </a:r>
            <a:r>
              <a:rPr lang="en-US" dirty="0" smtClean="0">
                <a:solidFill>
                  <a:srgbClr val="00B0F0"/>
                </a:solidFill>
              </a:rPr>
              <a:t> </a:t>
            </a:r>
            <a:r>
              <a:rPr lang="en-US" dirty="0" err="1" smtClean="0">
                <a:solidFill>
                  <a:srgbClr val="00B0F0"/>
                </a:solidFill>
              </a:rPr>
              <a:t>số</a:t>
            </a:r>
            <a:r>
              <a:rPr lang="en-US" dirty="0" smtClean="0">
                <a:solidFill>
                  <a:srgbClr val="00B0F0"/>
                </a:solidFill>
              </a:rPr>
              <a:t> </a:t>
            </a:r>
            <a:r>
              <a:rPr lang="en-US" dirty="0" err="1" smtClean="0">
                <a:solidFill>
                  <a:srgbClr val="00B0F0"/>
                </a:solidFill>
              </a:rPr>
              <a:t>lượng</a:t>
            </a:r>
            <a:r>
              <a:rPr lang="en-US" dirty="0" smtClean="0">
                <a:solidFill>
                  <a:srgbClr val="00B0F0"/>
                </a:solidFill>
              </a:rPr>
              <a:t> </a:t>
            </a:r>
            <a:r>
              <a:rPr lang="en-US" dirty="0" err="1" smtClean="0">
                <a:solidFill>
                  <a:srgbClr val="00B0F0"/>
                </a:solidFill>
              </a:rPr>
              <a:t>lớn</a:t>
            </a:r>
            <a:r>
              <a:rPr lang="en-US" dirty="0" smtClean="0">
                <a:solidFill>
                  <a:srgbClr val="00B0F0"/>
                </a:solidFill>
              </a:rPr>
              <a:t> </a:t>
            </a:r>
            <a:r>
              <a:rPr lang="en-US" dirty="0" err="1" smtClean="0">
                <a:solidFill>
                  <a:srgbClr val="00B0F0"/>
                </a:solidFill>
              </a:rPr>
              <a:t>các</a:t>
            </a:r>
            <a:r>
              <a:rPr lang="en-US" dirty="0" smtClean="0">
                <a:solidFill>
                  <a:srgbClr val="00B0F0"/>
                </a:solidFill>
              </a:rPr>
              <a:t> </a:t>
            </a:r>
            <a:r>
              <a:rPr lang="en-US" dirty="0" err="1" smtClean="0">
                <a:solidFill>
                  <a:srgbClr val="00B0F0"/>
                </a:solidFill>
              </a:rPr>
              <a:t>phép</a:t>
            </a:r>
            <a:r>
              <a:rPr lang="en-US" dirty="0" smtClean="0">
                <a:solidFill>
                  <a:srgbClr val="00B0F0"/>
                </a:solidFill>
              </a:rPr>
              <a:t> </a:t>
            </a:r>
            <a:r>
              <a:rPr lang="en-US" dirty="0" err="1" smtClean="0">
                <a:solidFill>
                  <a:srgbClr val="00B0F0"/>
                </a:solidFill>
              </a:rPr>
              <a:t>toán</a:t>
            </a:r>
            <a:endParaRPr lang="en-US" dirty="0" smtClean="0">
              <a:solidFill>
                <a:srgbClr val="00B0F0"/>
              </a:solidFill>
            </a:endParaRPr>
          </a:p>
          <a:p>
            <a:pPr marL="0" indent="0" algn="just">
              <a:lnSpc>
                <a:spcPct val="150000"/>
              </a:lnSpc>
              <a:buNone/>
            </a:pPr>
            <a:r>
              <a:rPr lang="en-US" dirty="0" err="1" smtClean="0"/>
              <a:t>Các</a:t>
            </a:r>
            <a:r>
              <a:rPr lang="en-US" dirty="0" smtClean="0"/>
              <a:t> </a:t>
            </a:r>
            <a:r>
              <a:rPr lang="en-US" dirty="0" err="1" smtClean="0"/>
              <a:t>phép</a:t>
            </a:r>
            <a:r>
              <a:rPr lang="en-US" dirty="0" smtClean="0"/>
              <a:t> </a:t>
            </a:r>
            <a:r>
              <a:rPr lang="en-US" dirty="0" err="1" smtClean="0"/>
              <a:t>tính</a:t>
            </a:r>
            <a:r>
              <a:rPr lang="en-US" dirty="0" smtClean="0"/>
              <a:t> </a:t>
            </a:r>
            <a:r>
              <a:rPr lang="en-US" dirty="0" err="1" smtClean="0"/>
              <a:t>trong</a:t>
            </a:r>
            <a:r>
              <a:rPr lang="en-US" dirty="0" smtClean="0"/>
              <a:t> </a:t>
            </a:r>
            <a:r>
              <a:rPr lang="en-US" dirty="0" err="1" smtClean="0"/>
              <a:t>một</a:t>
            </a:r>
            <a:r>
              <a:rPr lang="en-US" dirty="0" smtClean="0"/>
              <a:t> </a:t>
            </a:r>
            <a:r>
              <a:rPr lang="en-US" dirty="0" err="1" smtClean="0"/>
              <a:t>biểu</a:t>
            </a:r>
            <a:r>
              <a:rPr lang="en-US" dirty="0" smtClean="0"/>
              <a:t> </a:t>
            </a:r>
            <a:r>
              <a:rPr lang="en-US" dirty="0" err="1" smtClean="0"/>
              <a:t>thức</a:t>
            </a:r>
            <a:r>
              <a:rPr lang="en-US" dirty="0" smtClean="0"/>
              <a:t> </a:t>
            </a:r>
            <a:r>
              <a:rPr lang="en-US" dirty="0" err="1" smtClean="0"/>
              <a:t>hoặc</a:t>
            </a:r>
            <a:r>
              <a:rPr lang="en-US" dirty="0" smtClean="0"/>
              <a:t> </a:t>
            </a:r>
            <a:r>
              <a:rPr lang="en-US" dirty="0" err="1" smtClean="0"/>
              <a:t>một</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có</a:t>
            </a:r>
            <a:r>
              <a:rPr lang="en-US" dirty="0" smtClean="0"/>
              <a:t> </a:t>
            </a:r>
            <a:r>
              <a:rPr lang="en-US" dirty="0" err="1" smtClean="0"/>
              <a:t>thể</a:t>
            </a:r>
            <a:r>
              <a:rPr lang="en-US" dirty="0" smtClean="0"/>
              <a:t> </a:t>
            </a:r>
            <a:r>
              <a:rPr lang="en-US" dirty="0" err="1" smtClean="0"/>
              <a:t>rất</a:t>
            </a:r>
            <a:r>
              <a:rPr lang="en-US" dirty="0" smtClean="0"/>
              <a:t> </a:t>
            </a:r>
            <a:r>
              <a:rPr lang="en-US" dirty="0" err="1" smtClean="0"/>
              <a:t>lớn</a:t>
            </a:r>
            <a:r>
              <a:rPr lang="en-US" dirty="0" smtClean="0"/>
              <a:t>. </a:t>
            </a:r>
            <a:r>
              <a:rPr lang="en-US" dirty="0" err="1" smtClean="0"/>
              <a:t>Thêm</a:t>
            </a:r>
            <a:r>
              <a:rPr lang="en-US" dirty="0" smtClean="0"/>
              <a:t> </a:t>
            </a:r>
            <a:r>
              <a:rPr lang="en-US" dirty="0" err="1" smtClean="0"/>
              <a:t>vào</a:t>
            </a:r>
            <a:r>
              <a:rPr lang="en-US" dirty="0" smtClean="0"/>
              <a:t> </a:t>
            </a:r>
            <a:r>
              <a:rPr lang="en-US" dirty="0" err="1" smtClean="0"/>
              <a:t>đó</a:t>
            </a:r>
            <a:r>
              <a:rPr lang="en-US" dirty="0" smtClean="0"/>
              <a:t> </a:t>
            </a:r>
            <a:r>
              <a:rPr lang="en-US" dirty="0" err="1" smtClean="0"/>
              <a:t>các</a:t>
            </a:r>
            <a:r>
              <a:rPr lang="en-US" dirty="0" smtClean="0"/>
              <a:t> </a:t>
            </a:r>
            <a:r>
              <a:rPr lang="en-US" dirty="0" err="1" smtClean="0"/>
              <a:t>phép</a:t>
            </a:r>
            <a:r>
              <a:rPr lang="en-US" dirty="0" smtClean="0"/>
              <a:t> </a:t>
            </a:r>
            <a:r>
              <a:rPr lang="en-US" dirty="0" err="1" smtClean="0"/>
              <a:t>tính</a:t>
            </a:r>
            <a:r>
              <a:rPr lang="en-US" dirty="0" smtClean="0"/>
              <a:t> </a:t>
            </a:r>
            <a:r>
              <a:rPr lang="en-US" dirty="0" err="1" smtClean="0"/>
              <a:t>là</a:t>
            </a:r>
            <a:r>
              <a:rPr lang="en-US" dirty="0" smtClean="0"/>
              <a:t> </a:t>
            </a:r>
            <a:r>
              <a:rPr lang="en-US" dirty="0" err="1" smtClean="0"/>
              <a:t>phụ</a:t>
            </a:r>
            <a:r>
              <a:rPr lang="en-US" dirty="0" smtClean="0"/>
              <a:t> </a:t>
            </a:r>
            <a:r>
              <a:rPr lang="en-US" dirty="0" err="1" smtClean="0"/>
              <a:t>thuộc</a:t>
            </a:r>
            <a:r>
              <a:rPr lang="en-US" dirty="0" smtClean="0"/>
              <a:t> </a:t>
            </a:r>
            <a:r>
              <a:rPr lang="en-US" dirty="0" err="1" smtClean="0"/>
              <a:t>lẫn</a:t>
            </a:r>
            <a:r>
              <a:rPr lang="en-US" dirty="0" smtClean="0"/>
              <a:t> </a:t>
            </a:r>
            <a:r>
              <a:rPr lang="en-US" dirty="0" err="1" smtClean="0"/>
              <a:t>nhau</a:t>
            </a:r>
            <a:r>
              <a:rPr lang="en-US" dirty="0" smtClean="0"/>
              <a:t>, </a:t>
            </a:r>
            <a:r>
              <a:rPr lang="en-US" dirty="0" err="1" smtClean="0"/>
              <a:t>nghĩa</a:t>
            </a:r>
            <a:r>
              <a:rPr lang="en-US" dirty="0" smtClean="0"/>
              <a:t> </a:t>
            </a:r>
            <a:r>
              <a:rPr lang="en-US" dirty="0" err="1" smtClean="0"/>
              <a:t>là</a:t>
            </a:r>
            <a:r>
              <a:rPr lang="en-US" dirty="0" smtClean="0"/>
              <a:t> </a:t>
            </a:r>
            <a:r>
              <a:rPr lang="en-US" dirty="0" err="1" smtClean="0"/>
              <a:t>các</a:t>
            </a:r>
            <a:r>
              <a:rPr lang="en-US" dirty="0" smtClean="0"/>
              <a:t> </a:t>
            </a:r>
            <a:r>
              <a:rPr lang="en-US" dirty="0" err="1" smtClean="0"/>
              <a:t>bước</a:t>
            </a:r>
            <a:r>
              <a:rPr lang="en-US" dirty="0" smtClean="0"/>
              <a:t> </a:t>
            </a:r>
            <a:r>
              <a:rPr lang="en-US" dirty="0" err="1" smtClean="0"/>
              <a:t>tính</a:t>
            </a:r>
            <a:r>
              <a:rPr lang="en-US" dirty="0" smtClean="0"/>
              <a:t> </a:t>
            </a:r>
            <a:r>
              <a:rPr lang="en-US" dirty="0" err="1" smtClean="0"/>
              <a:t>toán</a:t>
            </a:r>
            <a:r>
              <a:rPr lang="en-US" dirty="0" smtClean="0"/>
              <a:t> </a:t>
            </a:r>
            <a:r>
              <a:rPr lang="en-US" dirty="0" err="1" smtClean="0"/>
              <a:t>sau</a:t>
            </a:r>
            <a:r>
              <a:rPr lang="en-US" dirty="0" smtClean="0"/>
              <a:t> </a:t>
            </a:r>
            <a:r>
              <a:rPr lang="en-US" dirty="0" err="1" smtClean="0"/>
              <a:t>dựa</a:t>
            </a:r>
            <a:r>
              <a:rPr lang="en-US" dirty="0" smtClean="0"/>
              <a:t> </a:t>
            </a:r>
            <a:r>
              <a:rPr lang="en-US" dirty="0" err="1" smtClean="0"/>
              <a:t>trên</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của</a:t>
            </a:r>
            <a:r>
              <a:rPr lang="en-US" dirty="0" smtClean="0"/>
              <a:t> </a:t>
            </a:r>
            <a:r>
              <a:rPr lang="en-US" dirty="0" err="1" smtClean="0"/>
              <a:t>các</a:t>
            </a:r>
            <a:r>
              <a:rPr lang="en-US" dirty="0" smtClean="0"/>
              <a:t> </a:t>
            </a:r>
            <a:r>
              <a:rPr lang="en-US" dirty="0" err="1" smtClean="0"/>
              <a:t>phép</a:t>
            </a:r>
            <a:r>
              <a:rPr lang="en-US" dirty="0" smtClean="0"/>
              <a:t> </a:t>
            </a:r>
            <a:r>
              <a:rPr lang="en-US" dirty="0" err="1" smtClean="0"/>
              <a:t>tính</a:t>
            </a:r>
            <a:r>
              <a:rPr lang="en-US" dirty="0" smtClean="0"/>
              <a:t> </a:t>
            </a:r>
            <a:r>
              <a:rPr lang="en-US" dirty="0" err="1" smtClean="0"/>
              <a:t>bước</a:t>
            </a:r>
            <a:r>
              <a:rPr lang="en-US" dirty="0" smtClean="0"/>
              <a:t> </a:t>
            </a:r>
            <a:r>
              <a:rPr lang="en-US" dirty="0" err="1" smtClean="0"/>
              <a:t>trước</a:t>
            </a:r>
            <a:r>
              <a:rPr lang="en-US" dirty="0" smtClean="0"/>
              <a:t> </a:t>
            </a:r>
            <a:r>
              <a:rPr lang="en-US" dirty="0" err="1" smtClean="0"/>
              <a:t>đó</a:t>
            </a:r>
            <a:r>
              <a:rPr lang="en-US" dirty="0" smtClean="0"/>
              <a:t>. </a:t>
            </a:r>
            <a:r>
              <a:rPr lang="en-US" dirty="0" err="1" smtClean="0"/>
              <a:t>Hệ</a:t>
            </a:r>
            <a:r>
              <a:rPr lang="en-US" dirty="0" smtClean="0"/>
              <a:t> </a:t>
            </a:r>
            <a:r>
              <a:rPr lang="en-US" dirty="0" err="1" smtClean="0"/>
              <a:t>quả</a:t>
            </a:r>
            <a:r>
              <a:rPr lang="en-US" dirty="0" smtClean="0"/>
              <a:t> </a:t>
            </a:r>
            <a:r>
              <a:rPr lang="en-US" dirty="0" err="1" smtClean="0"/>
              <a:t>là</a:t>
            </a:r>
            <a:r>
              <a:rPr lang="en-US" dirty="0" smtClean="0"/>
              <a:t>, </a:t>
            </a:r>
            <a:r>
              <a:rPr lang="en-US" dirty="0" err="1" smtClean="0"/>
              <a:t>sai</a:t>
            </a:r>
            <a:r>
              <a:rPr lang="en-US" dirty="0" smtClean="0"/>
              <a:t> </a:t>
            </a:r>
            <a:r>
              <a:rPr lang="en-US" dirty="0" err="1" smtClean="0"/>
              <a:t>số</a:t>
            </a:r>
            <a:r>
              <a:rPr lang="en-US" dirty="0" smtClean="0"/>
              <a:t> </a:t>
            </a:r>
            <a:r>
              <a:rPr lang="en-US" dirty="0" err="1" smtClean="0"/>
              <a:t>làm</a:t>
            </a:r>
            <a:r>
              <a:rPr lang="en-US" dirty="0" smtClean="0"/>
              <a:t> </a:t>
            </a:r>
            <a:r>
              <a:rPr lang="en-US" dirty="0" err="1" smtClean="0"/>
              <a:t>tròn</a:t>
            </a:r>
            <a:r>
              <a:rPr lang="en-US" dirty="0" smtClean="0"/>
              <a:t> </a:t>
            </a:r>
            <a:r>
              <a:rPr lang="en-US" dirty="0" err="1" smtClean="0"/>
              <a:t>riêng</a:t>
            </a:r>
            <a:r>
              <a:rPr lang="en-US" dirty="0" smtClean="0"/>
              <a:t> </a:t>
            </a:r>
            <a:r>
              <a:rPr lang="en-US" dirty="0" err="1" smtClean="0"/>
              <a:t>lẻ</a:t>
            </a:r>
            <a:r>
              <a:rPr lang="en-US" dirty="0" smtClean="0"/>
              <a:t> </a:t>
            </a:r>
            <a:r>
              <a:rPr lang="en-US" dirty="0" err="1" smtClean="0"/>
              <a:t>có</a:t>
            </a:r>
            <a:r>
              <a:rPr lang="en-US" dirty="0" smtClean="0"/>
              <a:t> </a:t>
            </a:r>
            <a:r>
              <a:rPr lang="en-US" dirty="0" err="1" smtClean="0"/>
              <a:t>thể</a:t>
            </a:r>
            <a:r>
              <a:rPr lang="en-US" dirty="0" smtClean="0"/>
              <a:t> </a:t>
            </a:r>
            <a:r>
              <a:rPr lang="en-US" dirty="0" err="1" smtClean="0"/>
              <a:t>rất</a:t>
            </a:r>
            <a:r>
              <a:rPr lang="en-US" dirty="0" smtClean="0"/>
              <a:t> </a:t>
            </a:r>
            <a:r>
              <a:rPr lang="en-US" dirty="0" err="1" smtClean="0"/>
              <a:t>nhỏ</a:t>
            </a:r>
            <a:r>
              <a:rPr lang="en-US" dirty="0" smtClean="0"/>
              <a:t>, </a:t>
            </a:r>
            <a:r>
              <a:rPr lang="en-US" dirty="0" err="1" smtClean="0"/>
              <a:t>nhưng</a:t>
            </a:r>
            <a:r>
              <a:rPr lang="en-US" dirty="0" smtClean="0"/>
              <a:t> </a:t>
            </a:r>
            <a:r>
              <a:rPr lang="en-US" dirty="0" err="1" smtClean="0"/>
              <a:t>tác</a:t>
            </a:r>
            <a:r>
              <a:rPr lang="en-US" dirty="0" smtClean="0"/>
              <a:t> </a:t>
            </a:r>
            <a:r>
              <a:rPr lang="en-US" dirty="0" err="1" smtClean="0"/>
              <a:t>động</a:t>
            </a:r>
            <a:r>
              <a:rPr lang="en-US" dirty="0" smtClean="0"/>
              <a:t> </a:t>
            </a:r>
            <a:r>
              <a:rPr lang="en-US" dirty="0" err="1" smtClean="0"/>
              <a:t>tích</a:t>
            </a:r>
            <a:r>
              <a:rPr lang="en-US" dirty="0" smtClean="0"/>
              <a:t> </a:t>
            </a:r>
            <a:r>
              <a:rPr lang="en-US" dirty="0" err="1" smtClean="0"/>
              <a:t>lũy</a:t>
            </a:r>
            <a:r>
              <a:rPr lang="en-US" dirty="0" smtClean="0"/>
              <a:t> (</a:t>
            </a:r>
            <a:r>
              <a:rPr lang="en-US" dirty="0" err="1" smtClean="0"/>
              <a:t>sai</a:t>
            </a:r>
            <a:r>
              <a:rPr lang="en-US" dirty="0" smtClean="0"/>
              <a:t> </a:t>
            </a:r>
            <a:r>
              <a:rPr lang="en-US" dirty="0" err="1" smtClean="0"/>
              <a:t>số</a:t>
            </a:r>
            <a:r>
              <a:rPr lang="en-US" dirty="0" smtClean="0"/>
              <a:t> </a:t>
            </a:r>
            <a:r>
              <a:rPr lang="en-US" dirty="0" err="1" smtClean="0"/>
              <a:t>tích</a:t>
            </a:r>
            <a:r>
              <a:rPr lang="en-US" dirty="0" smtClean="0"/>
              <a:t> </a:t>
            </a:r>
            <a:r>
              <a:rPr lang="en-US" dirty="0" err="1" smtClean="0"/>
              <a:t>lũy</a:t>
            </a:r>
            <a:r>
              <a:rPr lang="en-US" dirty="0" smtClean="0"/>
              <a:t>) </a:t>
            </a:r>
            <a:r>
              <a:rPr lang="en-US" dirty="0" err="1" smtClean="0"/>
              <a:t>trong</a:t>
            </a:r>
            <a:r>
              <a:rPr lang="en-US" dirty="0" smtClean="0"/>
              <a:t> </a:t>
            </a:r>
            <a:r>
              <a:rPr lang="en-US" dirty="0" err="1" smtClean="0"/>
              <a:t>suốt</a:t>
            </a:r>
            <a:r>
              <a:rPr lang="en-US" dirty="0" smtClean="0"/>
              <a:t> </a:t>
            </a:r>
            <a:r>
              <a:rPr lang="en-US" dirty="0" err="1" smtClean="0"/>
              <a:t>quá</a:t>
            </a:r>
            <a:r>
              <a:rPr lang="en-US" dirty="0" smtClean="0"/>
              <a:t> </a:t>
            </a:r>
            <a:r>
              <a:rPr lang="en-US" dirty="0" err="1" smtClean="0"/>
              <a:t>trình</a:t>
            </a:r>
            <a:r>
              <a:rPr lang="en-US" dirty="0" smtClean="0"/>
              <a:t> </a:t>
            </a:r>
            <a:r>
              <a:rPr lang="en-US" dirty="0" err="1" smtClean="0"/>
              <a:t>tính</a:t>
            </a:r>
            <a:r>
              <a:rPr lang="en-US" dirty="0" smtClean="0"/>
              <a:t> </a:t>
            </a:r>
            <a:r>
              <a:rPr lang="en-US" dirty="0" err="1" smtClean="0"/>
              <a:t>toán</a:t>
            </a:r>
            <a:r>
              <a:rPr lang="en-US" dirty="0" smtClean="0"/>
              <a:t> </a:t>
            </a:r>
            <a:r>
              <a:rPr lang="en-US" dirty="0" err="1" smtClean="0"/>
              <a:t>nhiều</a:t>
            </a:r>
            <a:r>
              <a:rPr lang="en-US" dirty="0" smtClean="0"/>
              <a:t> </a:t>
            </a:r>
            <a:r>
              <a:rPr lang="en-US" dirty="0" err="1" smtClean="0"/>
              <a:t>phép</a:t>
            </a:r>
            <a:r>
              <a:rPr lang="en-US" dirty="0" smtClean="0"/>
              <a:t> </a:t>
            </a:r>
            <a:r>
              <a:rPr lang="en-US" dirty="0" err="1" smtClean="0"/>
              <a:t>toán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trở</a:t>
            </a:r>
            <a:r>
              <a:rPr lang="en-US" dirty="0" smtClean="0"/>
              <a:t> </a:t>
            </a:r>
            <a:r>
              <a:rPr lang="en-US" dirty="0" err="1" smtClean="0"/>
              <a:t>nên</a:t>
            </a:r>
            <a:r>
              <a:rPr lang="en-US" dirty="0" smtClean="0"/>
              <a:t> </a:t>
            </a:r>
            <a:r>
              <a:rPr lang="en-US" dirty="0" err="1" smtClean="0"/>
              <a:t>đáng</a:t>
            </a:r>
            <a:r>
              <a:rPr lang="en-US" dirty="0" smtClean="0"/>
              <a:t> </a:t>
            </a:r>
            <a:r>
              <a:rPr lang="en-US" dirty="0" err="1" smtClean="0"/>
              <a:t>kể</a:t>
            </a:r>
            <a:r>
              <a:rPr lang="en-US" dirty="0" smtClean="0"/>
              <a:t>.</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solidFill>
                  <a:srgbClr val="00B0F0"/>
                </a:solidFill>
              </a:rPr>
              <a:t>Cộng</a:t>
            </a:r>
            <a:r>
              <a:rPr lang="en-US" dirty="0" smtClean="0">
                <a:solidFill>
                  <a:srgbClr val="00B0F0"/>
                </a:solidFill>
              </a:rPr>
              <a:t> </a:t>
            </a:r>
            <a:r>
              <a:rPr lang="en-US" dirty="0" err="1" smtClean="0">
                <a:solidFill>
                  <a:srgbClr val="00B0F0"/>
                </a:solidFill>
              </a:rPr>
              <a:t>một</a:t>
            </a:r>
            <a:r>
              <a:rPr lang="en-US" dirty="0" smtClean="0">
                <a:solidFill>
                  <a:srgbClr val="00B0F0"/>
                </a:solidFill>
              </a:rPr>
              <a:t> </a:t>
            </a:r>
            <a:r>
              <a:rPr lang="en-US" dirty="0" err="1" smtClean="0">
                <a:solidFill>
                  <a:srgbClr val="00B0F0"/>
                </a:solidFill>
              </a:rPr>
              <a:t>số</a:t>
            </a:r>
            <a:r>
              <a:rPr lang="en-US" dirty="0" smtClean="0">
                <a:solidFill>
                  <a:srgbClr val="00B0F0"/>
                </a:solidFill>
              </a:rPr>
              <a:t> </a:t>
            </a:r>
            <a:r>
              <a:rPr lang="en-US" dirty="0" err="1" smtClean="0">
                <a:solidFill>
                  <a:srgbClr val="00B0F0"/>
                </a:solidFill>
              </a:rPr>
              <a:t>lớn</a:t>
            </a:r>
            <a:r>
              <a:rPr lang="en-US" dirty="0" smtClean="0">
                <a:solidFill>
                  <a:srgbClr val="00B0F0"/>
                </a:solidFill>
              </a:rPr>
              <a:t> </a:t>
            </a:r>
            <a:r>
              <a:rPr lang="en-US" dirty="0" err="1" smtClean="0">
                <a:solidFill>
                  <a:srgbClr val="00B0F0"/>
                </a:solidFill>
              </a:rPr>
              <a:t>và</a:t>
            </a:r>
            <a:r>
              <a:rPr lang="en-US" dirty="0" smtClean="0">
                <a:solidFill>
                  <a:srgbClr val="00B0F0"/>
                </a:solidFill>
              </a:rPr>
              <a:t> </a:t>
            </a:r>
            <a:r>
              <a:rPr lang="en-US" dirty="0" err="1" smtClean="0">
                <a:solidFill>
                  <a:srgbClr val="00B0F0"/>
                </a:solidFill>
              </a:rPr>
              <a:t>một</a:t>
            </a:r>
            <a:r>
              <a:rPr lang="en-US" dirty="0" smtClean="0">
                <a:solidFill>
                  <a:srgbClr val="00B0F0"/>
                </a:solidFill>
              </a:rPr>
              <a:t> </a:t>
            </a:r>
            <a:r>
              <a:rPr lang="en-US" dirty="0" err="1" smtClean="0">
                <a:solidFill>
                  <a:srgbClr val="00B0F0"/>
                </a:solidFill>
              </a:rPr>
              <a:t>số</a:t>
            </a:r>
            <a:r>
              <a:rPr lang="en-US" dirty="0" smtClean="0">
                <a:solidFill>
                  <a:srgbClr val="00B0F0"/>
                </a:solidFill>
              </a:rPr>
              <a:t> </a:t>
            </a:r>
            <a:r>
              <a:rPr lang="en-US" dirty="0" err="1" smtClean="0">
                <a:solidFill>
                  <a:srgbClr val="00B0F0"/>
                </a:solidFill>
              </a:rPr>
              <a:t>bé</a:t>
            </a:r>
            <a:endParaRPr lang="en-US" dirty="0" smtClean="0">
              <a:solidFill>
                <a:srgbClr val="00B0F0"/>
              </a:solidFill>
            </a:endParaRPr>
          </a:p>
          <a:p>
            <a:pPr algn="just">
              <a:lnSpc>
                <a:spcPct val="150000"/>
              </a:lnSpc>
              <a:buFontTx/>
              <a:buChar char="-"/>
            </a:pPr>
            <a:r>
              <a:rPr lang="en-US" dirty="0" err="1" smtClean="0"/>
              <a:t>Khi</a:t>
            </a:r>
            <a:r>
              <a:rPr lang="en-US" dirty="0" smtClean="0"/>
              <a:t> </a:t>
            </a:r>
            <a:r>
              <a:rPr lang="en-US" dirty="0" err="1" smtClean="0"/>
              <a:t>tính</a:t>
            </a:r>
            <a:r>
              <a:rPr lang="en-US" dirty="0" smtClean="0"/>
              <a:t> </a:t>
            </a:r>
            <a:r>
              <a:rPr lang="en-US" dirty="0" err="1" smtClean="0"/>
              <a:t>tổng</a:t>
            </a:r>
            <a:r>
              <a:rPr lang="en-US" dirty="0" smtClean="0"/>
              <a:t> </a:t>
            </a:r>
            <a:r>
              <a:rPr lang="en-US" dirty="0" err="1" smtClean="0"/>
              <a:t>của</a:t>
            </a:r>
            <a:r>
              <a:rPr lang="en-US" dirty="0" smtClean="0"/>
              <a:t> </a:t>
            </a:r>
            <a:r>
              <a:rPr lang="en-US" dirty="0" err="1" smtClean="0"/>
              <a:t>một</a:t>
            </a:r>
            <a:r>
              <a:rPr lang="en-US" dirty="0" smtClean="0"/>
              <a:t> </a:t>
            </a:r>
            <a:r>
              <a:rPr lang="en-US" dirty="0" err="1" smtClean="0"/>
              <a:t>chuỗi</a:t>
            </a:r>
            <a:r>
              <a:rPr lang="en-US" dirty="0" smtClean="0"/>
              <a:t> </a:t>
            </a:r>
            <a:r>
              <a:rPr lang="en-US" dirty="0" err="1" smtClean="0"/>
              <a:t>vô</a:t>
            </a:r>
            <a:r>
              <a:rPr lang="en-US" dirty="0" smtClean="0"/>
              <a:t> </a:t>
            </a:r>
            <a:r>
              <a:rPr lang="en-US" dirty="0" err="1" smtClean="0"/>
              <a:t>hạn</a:t>
            </a:r>
            <a:r>
              <a:rPr lang="en-US" dirty="0" smtClean="0"/>
              <a:t>, </a:t>
            </a:r>
            <a:r>
              <a:rPr lang="en-US" dirty="0" err="1" smtClean="0"/>
              <a:t>các</a:t>
            </a:r>
            <a:r>
              <a:rPr lang="en-US" dirty="0" smtClean="0"/>
              <a:t> </a:t>
            </a:r>
            <a:r>
              <a:rPr lang="en-US" dirty="0" err="1" smtClean="0"/>
              <a:t>số</a:t>
            </a:r>
            <a:r>
              <a:rPr lang="en-US" dirty="0" smtClean="0"/>
              <a:t> </a:t>
            </a:r>
            <a:r>
              <a:rPr lang="en-US" dirty="0" err="1" smtClean="0"/>
              <a:t>hạng</a:t>
            </a:r>
            <a:r>
              <a:rPr lang="en-US" dirty="0" smtClean="0"/>
              <a:t> </a:t>
            </a:r>
            <a:r>
              <a:rPr lang="en-US" dirty="0" err="1" smtClean="0"/>
              <a:t>đầu</a:t>
            </a:r>
            <a:r>
              <a:rPr lang="en-US" dirty="0" smtClean="0"/>
              <a:t> </a:t>
            </a:r>
            <a:r>
              <a:rPr lang="en-US" dirty="0" err="1" smtClean="0"/>
              <a:t>tiên</a:t>
            </a:r>
            <a:r>
              <a:rPr lang="en-US" dirty="0" smtClean="0"/>
              <a:t> </a:t>
            </a:r>
            <a:r>
              <a:rPr lang="en-US" dirty="0" err="1" smtClean="0"/>
              <a:t>thường</a:t>
            </a:r>
            <a:r>
              <a:rPr lang="en-US" dirty="0" smtClean="0"/>
              <a:t> </a:t>
            </a:r>
            <a:r>
              <a:rPr lang="en-US" dirty="0" err="1" smtClean="0"/>
              <a:t>có</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tương</a:t>
            </a:r>
            <a:r>
              <a:rPr lang="en-US" dirty="0" smtClean="0"/>
              <a:t> </a:t>
            </a:r>
            <a:r>
              <a:rPr lang="en-US" dirty="0" err="1" smtClean="0"/>
              <a:t>đối</a:t>
            </a:r>
            <a:r>
              <a:rPr lang="en-US" dirty="0" smtClean="0"/>
              <a:t> </a:t>
            </a:r>
            <a:r>
              <a:rPr lang="en-US" dirty="0" err="1" smtClean="0"/>
              <a:t>lớn</a:t>
            </a:r>
            <a:r>
              <a:rPr lang="en-US" dirty="0" smtClean="0"/>
              <a:t> </a:t>
            </a:r>
            <a:r>
              <a:rPr lang="en-US" dirty="0" err="1" smtClean="0"/>
              <a:t>hơn</a:t>
            </a:r>
            <a:r>
              <a:rPr lang="en-US" dirty="0" smtClean="0"/>
              <a:t> so </a:t>
            </a:r>
            <a:r>
              <a:rPr lang="en-US" dirty="0" err="1" smtClean="0"/>
              <a:t>với</a:t>
            </a:r>
            <a:r>
              <a:rPr lang="en-US" dirty="0" smtClean="0"/>
              <a:t> </a:t>
            </a:r>
            <a:r>
              <a:rPr lang="en-US" dirty="0" err="1" smtClean="0"/>
              <a:t>các</a:t>
            </a:r>
            <a:r>
              <a:rPr lang="en-US" dirty="0" smtClean="0"/>
              <a:t> </a:t>
            </a:r>
            <a:r>
              <a:rPr lang="en-US" dirty="0" err="1" smtClean="0"/>
              <a:t>số</a:t>
            </a:r>
            <a:r>
              <a:rPr lang="en-US" dirty="0" smtClean="0"/>
              <a:t> </a:t>
            </a:r>
            <a:r>
              <a:rPr lang="en-US" dirty="0" err="1" smtClean="0"/>
              <a:t>hạng</a:t>
            </a:r>
            <a:r>
              <a:rPr lang="en-US" dirty="0" smtClean="0"/>
              <a:t> </a:t>
            </a:r>
            <a:r>
              <a:rPr lang="en-US" dirty="0" err="1" smtClean="0"/>
              <a:t>về</a:t>
            </a:r>
            <a:r>
              <a:rPr lang="en-US" dirty="0" smtClean="0"/>
              <a:t> </a:t>
            </a:r>
            <a:r>
              <a:rPr lang="en-US" dirty="0" err="1" smtClean="0"/>
              <a:t>sau</a:t>
            </a:r>
            <a:r>
              <a:rPr lang="en-US" dirty="0" smtClean="0"/>
              <a:t>. Do </a:t>
            </a:r>
            <a:r>
              <a:rPr lang="en-US" dirty="0" err="1" smtClean="0"/>
              <a:t>đó</a:t>
            </a:r>
            <a:r>
              <a:rPr lang="en-US" dirty="0" smtClean="0"/>
              <a:t> </a:t>
            </a:r>
            <a:r>
              <a:rPr lang="en-US" dirty="0" err="1" smtClean="0"/>
              <a:t>khi</a:t>
            </a:r>
            <a:r>
              <a:rPr lang="en-US" dirty="0" smtClean="0"/>
              <a:t> </a:t>
            </a:r>
            <a:r>
              <a:rPr lang="en-US" dirty="0" err="1" smtClean="0"/>
              <a:t>đã</a:t>
            </a:r>
            <a:r>
              <a:rPr lang="en-US" dirty="0" smtClean="0"/>
              <a:t> </a:t>
            </a:r>
            <a:r>
              <a:rPr lang="en-US" dirty="0" err="1" smtClean="0"/>
              <a:t>cộng</a:t>
            </a:r>
            <a:r>
              <a:rPr lang="en-US" dirty="0" smtClean="0"/>
              <a:t> </a:t>
            </a:r>
            <a:r>
              <a:rPr lang="en-US" dirty="0" err="1" smtClean="0"/>
              <a:t>được</a:t>
            </a:r>
            <a:r>
              <a:rPr lang="en-US" dirty="0" smtClean="0"/>
              <a:t> </a:t>
            </a:r>
            <a:r>
              <a:rPr lang="en-US" dirty="0" err="1" smtClean="0"/>
              <a:t>một</a:t>
            </a:r>
            <a:r>
              <a:rPr lang="en-US" dirty="0" smtClean="0"/>
              <a:t> </a:t>
            </a:r>
            <a:r>
              <a:rPr lang="en-US" dirty="0" err="1" smtClean="0"/>
              <a:t>vài</a:t>
            </a:r>
            <a:r>
              <a:rPr lang="en-US" dirty="0" smtClean="0"/>
              <a:t> </a:t>
            </a:r>
            <a:r>
              <a:rPr lang="en-US" dirty="0" err="1" smtClean="0"/>
              <a:t>số</a:t>
            </a:r>
            <a:r>
              <a:rPr lang="en-US" dirty="0" smtClean="0"/>
              <a:t> </a:t>
            </a:r>
            <a:r>
              <a:rPr lang="en-US" dirty="0" err="1" smtClean="0"/>
              <a:t>hạng</a:t>
            </a:r>
            <a:r>
              <a:rPr lang="en-US" dirty="0" smtClean="0"/>
              <a:t> </a:t>
            </a:r>
            <a:r>
              <a:rPr lang="en-US" dirty="0" err="1" smtClean="0"/>
              <a:t>sẽ</a:t>
            </a:r>
            <a:r>
              <a:rPr lang="en-US" dirty="0" smtClean="0"/>
              <a:t> </a:t>
            </a:r>
            <a:r>
              <a:rPr lang="en-US" dirty="0" err="1" smtClean="0"/>
              <a:t>rơi</a:t>
            </a:r>
            <a:r>
              <a:rPr lang="en-US" dirty="0" smtClean="0"/>
              <a:t> </a:t>
            </a:r>
            <a:r>
              <a:rPr lang="en-US" dirty="0" err="1" smtClean="0"/>
              <a:t>vào</a:t>
            </a:r>
            <a:r>
              <a:rPr lang="en-US" dirty="0" smtClean="0"/>
              <a:t> </a:t>
            </a:r>
            <a:r>
              <a:rPr lang="en-US" dirty="0" err="1" smtClean="0"/>
              <a:t>tình</a:t>
            </a:r>
            <a:r>
              <a:rPr lang="en-US" dirty="0" smtClean="0"/>
              <a:t> </a:t>
            </a:r>
            <a:r>
              <a:rPr lang="en-US" dirty="0" err="1" smtClean="0"/>
              <a:t>trạng</a:t>
            </a:r>
            <a:r>
              <a:rPr lang="en-US" dirty="0"/>
              <a:t> </a:t>
            </a:r>
            <a:r>
              <a:rPr lang="en-US" dirty="0" err="1" smtClean="0"/>
              <a:t>cộng</a:t>
            </a:r>
            <a:r>
              <a:rPr lang="en-US" dirty="0" smtClean="0"/>
              <a:t> </a:t>
            </a:r>
            <a:r>
              <a:rPr lang="en-US" dirty="0" err="1" smtClean="0"/>
              <a:t>một</a:t>
            </a:r>
            <a:r>
              <a:rPr lang="en-US" dirty="0" smtClean="0"/>
              <a:t> </a:t>
            </a:r>
            <a:r>
              <a:rPr lang="en-US" dirty="0" err="1" smtClean="0"/>
              <a:t>lượng</a:t>
            </a:r>
            <a:r>
              <a:rPr lang="en-US" dirty="0" smtClean="0"/>
              <a:t> </a:t>
            </a:r>
            <a:r>
              <a:rPr lang="en-US" dirty="0" err="1" smtClean="0"/>
              <a:t>rất</a:t>
            </a:r>
            <a:r>
              <a:rPr lang="en-US" dirty="0" smtClean="0"/>
              <a:t> </a:t>
            </a:r>
            <a:r>
              <a:rPr lang="en-US" dirty="0" err="1" smtClean="0"/>
              <a:t>nhỏ</a:t>
            </a:r>
            <a:r>
              <a:rPr lang="en-US" dirty="0" smtClean="0"/>
              <a:t> </a:t>
            </a:r>
            <a:r>
              <a:rPr lang="en-US" dirty="0" err="1" smtClean="0"/>
              <a:t>vào</a:t>
            </a:r>
            <a:r>
              <a:rPr lang="en-US" dirty="0" smtClean="0"/>
              <a:t> </a:t>
            </a:r>
            <a:r>
              <a:rPr lang="en-US" dirty="0" err="1" smtClean="0"/>
              <a:t>một</a:t>
            </a:r>
            <a:r>
              <a:rPr lang="en-US" dirty="0" smtClean="0"/>
              <a:t> </a:t>
            </a:r>
            <a:r>
              <a:rPr lang="en-US" dirty="0" err="1" smtClean="0"/>
              <a:t>lượng</a:t>
            </a:r>
            <a:r>
              <a:rPr lang="en-US" dirty="0" smtClean="0"/>
              <a:t> </a:t>
            </a:r>
            <a:r>
              <a:rPr lang="en-US" dirty="0" err="1" smtClean="0"/>
              <a:t>đã</a:t>
            </a:r>
            <a:r>
              <a:rPr lang="en-US" dirty="0" smtClean="0"/>
              <a:t> </a:t>
            </a:r>
            <a:r>
              <a:rPr lang="en-US" dirty="0" err="1" smtClean="0"/>
              <a:t>rất</a:t>
            </a:r>
            <a:r>
              <a:rPr lang="en-US" dirty="0" smtClean="0"/>
              <a:t> </a:t>
            </a:r>
            <a:r>
              <a:rPr lang="en-US" dirty="0" err="1" smtClean="0"/>
              <a:t>lớn</a:t>
            </a:r>
            <a:r>
              <a:rPr lang="en-US" dirty="0" smtClean="0"/>
              <a:t>.</a:t>
            </a:r>
            <a:endParaRPr lang="en-US" dirty="0" smtClean="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838200" y="2240660"/>
            <a:ext cx="7973538" cy="857370"/>
          </a:xfrm>
          <a:prstGeom prst="rect">
            <a:avLst/>
          </a:prstGeom>
        </p:spPr>
      </p:pic>
      <p:pic>
        <p:nvPicPr>
          <p:cNvPr id="4" name="Picture 3"/>
          <p:cNvPicPr>
            <a:picLocks noChangeAspect="1"/>
          </p:cNvPicPr>
          <p:nvPr/>
        </p:nvPicPr>
        <p:blipFill>
          <a:blip r:embed="rId2"/>
          <a:stretch>
            <a:fillRect/>
          </a:stretch>
        </p:blipFill>
        <p:spPr>
          <a:xfrm>
            <a:off x="838200" y="829994"/>
            <a:ext cx="7878274" cy="8573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Một</a:t>
            </a:r>
            <a:r>
              <a:rPr lang="en-US" dirty="0" smtClean="0"/>
              <a:t> </a:t>
            </a:r>
            <a:r>
              <a:rPr lang="en-US" dirty="0" err="1" smtClean="0"/>
              <a:t>cách</a:t>
            </a:r>
            <a:r>
              <a:rPr lang="en-US" dirty="0" smtClean="0"/>
              <a:t> </a:t>
            </a:r>
            <a:r>
              <a:rPr lang="en-US" dirty="0" err="1" smtClean="0"/>
              <a:t>để</a:t>
            </a:r>
            <a:r>
              <a:rPr lang="en-US" dirty="0" smtClean="0"/>
              <a:t> </a:t>
            </a:r>
            <a:r>
              <a:rPr lang="en-US" dirty="0" err="1" smtClean="0"/>
              <a:t>giảm</a:t>
            </a:r>
            <a:r>
              <a:rPr lang="en-US" dirty="0" smtClean="0"/>
              <a:t> </a:t>
            </a:r>
            <a:r>
              <a:rPr lang="en-US" dirty="0" err="1" smtClean="0"/>
              <a:t>sai</a:t>
            </a:r>
            <a:r>
              <a:rPr lang="en-US" dirty="0" smtClean="0"/>
              <a:t> </a:t>
            </a:r>
            <a:r>
              <a:rPr lang="en-US" dirty="0" err="1" smtClean="0"/>
              <a:t>số</a:t>
            </a:r>
            <a:r>
              <a:rPr lang="en-US" dirty="0" smtClean="0"/>
              <a:t> </a:t>
            </a:r>
            <a:r>
              <a:rPr lang="en-US" dirty="0" err="1" smtClean="0"/>
              <a:t>là</a:t>
            </a:r>
            <a:r>
              <a:rPr lang="en-US" dirty="0" smtClean="0"/>
              <a:t> </a:t>
            </a:r>
            <a:r>
              <a:rPr lang="en-US" dirty="0" err="1" smtClean="0"/>
              <a:t>tính</a:t>
            </a:r>
            <a:r>
              <a:rPr lang="en-US" dirty="0" smtClean="0"/>
              <a:t> </a:t>
            </a:r>
            <a:r>
              <a:rPr lang="en-US" dirty="0" err="1" smtClean="0"/>
              <a:t>tổng</a:t>
            </a:r>
            <a:r>
              <a:rPr lang="en-US" dirty="0" smtClean="0"/>
              <a:t> </a:t>
            </a:r>
            <a:r>
              <a:rPr lang="en-US" dirty="0" err="1" smtClean="0"/>
              <a:t>theo</a:t>
            </a:r>
            <a:r>
              <a:rPr lang="en-US" dirty="0" smtClean="0"/>
              <a:t> </a:t>
            </a:r>
            <a:r>
              <a:rPr lang="en-US" dirty="0" err="1" smtClean="0"/>
              <a:t>thứ</a:t>
            </a:r>
            <a:r>
              <a:rPr lang="en-US" dirty="0" smtClean="0"/>
              <a:t> </a:t>
            </a:r>
            <a:r>
              <a:rPr lang="en-US" dirty="0" err="1" smtClean="0"/>
              <a:t>tự</a:t>
            </a:r>
            <a:r>
              <a:rPr lang="en-US" dirty="0" smtClean="0"/>
              <a:t> </a:t>
            </a:r>
            <a:r>
              <a:rPr lang="en-US" dirty="0" err="1" smtClean="0"/>
              <a:t>ngược</a:t>
            </a:r>
            <a:r>
              <a:rPr lang="en-US" dirty="0" smtClean="0"/>
              <a:t> </a:t>
            </a:r>
            <a:r>
              <a:rPr lang="en-US" dirty="0" err="1" smtClean="0"/>
              <a:t>lại</a:t>
            </a:r>
            <a:r>
              <a:rPr lang="en-US" dirty="0" smtClean="0"/>
              <a:t> (</a:t>
            </a:r>
            <a:r>
              <a:rPr lang="en-US" dirty="0" err="1" smtClean="0"/>
              <a:t>theo</a:t>
            </a:r>
            <a:r>
              <a:rPr lang="en-US" dirty="0" smtClean="0"/>
              <a:t> </a:t>
            </a:r>
            <a:r>
              <a:rPr lang="en-US" dirty="0" err="1" smtClean="0"/>
              <a:t>thứ</a:t>
            </a:r>
            <a:r>
              <a:rPr lang="en-US" dirty="0" smtClean="0"/>
              <a:t> </a:t>
            </a:r>
            <a:r>
              <a:rPr lang="en-US" dirty="0" err="1" smtClean="0"/>
              <a:t>tự</a:t>
            </a:r>
            <a:r>
              <a:rPr lang="en-US" dirty="0" smtClean="0"/>
              <a:t> </a:t>
            </a:r>
            <a:r>
              <a:rPr lang="en-US" dirty="0" err="1" smtClean="0"/>
              <a:t>tăng</a:t>
            </a:r>
            <a:r>
              <a:rPr lang="en-US" dirty="0" smtClean="0"/>
              <a:t> </a:t>
            </a:r>
            <a:r>
              <a:rPr lang="en-US" dirty="0" err="1" smtClean="0"/>
              <a:t>dần</a:t>
            </a:r>
            <a:r>
              <a:rPr lang="en-US" dirty="0"/>
              <a:t> </a:t>
            </a:r>
            <a:r>
              <a:rPr lang="en-US" dirty="0" err="1" smtClean="0"/>
              <a:t>về</a:t>
            </a:r>
            <a:r>
              <a:rPr lang="en-US" dirty="0" smtClean="0"/>
              <a:t> </a:t>
            </a:r>
            <a:r>
              <a:rPr lang="en-US" dirty="0" err="1" smtClean="0"/>
              <a:t>độ</a:t>
            </a:r>
            <a:r>
              <a:rPr lang="en-US" dirty="0" smtClean="0"/>
              <a:t> </a:t>
            </a:r>
            <a:r>
              <a:rPr lang="en-US" dirty="0" err="1" smtClean="0"/>
              <a:t>lớn</a:t>
            </a:r>
            <a:r>
              <a:rPr lang="en-US" dirty="0" smtClean="0"/>
              <a:t> </a:t>
            </a:r>
            <a:r>
              <a:rPr lang="en-US" dirty="0" err="1" smtClean="0"/>
              <a:t>của</a:t>
            </a:r>
            <a:r>
              <a:rPr lang="en-US" dirty="0" smtClean="0"/>
              <a:t> </a:t>
            </a:r>
            <a:r>
              <a:rPr lang="en-US" dirty="0" err="1" smtClean="0"/>
              <a:t>số</a:t>
            </a:r>
            <a:r>
              <a:rPr lang="en-US" dirty="0" smtClean="0"/>
              <a:t> </a:t>
            </a:r>
            <a:r>
              <a:rPr lang="en-US" dirty="0" err="1" smtClean="0"/>
              <a:t>hạng</a:t>
            </a:r>
            <a:r>
              <a:rPr lang="en-US" dirty="0" smtClean="0"/>
              <a:t>)</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Ví</a:t>
            </a:r>
            <a:r>
              <a:rPr lang="en-US" dirty="0" smtClean="0"/>
              <a:t> </a:t>
            </a:r>
            <a:r>
              <a:rPr lang="en-US" dirty="0" err="1" smtClean="0"/>
              <a:t>dụ</a:t>
            </a:r>
            <a:r>
              <a:rPr lang="en-US" dirty="0" smtClean="0"/>
              <a:t>: </a:t>
            </a:r>
            <a:r>
              <a:rPr lang="en-US" dirty="0" err="1" smtClean="0"/>
              <a:t>Tính</a:t>
            </a:r>
            <a:r>
              <a:rPr lang="en-US" dirty="0" smtClean="0"/>
              <a:t> </a:t>
            </a:r>
            <a:r>
              <a:rPr lang="en-US" dirty="0" err="1" smtClean="0"/>
              <a:t>tổng</a:t>
            </a:r>
            <a:r>
              <a:rPr lang="en-US" dirty="0" smtClean="0"/>
              <a:t> </a:t>
            </a:r>
            <a:r>
              <a:rPr lang="en-US" dirty="0" err="1" smtClean="0"/>
              <a:t>của</a:t>
            </a:r>
            <a:r>
              <a:rPr lang="en-US" dirty="0" smtClean="0"/>
              <a:t> </a:t>
            </a:r>
            <a:r>
              <a:rPr lang="en-US" dirty="0" err="1" smtClean="0"/>
              <a:t>chuỗi</a:t>
            </a:r>
            <a:r>
              <a:rPr lang="en-US" dirty="0" smtClean="0"/>
              <a:t>                  . </a:t>
            </a:r>
            <a:endParaRPr lang="en-US" dirty="0"/>
          </a:p>
        </p:txBody>
      </p:sp>
      <p:pic>
        <p:nvPicPr>
          <p:cNvPr id="2" name="Picture 1"/>
          <p:cNvPicPr>
            <a:picLocks noChangeAspect="1"/>
          </p:cNvPicPr>
          <p:nvPr/>
        </p:nvPicPr>
        <p:blipFill>
          <a:blip r:embed="rId1"/>
          <a:stretch>
            <a:fillRect/>
          </a:stretch>
        </p:blipFill>
        <p:spPr>
          <a:xfrm>
            <a:off x="4760772" y="715255"/>
            <a:ext cx="1657581" cy="1038370"/>
          </a:xfrm>
          <a:prstGeom prst="rect">
            <a:avLst/>
          </a:prstGeom>
        </p:spPr>
      </p:pic>
      <p:pic>
        <p:nvPicPr>
          <p:cNvPr id="4" name="Picture 3"/>
          <p:cNvPicPr>
            <a:picLocks noChangeAspect="1"/>
          </p:cNvPicPr>
          <p:nvPr/>
        </p:nvPicPr>
        <p:blipFill>
          <a:blip r:embed="rId2"/>
          <a:stretch>
            <a:fillRect/>
          </a:stretch>
        </p:blipFill>
        <p:spPr>
          <a:xfrm>
            <a:off x="2493505" y="2124430"/>
            <a:ext cx="7849695" cy="43535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solidFill>
                  <a:srgbClr val="00B0F0"/>
                </a:solidFill>
              </a:rPr>
              <a:t>Triệt</a:t>
            </a:r>
            <a:r>
              <a:rPr lang="en-US" dirty="0" smtClean="0">
                <a:solidFill>
                  <a:srgbClr val="00B0F0"/>
                </a:solidFill>
              </a:rPr>
              <a:t> </a:t>
            </a:r>
            <a:r>
              <a:rPr lang="en-US" dirty="0" err="1" smtClean="0">
                <a:solidFill>
                  <a:srgbClr val="00B0F0"/>
                </a:solidFill>
              </a:rPr>
              <a:t>tiêu</a:t>
            </a:r>
            <a:r>
              <a:rPr lang="en-US" dirty="0" smtClean="0">
                <a:solidFill>
                  <a:srgbClr val="00B0F0"/>
                </a:solidFill>
              </a:rPr>
              <a:t> do </a:t>
            </a:r>
            <a:r>
              <a:rPr lang="en-US" dirty="0" err="1" smtClean="0">
                <a:solidFill>
                  <a:srgbClr val="00B0F0"/>
                </a:solidFill>
              </a:rPr>
              <a:t>phép</a:t>
            </a:r>
            <a:r>
              <a:rPr lang="en-US" dirty="0" smtClean="0">
                <a:solidFill>
                  <a:srgbClr val="00B0F0"/>
                </a:solidFill>
              </a:rPr>
              <a:t> </a:t>
            </a:r>
            <a:r>
              <a:rPr lang="en-US" dirty="0" err="1" smtClean="0">
                <a:solidFill>
                  <a:srgbClr val="00B0F0"/>
                </a:solidFill>
              </a:rPr>
              <a:t>trừ</a:t>
            </a:r>
            <a:endParaRPr lang="en-US" dirty="0" smtClean="0">
              <a:solidFill>
                <a:srgbClr val="00B0F0"/>
              </a:solidFill>
            </a:endParaRPr>
          </a:p>
          <a:p>
            <a:pPr marL="0" indent="0" algn="just">
              <a:lnSpc>
                <a:spcPct val="150000"/>
              </a:lnSpc>
              <a:buNone/>
            </a:pPr>
            <a:r>
              <a:rPr lang="en-US" dirty="0" err="1" smtClean="0"/>
              <a:t>Phát</a:t>
            </a:r>
            <a:r>
              <a:rPr lang="en-US" dirty="0" smtClean="0"/>
              <a:t> </a:t>
            </a:r>
            <a:r>
              <a:rPr lang="en-US" dirty="0" err="1" smtClean="0"/>
              <a:t>sinh</a:t>
            </a:r>
            <a:r>
              <a:rPr lang="en-US" dirty="0" smtClean="0"/>
              <a:t> </a:t>
            </a:r>
            <a:r>
              <a:rPr lang="en-US" dirty="0" err="1" smtClean="0"/>
              <a:t>khi</a:t>
            </a:r>
            <a:r>
              <a:rPr lang="en-US" dirty="0" smtClean="0"/>
              <a:t> </a:t>
            </a:r>
            <a:r>
              <a:rPr lang="en-US" dirty="0" err="1" smtClean="0"/>
              <a:t>trừ</a:t>
            </a:r>
            <a:r>
              <a:rPr lang="en-US" dirty="0" smtClean="0"/>
              <a:t> </a:t>
            </a:r>
            <a:r>
              <a:rPr lang="en-US" dirty="0" err="1" smtClean="0"/>
              <a:t>hai</a:t>
            </a:r>
            <a:r>
              <a:rPr lang="en-US" dirty="0" smtClean="0"/>
              <a:t> </a:t>
            </a:r>
            <a:r>
              <a:rPr lang="en-US" dirty="0" err="1" smtClean="0"/>
              <a:t>số</a:t>
            </a:r>
            <a:r>
              <a:rPr lang="en-US" dirty="0" smtClean="0"/>
              <a:t> </a:t>
            </a:r>
            <a:r>
              <a:rPr lang="en-US" dirty="0" err="1" smtClean="0"/>
              <a:t>dấu</a:t>
            </a:r>
            <a:r>
              <a:rPr lang="en-US" dirty="0" smtClean="0"/>
              <a:t> </a:t>
            </a:r>
            <a:r>
              <a:rPr lang="en-US" dirty="0" err="1" smtClean="0"/>
              <a:t>phấy</a:t>
            </a:r>
            <a:r>
              <a:rPr lang="en-US" dirty="0" smtClean="0"/>
              <a:t> </a:t>
            </a:r>
            <a:r>
              <a:rPr lang="en-US" dirty="0" err="1" smtClean="0"/>
              <a:t>động</a:t>
            </a:r>
            <a:r>
              <a:rPr lang="en-US" dirty="0" smtClean="0"/>
              <a:t> </a:t>
            </a:r>
            <a:r>
              <a:rPr lang="en-US" dirty="0" err="1" smtClean="0"/>
              <a:t>có</a:t>
            </a:r>
            <a:r>
              <a:rPr lang="en-US" dirty="0" smtClean="0"/>
              <a:t> </a:t>
            </a:r>
            <a:r>
              <a:rPr lang="en-US" dirty="0" err="1" smtClean="0"/>
              <a:t>giá</a:t>
            </a:r>
            <a:r>
              <a:rPr lang="en-US" dirty="0" smtClean="0"/>
              <a:t> </a:t>
            </a:r>
            <a:r>
              <a:rPr lang="en-US" dirty="0" err="1" smtClean="0"/>
              <a:t>trị</a:t>
            </a:r>
            <a:r>
              <a:rPr lang="en-US" dirty="0" smtClean="0"/>
              <a:t> </a:t>
            </a:r>
            <a:r>
              <a:rPr lang="en-US" dirty="0" err="1" smtClean="0"/>
              <a:t>gần</a:t>
            </a:r>
            <a:r>
              <a:rPr lang="en-US" dirty="0" smtClean="0"/>
              <a:t> </a:t>
            </a:r>
            <a:r>
              <a:rPr lang="en-US" dirty="0" err="1" smtClean="0"/>
              <a:t>như</a:t>
            </a:r>
            <a:r>
              <a:rPr lang="en-US" dirty="0" smtClean="0"/>
              <a:t> </a:t>
            </a:r>
            <a:r>
              <a:rPr lang="en-US" dirty="0" err="1" smtClean="0"/>
              <a:t>nhau</a:t>
            </a:r>
            <a:r>
              <a:rPr lang="en-US" dirty="0" smtClean="0"/>
              <a:t>.</a:t>
            </a:r>
            <a:endParaRPr lang="en-US" dirty="0" smtClean="0"/>
          </a:p>
          <a:p>
            <a:pPr marL="0" indent="0" algn="just">
              <a:lnSpc>
                <a:spcPct val="150000"/>
              </a:lnSpc>
              <a:buNone/>
            </a:pPr>
            <a:r>
              <a:rPr lang="en-US" dirty="0" err="1" smtClean="0"/>
              <a:t>Ví</a:t>
            </a:r>
            <a:r>
              <a:rPr lang="en-US" dirty="0" smtClean="0"/>
              <a:t> </a:t>
            </a:r>
            <a:r>
              <a:rPr lang="en-US" dirty="0" err="1" smtClean="0"/>
              <a:t>dụ</a:t>
            </a:r>
            <a:r>
              <a:rPr lang="en-US" dirty="0" smtClean="0"/>
              <a:t>: </a:t>
            </a:r>
            <a:endParaRPr lang="en-US" dirty="0" smtClean="0"/>
          </a:p>
          <a:p>
            <a:pPr marL="0" indent="0" algn="just">
              <a:lnSpc>
                <a:spcPct val="150000"/>
              </a:lnSpc>
              <a:buNone/>
            </a:pPr>
            <a:endParaRPr lang="en-US" dirty="0"/>
          </a:p>
          <a:p>
            <a:pPr marL="0" indent="0" algn="just">
              <a:lnSpc>
                <a:spcPct val="150000"/>
              </a:lnSpc>
              <a:buNone/>
            </a:pPr>
            <a:endParaRPr lang="en-US" dirty="0" smtClean="0"/>
          </a:p>
          <a:p>
            <a:pPr marL="0" indent="0" algn="just">
              <a:lnSpc>
                <a:spcPct val="150000"/>
              </a:lnSpc>
              <a:buNone/>
            </a:pPr>
            <a:r>
              <a:rPr lang="en-US" dirty="0" err="1" smtClean="0"/>
              <a:t>Trong</a:t>
            </a:r>
            <a:r>
              <a:rPr lang="en-US" dirty="0" smtClean="0"/>
              <a:t> </a:t>
            </a:r>
            <a:r>
              <a:rPr lang="en-US" dirty="0" err="1" smtClean="0"/>
              <a:t>trường</a:t>
            </a:r>
            <a:r>
              <a:rPr lang="en-US" dirty="0" smtClean="0"/>
              <a:t> </a:t>
            </a:r>
            <a:r>
              <a:rPr lang="en-US" dirty="0" err="1" smtClean="0"/>
              <a:t>hợp</a:t>
            </a:r>
            <a:r>
              <a:rPr lang="en-US" dirty="0" smtClean="0"/>
              <a:t> b</a:t>
            </a:r>
            <a:r>
              <a:rPr lang="en-US" baseline="30000" dirty="0" smtClean="0"/>
              <a:t>2</a:t>
            </a:r>
            <a:r>
              <a:rPr lang="en-US" dirty="0" smtClean="0"/>
              <a:t> </a:t>
            </a:r>
            <a:r>
              <a:rPr lang="en-US" dirty="0" err="1" smtClean="0"/>
              <a:t>lớn</a:t>
            </a:r>
            <a:r>
              <a:rPr lang="en-US" dirty="0" smtClean="0"/>
              <a:t> </a:t>
            </a:r>
            <a:r>
              <a:rPr lang="en-US" dirty="0" err="1" smtClean="0"/>
              <a:t>hơn</a:t>
            </a:r>
            <a:r>
              <a:rPr lang="en-US" dirty="0" smtClean="0"/>
              <a:t> </a:t>
            </a:r>
            <a:r>
              <a:rPr lang="en-US" dirty="0" err="1" smtClean="0"/>
              <a:t>rất</a:t>
            </a:r>
            <a:r>
              <a:rPr lang="en-US" dirty="0" smtClean="0"/>
              <a:t> </a:t>
            </a:r>
            <a:r>
              <a:rPr lang="en-US" dirty="0" err="1" smtClean="0"/>
              <a:t>nhiều</a:t>
            </a:r>
            <a:r>
              <a:rPr lang="en-US" dirty="0" smtClean="0"/>
              <a:t> 4ac, </a:t>
            </a:r>
            <a:r>
              <a:rPr lang="en-US" dirty="0" err="1" smtClean="0"/>
              <a:t>hiệu</a:t>
            </a:r>
            <a:r>
              <a:rPr lang="en-US" dirty="0" smtClean="0"/>
              <a:t> </a:t>
            </a:r>
            <a:r>
              <a:rPr lang="en-US" dirty="0" err="1" smtClean="0"/>
              <a:t>số</a:t>
            </a:r>
            <a:r>
              <a:rPr lang="en-US" dirty="0" smtClean="0"/>
              <a:t> ở </a:t>
            </a:r>
            <a:r>
              <a:rPr lang="en-US" dirty="0" err="1" smtClean="0"/>
              <a:t>tử</a:t>
            </a:r>
            <a:r>
              <a:rPr lang="en-US" dirty="0" smtClean="0"/>
              <a:t> </a:t>
            </a:r>
            <a:r>
              <a:rPr lang="en-US" dirty="0" err="1" smtClean="0"/>
              <a:t>số</a:t>
            </a:r>
            <a:r>
              <a:rPr lang="en-US" dirty="0" smtClean="0"/>
              <a:t> </a:t>
            </a:r>
            <a:r>
              <a:rPr lang="en-US" dirty="0" err="1" smtClean="0"/>
              <a:t>trở</a:t>
            </a:r>
            <a:r>
              <a:rPr lang="en-US" dirty="0" smtClean="0"/>
              <a:t> </a:t>
            </a:r>
            <a:r>
              <a:rPr lang="en-US" dirty="0" err="1" smtClean="0"/>
              <a:t>nên</a:t>
            </a:r>
            <a:r>
              <a:rPr lang="en-US" dirty="0" smtClean="0"/>
              <a:t> </a:t>
            </a:r>
            <a:r>
              <a:rPr lang="en-US" dirty="0" err="1" smtClean="0"/>
              <a:t>rất</a:t>
            </a:r>
            <a:r>
              <a:rPr lang="en-US" dirty="0" smtClean="0"/>
              <a:t> </a:t>
            </a:r>
            <a:r>
              <a:rPr lang="en-US" dirty="0" err="1" smtClean="0"/>
              <a:t>nhỏ</a:t>
            </a:r>
            <a:r>
              <a:rPr lang="en-US" dirty="0" smtClean="0"/>
              <a:t>.</a:t>
            </a:r>
            <a:endParaRPr lang="en-US" dirty="0"/>
          </a:p>
        </p:txBody>
      </p:sp>
      <p:pic>
        <p:nvPicPr>
          <p:cNvPr id="2" name="Picture 1"/>
          <p:cNvPicPr>
            <a:picLocks noChangeAspect="1"/>
          </p:cNvPicPr>
          <p:nvPr/>
        </p:nvPicPr>
        <p:blipFill>
          <a:blip r:embed="rId1"/>
          <a:stretch>
            <a:fillRect/>
          </a:stretch>
        </p:blipFill>
        <p:spPr>
          <a:xfrm>
            <a:off x="3986267" y="3084761"/>
            <a:ext cx="3318603" cy="109728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FontTx/>
              <a:buNone/>
            </a:pPr>
            <a:r>
              <a:rPr lang="en-US" dirty="0" err="1" smtClean="0"/>
              <a:t>Một số cách làm giảm sai số làm tròn:</a:t>
            </a:r>
            <a:endParaRPr lang="en-US" dirty="0" err="1" smtClean="0"/>
          </a:p>
          <a:p>
            <a:pPr algn="just">
              <a:lnSpc>
                <a:spcPct val="150000"/>
              </a:lnSpc>
              <a:buFontTx/>
              <a:buChar char="-"/>
            </a:pPr>
            <a:r>
              <a:rPr lang="en-US" dirty="0" err="1" smtClean="0"/>
              <a:t>Sử</a:t>
            </a:r>
            <a:r>
              <a:rPr lang="en-US" dirty="0" smtClean="0"/>
              <a:t> </a:t>
            </a:r>
            <a:r>
              <a:rPr lang="en-US" dirty="0" err="1" smtClean="0"/>
              <a:t>dụng</a:t>
            </a:r>
            <a:r>
              <a:rPr lang="en-US" dirty="0" smtClean="0"/>
              <a:t> </a:t>
            </a:r>
            <a:r>
              <a:rPr lang="en-US" dirty="0" err="1" smtClean="0"/>
              <a:t>độ</a:t>
            </a:r>
            <a:r>
              <a:rPr lang="en-US" dirty="0" smtClean="0"/>
              <a:t> </a:t>
            </a:r>
            <a:r>
              <a:rPr lang="en-US" dirty="0" err="1" smtClean="0"/>
              <a:t>chụm</a:t>
            </a:r>
            <a:r>
              <a:rPr lang="en-US" dirty="0" smtClean="0"/>
              <a:t> </a:t>
            </a:r>
            <a:r>
              <a:rPr lang="en-US" dirty="0" err="1" smtClean="0"/>
              <a:t>kép</a:t>
            </a:r>
            <a:r>
              <a:rPr lang="en-US" dirty="0" smtClean="0"/>
              <a:t>.</a:t>
            </a:r>
            <a:endParaRPr lang="en-US" dirty="0" smtClean="0"/>
          </a:p>
          <a:p>
            <a:pPr algn="just">
              <a:lnSpc>
                <a:spcPct val="150000"/>
              </a:lnSpc>
              <a:buFontTx/>
              <a:buChar char="-"/>
            </a:pPr>
            <a:r>
              <a:rPr lang="en-US" dirty="0" err="1" smtClean="0"/>
              <a:t>Biến</a:t>
            </a:r>
            <a:r>
              <a:rPr lang="en-US" dirty="0" smtClean="0"/>
              <a:t> </a:t>
            </a:r>
            <a:r>
              <a:rPr lang="en-US" dirty="0" err="1" smtClean="0"/>
              <a:t>đổi</a:t>
            </a:r>
            <a:r>
              <a:rPr lang="en-US" dirty="0" smtClean="0"/>
              <a:t> </a:t>
            </a:r>
            <a:r>
              <a:rPr lang="en-US" dirty="0" err="1" smtClean="0"/>
              <a:t>công</a:t>
            </a:r>
            <a:r>
              <a:rPr lang="en-US" dirty="0" smtClean="0"/>
              <a:t> </a:t>
            </a:r>
            <a:r>
              <a:rPr lang="en-US" dirty="0" err="1" smtClean="0"/>
              <a:t>thức</a:t>
            </a:r>
            <a:endParaRPr lang="en-US" dirty="0"/>
          </a:p>
        </p:txBody>
      </p:sp>
      <p:pic>
        <p:nvPicPr>
          <p:cNvPr id="2" name="Picture 1"/>
          <p:cNvPicPr>
            <a:picLocks noChangeAspect="1"/>
          </p:cNvPicPr>
          <p:nvPr/>
        </p:nvPicPr>
        <p:blipFill>
          <a:blip r:embed="rId1"/>
          <a:stretch>
            <a:fillRect/>
          </a:stretch>
        </p:blipFill>
        <p:spPr>
          <a:xfrm>
            <a:off x="4370636" y="3153822"/>
            <a:ext cx="3183037" cy="100584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Ví</a:t>
            </a:r>
            <a:r>
              <a:rPr lang="en-US" dirty="0" smtClean="0"/>
              <a:t> </a:t>
            </a:r>
            <a:r>
              <a:rPr lang="en-US" dirty="0" err="1" smtClean="0"/>
              <a:t>dụ</a:t>
            </a:r>
            <a:r>
              <a:rPr lang="en-US" dirty="0" smtClean="0"/>
              <a:t>: </a:t>
            </a:r>
            <a:r>
              <a:rPr lang="en-US" dirty="0" err="1" smtClean="0"/>
              <a:t>Xác</a:t>
            </a:r>
            <a:r>
              <a:rPr lang="en-US" dirty="0" smtClean="0"/>
              <a:t> </a:t>
            </a:r>
            <a:r>
              <a:rPr lang="en-US" dirty="0" err="1" smtClean="0"/>
              <a:t>định</a:t>
            </a:r>
            <a:r>
              <a:rPr lang="en-US" dirty="0" smtClean="0"/>
              <a:t> </a:t>
            </a:r>
            <a:r>
              <a:rPr lang="en-US" dirty="0" err="1" smtClean="0"/>
              <a:t>nghiệm</a:t>
            </a:r>
            <a:r>
              <a:rPr lang="en-US" dirty="0" smtClean="0"/>
              <a:t> </a:t>
            </a:r>
            <a:r>
              <a:rPr lang="en-US" dirty="0" err="1" smtClean="0"/>
              <a:t>của</a:t>
            </a:r>
            <a:r>
              <a:rPr lang="en-US" dirty="0" smtClean="0"/>
              <a:t> </a:t>
            </a:r>
            <a:r>
              <a:rPr lang="en-US" dirty="0" err="1" smtClean="0"/>
              <a:t>phương</a:t>
            </a:r>
            <a:r>
              <a:rPr lang="en-US" dirty="0" smtClean="0"/>
              <a:t> </a:t>
            </a:r>
            <a:r>
              <a:rPr lang="en-US" dirty="0" err="1" smtClean="0"/>
              <a:t>trình</a:t>
            </a:r>
            <a:r>
              <a:rPr lang="en-US" dirty="0" smtClean="0"/>
              <a:t> </a:t>
            </a:r>
            <a:r>
              <a:rPr lang="en-US" dirty="0" err="1" smtClean="0"/>
              <a:t>bậc</a:t>
            </a:r>
            <a:r>
              <a:rPr lang="en-US" dirty="0" smtClean="0"/>
              <a:t> 2 </a:t>
            </a:r>
            <a:r>
              <a:rPr lang="en-US" dirty="0" err="1" smtClean="0"/>
              <a:t>với</a:t>
            </a:r>
            <a:r>
              <a:rPr lang="en-US" dirty="0" smtClean="0"/>
              <a:t> a = 1, b = 62.10 </a:t>
            </a:r>
            <a:r>
              <a:rPr lang="en-US" dirty="0" err="1" smtClean="0"/>
              <a:t>và</a:t>
            </a:r>
            <a:r>
              <a:rPr lang="en-US" dirty="0" smtClean="0"/>
              <a:t> c = 3 </a:t>
            </a:r>
            <a:r>
              <a:rPr lang="en-US" dirty="0" err="1" smtClean="0"/>
              <a:t>chỉ</a:t>
            </a:r>
            <a:r>
              <a:rPr lang="en-US" dirty="0" smtClean="0"/>
              <a:t> </a:t>
            </a:r>
            <a:r>
              <a:rPr lang="en-US" dirty="0" err="1" smtClean="0"/>
              <a:t>sử</a:t>
            </a:r>
            <a:r>
              <a:rPr lang="en-US" dirty="0" smtClean="0"/>
              <a:t> </a:t>
            </a:r>
            <a:r>
              <a:rPr lang="en-US" dirty="0" err="1" smtClean="0"/>
              <a:t>dụng</a:t>
            </a:r>
            <a:r>
              <a:rPr lang="en-US" dirty="0" smtClean="0"/>
              <a:t> 4 </a:t>
            </a:r>
            <a:r>
              <a:rPr lang="en-US" dirty="0" err="1" smtClean="0"/>
              <a:t>chữ</a:t>
            </a:r>
            <a:r>
              <a:rPr lang="en-US" dirty="0" smtClean="0"/>
              <a:t> </a:t>
            </a:r>
            <a:r>
              <a:rPr lang="en-US" dirty="0" err="1" smtClean="0"/>
              <a:t>số</a:t>
            </a:r>
            <a:r>
              <a:rPr lang="en-US" dirty="0" smtClean="0"/>
              <a:t> </a:t>
            </a:r>
            <a:r>
              <a:rPr lang="en-US" dirty="0" err="1" smtClean="0"/>
              <a:t>có</a:t>
            </a:r>
            <a:r>
              <a:rPr lang="en-US" dirty="0" smtClean="0"/>
              <a:t> </a:t>
            </a:r>
            <a:r>
              <a:rPr lang="en-US" dirty="0" err="1" smtClean="0"/>
              <a:t>nghĩa</a:t>
            </a:r>
            <a:r>
              <a:rPr lang="en-US" dirty="0" smtClean="0"/>
              <a:t>.</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838200" y="829994"/>
            <a:ext cx="7335274" cy="2324424"/>
          </a:xfrm>
          <a:prstGeom prst="rect">
            <a:avLst/>
          </a:prstGeom>
        </p:spPr>
      </p:pic>
      <p:pic>
        <p:nvPicPr>
          <p:cNvPr id="4" name="Picture 3"/>
          <p:cNvPicPr>
            <a:picLocks noChangeAspect="1"/>
          </p:cNvPicPr>
          <p:nvPr/>
        </p:nvPicPr>
        <p:blipFill>
          <a:blip r:embed="rId2"/>
          <a:stretch>
            <a:fillRect/>
          </a:stretch>
        </p:blipFill>
        <p:spPr>
          <a:xfrm>
            <a:off x="1014973" y="3193386"/>
            <a:ext cx="4563112" cy="381053"/>
          </a:xfrm>
          <a:prstGeom prst="rect">
            <a:avLst/>
          </a:prstGeom>
        </p:spPr>
      </p:pic>
      <p:pic>
        <p:nvPicPr>
          <p:cNvPr id="5" name="Picture 4"/>
          <p:cNvPicPr>
            <a:picLocks noChangeAspect="1"/>
          </p:cNvPicPr>
          <p:nvPr/>
        </p:nvPicPr>
        <p:blipFill>
          <a:blip r:embed="rId3"/>
          <a:stretch>
            <a:fillRect/>
          </a:stretch>
        </p:blipFill>
        <p:spPr>
          <a:xfrm>
            <a:off x="3894684" y="4143936"/>
            <a:ext cx="7459116" cy="2019582"/>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endParaRPr lang="en-US" dirty="0"/>
          </a:p>
        </p:txBody>
      </p:sp>
      <p:pic>
        <p:nvPicPr>
          <p:cNvPr id="2" name="Picture 1"/>
          <p:cNvPicPr>
            <a:picLocks noChangeAspect="1"/>
          </p:cNvPicPr>
          <p:nvPr/>
        </p:nvPicPr>
        <p:blipFill>
          <a:blip r:embed="rId1"/>
          <a:stretch>
            <a:fillRect/>
          </a:stretch>
        </p:blipFill>
        <p:spPr>
          <a:xfrm>
            <a:off x="838200" y="829994"/>
            <a:ext cx="7763958" cy="4439270"/>
          </a:xfrm>
          <a:prstGeom prst="rect">
            <a:avLst/>
          </a:prstGeom>
        </p:spPr>
      </p:pic>
      <p:pic>
        <p:nvPicPr>
          <p:cNvPr id="4" name="Picture 3"/>
          <p:cNvPicPr>
            <a:picLocks noChangeAspect="1"/>
          </p:cNvPicPr>
          <p:nvPr/>
        </p:nvPicPr>
        <p:blipFill>
          <a:blip r:embed="rId2"/>
          <a:stretch>
            <a:fillRect/>
          </a:stretch>
        </p:blipFill>
        <p:spPr>
          <a:xfrm>
            <a:off x="5342686" y="5361113"/>
            <a:ext cx="6011114" cy="7240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994"/>
            <a:ext cx="10515600" cy="5346969"/>
          </a:xfrm>
        </p:spPr>
        <p:txBody>
          <a:bodyPr/>
          <a:lstStyle/>
          <a:p>
            <a:pPr marL="0" indent="0" algn="just">
              <a:lnSpc>
                <a:spcPct val="150000"/>
              </a:lnSpc>
              <a:buNone/>
            </a:pPr>
            <a:r>
              <a:rPr lang="en-US" dirty="0" err="1" smtClean="0"/>
              <a:t>Bài</a:t>
            </a:r>
            <a:r>
              <a:rPr lang="en-US" dirty="0" smtClean="0"/>
              <a:t> </a:t>
            </a:r>
            <a:r>
              <a:rPr lang="en-US" dirty="0" err="1" smtClean="0"/>
              <a:t>tập</a:t>
            </a:r>
            <a:r>
              <a:rPr lang="en-US" dirty="0" smtClean="0"/>
              <a:t> </a:t>
            </a:r>
            <a:r>
              <a:rPr lang="en-US" dirty="0" err="1" smtClean="0"/>
              <a:t>trang</a:t>
            </a:r>
            <a:r>
              <a:rPr lang="en-US" dirty="0" smtClean="0"/>
              <a:t> 81 – </a:t>
            </a:r>
            <a:endParaRPr lang="en-US" dirty="0" smtClean="0"/>
          </a:p>
          <a:p>
            <a:pPr marL="0" indent="0" algn="just">
              <a:lnSpc>
                <a:spcPct val="150000"/>
              </a:lnSpc>
              <a:buNone/>
            </a:pPr>
            <a:r>
              <a:rPr lang="en-US" dirty="0" smtClean="0"/>
              <a:t>3.6, 3.7, 3.8, 3.9, 3.11, 3.12</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7591</Words>
  <Application>WPS Presentation</Application>
  <PresentationFormat>Widescreen</PresentationFormat>
  <Paragraphs>195</Paragraphs>
  <Slides>51</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13</vt:i4>
      </vt:variant>
      <vt:variant>
        <vt:lpstr>幻灯片标题</vt:lpstr>
      </vt:variant>
      <vt:variant>
        <vt:i4>51</vt:i4>
      </vt:variant>
    </vt:vector>
  </HeadingPairs>
  <TitlesOfParts>
    <vt:vector size="73" baseType="lpstr">
      <vt:lpstr>Arial</vt:lpstr>
      <vt:lpstr>SimSun</vt:lpstr>
      <vt:lpstr>Wingdings</vt:lpstr>
      <vt:lpstr>Calibri (Body)</vt:lpstr>
      <vt:lpstr>Calibri</vt:lpstr>
      <vt:lpstr>Calibri Light</vt:lpstr>
      <vt:lpstr>Microsoft YaHei</vt:lpstr>
      <vt:lpstr>Arial Unicode MS</vt:lpstr>
      <vt:lpstr>Office Theme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Chương 1. Xấp xỉ và sai số làm tròn</vt:lpstr>
      <vt:lpstr>I. Chữ số có nghĩa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II. Độ chính xác và độ chụm</vt:lpstr>
      <vt:lpstr>PowerPoint 演示文稿</vt:lpstr>
      <vt:lpstr>PowerPoint 演示文稿</vt:lpstr>
      <vt:lpstr>III. Các loại sai số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IV. Sai số làm tròn (Round-off error)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Xấp xỉ và sai số làm tròn</dc:title>
  <dc:creator>Admin</dc:creator>
  <cp:lastModifiedBy>HP</cp:lastModifiedBy>
  <cp:revision>50</cp:revision>
  <dcterms:created xsi:type="dcterms:W3CDTF">2026-01-18T01:55:00Z</dcterms:created>
  <dcterms:modified xsi:type="dcterms:W3CDTF">2026-02-16T02:53:19Z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4AE1949E997C45929FA199CC9744A908_12</vt:lpwstr>
  </property>
  <property fmtid="{D5CDD505-2E9C-101B-9397-08002B2CF9AE}" pid="3" name="KSOProductBuildVer">
    <vt:lpwstr>1033-12.2.0.23196</vt:lpwstr>
  </property>
</Properties>
</file>