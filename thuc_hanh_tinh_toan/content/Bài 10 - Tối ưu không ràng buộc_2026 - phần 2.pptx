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62" r:id="rId3"/>
    <p:sldId id="363" r:id="rId4"/>
    <p:sldId id="364" r:id="rId5"/>
    <p:sldId id="371" r:id="rId6"/>
    <p:sldId id="372" r:id="rId7"/>
    <p:sldId id="373" r:id="rId8"/>
    <p:sldId id="374" r:id="rId9"/>
    <p:sldId id="375" r:id="rId10"/>
    <p:sldId id="377" r:id="rId11"/>
    <p:sldId id="378" r:id="rId12"/>
    <p:sldId id="379" r:id="rId13"/>
    <p:sldId id="376" r:id="rId14"/>
    <p:sldId id="380" r:id="rId15"/>
    <p:sldId id="381" r:id="rId16"/>
    <p:sldId id="382" r:id="rId17"/>
    <p:sldId id="384" r:id="rId18"/>
    <p:sldId id="38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996"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8174C9A-5072-419A-8D4E-E4817F9BD5D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3ED55-9AAB-469C-80D9-E9F2E79D5DC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8174C9A-5072-419A-8D4E-E4817F9BD5D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3ED55-9AAB-469C-80D9-E9F2E79D5DC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78174C9A-5072-419A-8D4E-E4817F9BD5D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3ED55-9AAB-469C-80D9-E9F2E79D5DC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8174C9A-5072-419A-8D4E-E4817F9BD5D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13ED55-9AAB-469C-80D9-E9F2E79D5DC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8174C9A-5072-419A-8D4E-E4817F9BD5D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13ED55-9AAB-469C-80D9-E9F2E79D5DC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8174C9A-5072-419A-8D4E-E4817F9BD5D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13ED55-9AAB-469C-80D9-E9F2E79D5DC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174C9A-5072-419A-8D4E-E4817F9BD5DA}"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13ED55-9AAB-469C-80D9-E9F2E79D5DC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78174C9A-5072-419A-8D4E-E4817F9BD5D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13ED55-9AAB-469C-80D9-E9F2E79D5DC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78174C9A-5072-419A-8D4E-E4817F9BD5D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13ED55-9AAB-469C-80D9-E9F2E79D5DC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8174C9A-5072-419A-8D4E-E4817F9BD5D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3ED55-9AAB-469C-80D9-E9F2E79D5DC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8174C9A-5072-419A-8D4E-E4817F9BD5D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3ED55-9AAB-469C-80D9-E9F2E79D5DC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174C9A-5072-419A-8D4E-E4817F9BD5DA}"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13ED55-9AAB-469C-80D9-E9F2E79D5DC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b="1" u="sng" dirty="0"/>
              <a:t>I. Bài toán tối ưu không ràng buộc hai chiều</a:t>
            </a:r>
            <a:endParaRPr lang="en-US" altLang="en-US" b="1" u="sng" dirty="0"/>
          </a:p>
          <a:p>
            <a:pPr marL="0" indent="0" algn="just">
              <a:lnSpc>
                <a:spcPct val="150000"/>
              </a:lnSpc>
              <a:buNone/>
            </a:pPr>
            <a:r>
              <a:rPr lang="en-US" altLang="en-US" dirty="0"/>
              <a:t> Phương pháp Gradient</a:t>
            </a:r>
            <a:endParaRPr lang="en-US" altLang="en-US" dirty="0"/>
          </a:p>
          <a:p>
            <a:pPr marL="0" indent="0" algn="just">
              <a:lnSpc>
                <a:spcPct val="150000"/>
              </a:lnSpc>
              <a:buNone/>
            </a:pPr>
            <a:r>
              <a:rPr lang="en-US" altLang="en-US" dirty="0"/>
              <a:t>   Các ph</a:t>
            </a:r>
            <a:r>
              <a:rPr lang="en-US" altLang="en-US" dirty="0"/>
              <a:t>ư</a:t>
            </a:r>
            <a:r>
              <a:rPr lang="en-US" altLang="en-US" dirty="0"/>
              <a:t>ơng pháp gradient sử dụng một cách r</a:t>
            </a:r>
            <a:r>
              <a:rPr lang="en-US" altLang="en-US" dirty="0"/>
              <a:t>õ</a:t>
            </a:r>
            <a:r>
              <a:rPr lang="en-US" altLang="en-US" dirty="0"/>
              <a:t> ràng thông tin về </a:t>
            </a:r>
            <a:r>
              <a:rPr lang="en-US" altLang="en-US" dirty="0"/>
              <a:t>đ</a:t>
            </a:r>
            <a:r>
              <a:rPr lang="en-US" altLang="en-US" dirty="0"/>
              <a:t>ạo hàm </a:t>
            </a:r>
            <a:r>
              <a:rPr lang="en-US" altLang="en-US" dirty="0"/>
              <a:t>đ</a:t>
            </a:r>
            <a:r>
              <a:rPr lang="en-US" altLang="en-US" dirty="0"/>
              <a:t>ể tạo ra các thuật toán hiệu quả nhằm xác </a:t>
            </a:r>
            <a:r>
              <a:rPr lang="en-US" altLang="en-US" dirty="0"/>
              <a:t>đ</a:t>
            </a:r>
            <a:r>
              <a:rPr lang="en-US" altLang="en-US" dirty="0"/>
              <a:t>ịnh vị trí tối </a:t>
            </a:r>
            <a:r>
              <a:rPr lang="en-US" altLang="en-US" dirty="0"/>
              <a:t>ư</a:t>
            </a:r>
            <a:r>
              <a:rPr lang="en-US" altLang="en-US" dirty="0"/>
              <a:t>u</a:t>
            </a:r>
            <a:endParaRPr lang="en-US" altLang="en-US" dirty="0"/>
          </a:p>
          <a:p>
            <a:pPr marL="0" indent="0" algn="just">
              <a:lnSpc>
                <a:spcPct val="150000"/>
              </a:lnSpc>
              <a:buNone/>
            </a:pPr>
            <a:endParaRPr lang="en-US"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Gradient và Hessian</a:t>
            </a:r>
            <a:endParaRPr lang="en-US" altLang="en-US" dirty="0"/>
          </a:p>
          <a:p>
            <a:pPr marL="0" indent="0" algn="just">
              <a:lnSpc>
                <a:spcPct val="150000"/>
              </a:lnSpc>
              <a:buNone/>
            </a:pPr>
            <a:r>
              <a:rPr lang="en-US" altLang="en-US" dirty="0"/>
              <a:t>- Gradient: Xét hàm số 2 biến số f(x,y). Vector gradient của hàm số f tại (x, y) là</a:t>
            </a:r>
            <a:endParaRPr lang="en-US" altLang="en-US" dirty="0"/>
          </a:p>
          <a:p>
            <a:pPr marL="0" indent="0" algn="just">
              <a:lnSpc>
                <a:spcPct val="150000"/>
              </a:lnSpc>
              <a:buNone/>
            </a:pPr>
            <a:endParaRPr lang="en-US" altLang="en-US" dirty="0"/>
          </a:p>
          <a:p>
            <a:pPr marL="0" indent="0" algn="just">
              <a:lnSpc>
                <a:spcPct val="150000"/>
              </a:lnSpc>
              <a:buNone/>
            </a:pPr>
            <a:endParaRPr lang="en-US" altLang="en-US" dirty="0"/>
          </a:p>
          <a:p>
            <a:pPr marL="0" indent="0" algn="just">
              <a:lnSpc>
                <a:spcPct val="150000"/>
              </a:lnSpc>
              <a:buNone/>
            </a:pPr>
            <a:endParaRPr lang="en-US" altLang="en-US" dirty="0"/>
          </a:p>
        </p:txBody>
      </p:sp>
      <p:pic>
        <p:nvPicPr>
          <p:cNvPr id="2" name="Picture 1"/>
          <p:cNvPicPr>
            <a:picLocks noChangeAspect="1"/>
          </p:cNvPicPr>
          <p:nvPr/>
        </p:nvPicPr>
        <p:blipFill>
          <a:blip r:embed="rId1"/>
          <a:stretch>
            <a:fillRect/>
          </a:stretch>
        </p:blipFill>
        <p:spPr>
          <a:xfrm>
            <a:off x="5006340" y="2998470"/>
            <a:ext cx="2179320" cy="86106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sym typeface="+mn-ea"/>
              </a:rPr>
              <a:t>Vector gradient cho biết:</a:t>
            </a:r>
            <a:endParaRPr lang="en-US" altLang="en-US" dirty="0">
              <a:sym typeface="+mn-ea"/>
            </a:endParaRPr>
          </a:p>
          <a:p>
            <a:pPr algn="just">
              <a:lnSpc>
                <a:spcPct val="150000"/>
              </a:lnSpc>
            </a:pPr>
            <a:r>
              <a:rPr lang="en-US" altLang="en-US" dirty="0"/>
              <a:t>Theo hướng của nó hàm số tăng/giảm nhanh nhất tại thời điểm (x, y).</a:t>
            </a:r>
            <a:endParaRPr lang="en-US" altLang="en-US" dirty="0"/>
          </a:p>
          <a:p>
            <a:pPr algn="just">
              <a:lnSpc>
                <a:spcPct val="150000"/>
              </a:lnSpc>
            </a:pPr>
            <a:r>
              <a:rPr lang="en-US" altLang="en-US" dirty="0"/>
              <a:t>Lượng tăng/giảm của hàm số khi dịch chuyển theo hướng này.</a:t>
            </a:r>
            <a:endParaRPr lang="en-US" altLang="en-US" dirty="0"/>
          </a:p>
          <a:p>
            <a:pPr marL="0" indent="0" algn="just">
              <a:lnSpc>
                <a:spcPct val="150000"/>
              </a:lnSpc>
              <a:buNone/>
            </a:pPr>
            <a:endParaRPr lang="en-US"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Ví dụ: Hãy sử dụng gradient </a:t>
            </a:r>
            <a:r>
              <a:rPr lang="en-US" altLang="en-US" dirty="0"/>
              <a:t>để xác </a:t>
            </a:r>
            <a:r>
              <a:rPr lang="en-US" altLang="en-US" dirty="0"/>
              <a:t>định h</a:t>
            </a:r>
            <a:r>
              <a:rPr lang="en-US" altLang="en-US" dirty="0"/>
              <a:t>ướng </a:t>
            </a:r>
            <a:r>
              <a:rPr lang="en-US" altLang="en-US" dirty="0"/>
              <a:t>đi lên dốc nhanh nhất cho hàm số: f(x, y) = xy</a:t>
            </a:r>
            <a:r>
              <a:rPr lang="en-US" altLang="en-US" baseline="30000" dirty="0"/>
              <a:t>2</a:t>
            </a:r>
            <a:r>
              <a:rPr lang="en-US" altLang="en-US" dirty="0"/>
              <a:t> tại </a:t>
            </a:r>
            <a:r>
              <a:rPr lang="en-US" altLang="en-US" dirty="0"/>
              <a:t>đ</a:t>
            </a:r>
            <a:r>
              <a:rPr lang="en-US" altLang="en-US" dirty="0"/>
              <a:t>iểm (2, 2). Giả sử rằng h</a:t>
            </a:r>
            <a:r>
              <a:rPr lang="en-US" altLang="en-US" dirty="0"/>
              <a:t>ư</a:t>
            </a:r>
            <a:r>
              <a:rPr lang="en-US" altLang="en-US" dirty="0"/>
              <a:t>ớng x d</a:t>
            </a:r>
            <a:r>
              <a:rPr lang="en-US" altLang="en-US" dirty="0"/>
              <a:t>ư</a:t>
            </a:r>
            <a:r>
              <a:rPr lang="en-US" altLang="en-US" dirty="0"/>
              <a:t>ơng là h</a:t>
            </a:r>
            <a:r>
              <a:rPr lang="en-US" altLang="en-US" dirty="0"/>
              <a:t>ư</a:t>
            </a:r>
            <a:r>
              <a:rPr lang="en-US" altLang="en-US" dirty="0"/>
              <a:t>ớng </a:t>
            </a:r>
            <a:r>
              <a:rPr lang="en-US" altLang="en-US" dirty="0"/>
              <a:t>Đ</a:t>
            </a:r>
            <a:r>
              <a:rPr lang="en-US" altLang="en-US" dirty="0"/>
              <a:t>ông và h</a:t>
            </a:r>
            <a:r>
              <a:rPr lang="en-US" altLang="en-US" dirty="0"/>
              <a:t>ư</a:t>
            </a:r>
            <a:r>
              <a:rPr lang="en-US" altLang="en-US" dirty="0"/>
              <a:t>ớng y d</a:t>
            </a:r>
            <a:r>
              <a:rPr lang="en-US" altLang="en-US" dirty="0"/>
              <a:t>ư</a:t>
            </a:r>
            <a:r>
              <a:rPr lang="en-US" altLang="en-US" dirty="0"/>
              <a:t>ơng là h</a:t>
            </a:r>
            <a:r>
              <a:rPr lang="en-US" altLang="en-US" dirty="0"/>
              <a:t>ư</a:t>
            </a:r>
            <a:r>
              <a:rPr lang="en-US" altLang="en-US" dirty="0"/>
              <a:t>ớng Bắc.</a:t>
            </a:r>
            <a:endParaRPr lang="en-US" altLang="en-US" dirty="0"/>
          </a:p>
          <a:p>
            <a:pPr marL="0" indent="0" algn="just">
              <a:lnSpc>
                <a:spcPct val="150000"/>
              </a:lnSpc>
              <a:buNone/>
            </a:pPr>
            <a:r>
              <a:rPr lang="en-US" altLang="en-US" dirty="0"/>
              <a:t>LG: </a:t>
            </a:r>
            <a:endParaRPr lang="en-US" altLang="en-US" dirty="0"/>
          </a:p>
        </p:txBody>
      </p:sp>
      <p:pic>
        <p:nvPicPr>
          <p:cNvPr id="2" name="Picture 1"/>
          <p:cNvPicPr>
            <a:picLocks noChangeAspect="1"/>
          </p:cNvPicPr>
          <p:nvPr/>
        </p:nvPicPr>
        <p:blipFill>
          <a:blip r:embed="rId1"/>
          <a:stretch>
            <a:fillRect/>
          </a:stretch>
        </p:blipFill>
        <p:spPr>
          <a:xfrm>
            <a:off x="1319530" y="3646170"/>
            <a:ext cx="1546860" cy="434340"/>
          </a:xfrm>
          <a:prstGeom prst="rect">
            <a:avLst/>
          </a:prstGeom>
        </p:spPr>
      </p:pic>
      <p:pic>
        <p:nvPicPr>
          <p:cNvPr id="4" name="Picture 3"/>
          <p:cNvPicPr>
            <a:picLocks noChangeAspect="1"/>
          </p:cNvPicPr>
          <p:nvPr/>
        </p:nvPicPr>
        <p:blipFill>
          <a:blip r:embed="rId2"/>
          <a:stretch>
            <a:fillRect/>
          </a:stretch>
        </p:blipFill>
        <p:spPr>
          <a:xfrm>
            <a:off x="1319530" y="4438650"/>
            <a:ext cx="4572000" cy="777240"/>
          </a:xfrm>
          <a:prstGeom prst="rect">
            <a:avLst/>
          </a:prstGeom>
        </p:spPr>
      </p:pic>
      <p:pic>
        <p:nvPicPr>
          <p:cNvPr id="5" name="Picture 4"/>
          <p:cNvPicPr>
            <a:picLocks noChangeAspect="1"/>
          </p:cNvPicPr>
          <p:nvPr/>
        </p:nvPicPr>
        <p:blipFill>
          <a:blip r:embed="rId3"/>
          <a:stretch>
            <a:fillRect/>
          </a:stretch>
        </p:blipFill>
        <p:spPr>
          <a:xfrm>
            <a:off x="7633335" y="2522855"/>
            <a:ext cx="4346517" cy="429768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Đ</a:t>
            </a:r>
            <a:r>
              <a:rPr lang="en-US" altLang="en-US" dirty="0"/>
              <a:t>ộ dốc theo h</a:t>
            </a:r>
            <a:r>
              <a:rPr lang="en-US" altLang="en-US" dirty="0"/>
              <a:t>ư</a:t>
            </a:r>
            <a:r>
              <a:rPr lang="en-US" altLang="en-US" dirty="0"/>
              <a:t>ớng này, chính là </a:t>
            </a:r>
            <a:r>
              <a:rPr lang="en-US" altLang="en-US" dirty="0"/>
              <a:t>đ</a:t>
            </a:r>
            <a:r>
              <a:rPr lang="en-US" altLang="en-US" dirty="0"/>
              <a:t>ộ lớn </a:t>
            </a:r>
            <a:r>
              <a:rPr lang="en-US" altLang="en-US" dirty="0">
                <a:latin typeface="Microsoft YaHei" panose="020B0503020204020204" charset="-122"/>
                <a:ea typeface="Microsoft YaHei" panose="020B0503020204020204" charset="-122"/>
              </a:rPr>
              <a:t>∇</a:t>
            </a:r>
            <a:r>
              <a:rPr lang="en-US" altLang="en-US" dirty="0"/>
              <a:t>f, là</a:t>
            </a:r>
            <a:endParaRPr lang="en-US" altLang="en-US" dirty="0"/>
          </a:p>
          <a:p>
            <a:pPr marL="0" indent="0" algn="just">
              <a:lnSpc>
                <a:spcPct val="150000"/>
              </a:lnSpc>
              <a:buNone/>
            </a:pPr>
            <a:endParaRPr lang="en-US" altLang="en-US" dirty="0"/>
          </a:p>
          <a:p>
            <a:pPr marL="0" indent="0" algn="just">
              <a:lnSpc>
                <a:spcPct val="150000"/>
              </a:lnSpc>
              <a:buNone/>
            </a:pPr>
            <a:r>
              <a:rPr lang="en-US" altLang="en-US" dirty="0"/>
              <a:t>Vì vậy, trong b</a:t>
            </a:r>
            <a:r>
              <a:rPr lang="en-US" altLang="en-US" dirty="0"/>
              <a:t>ư</a:t>
            </a:r>
            <a:r>
              <a:rPr lang="en-US" altLang="en-US" dirty="0"/>
              <a:t>ớc </a:t>
            </a:r>
            <a:r>
              <a:rPr lang="en-US" altLang="en-US" dirty="0"/>
              <a:t>đ</a:t>
            </a:r>
            <a:r>
              <a:rPr lang="en-US" altLang="en-US" dirty="0"/>
              <a:t>i </a:t>
            </a:r>
            <a:r>
              <a:rPr lang="en-US" altLang="en-US" dirty="0"/>
              <a:t>đ</a:t>
            </a:r>
            <a:r>
              <a:rPr lang="en-US" altLang="en-US" dirty="0"/>
              <a:t>ầu tiên, ban </a:t>
            </a:r>
            <a:r>
              <a:rPr lang="en-US" altLang="en-US" dirty="0"/>
              <a:t>đ</a:t>
            </a:r>
            <a:r>
              <a:rPr lang="en-US" altLang="en-US" dirty="0"/>
              <a:t>ầu chúng ta sẽ t</a:t>
            </a:r>
            <a:r>
              <a:rPr lang="en-US" altLang="en-US" dirty="0"/>
              <a:t>ă</a:t>
            </a:r>
            <a:r>
              <a:rPr lang="en-US" altLang="en-US" dirty="0"/>
              <a:t>ng </a:t>
            </a:r>
            <a:r>
              <a:rPr lang="en-US" altLang="en-US" dirty="0"/>
              <a:t>đư</a:t>
            </a:r>
            <a:r>
              <a:rPr lang="en-US" altLang="en-US" dirty="0"/>
              <a:t>ợc 8.944 </a:t>
            </a:r>
            <a:r>
              <a:rPr lang="en-US" altLang="en-US" dirty="0"/>
              <a:t>đ</a:t>
            </a:r>
            <a:r>
              <a:rPr lang="en-US" altLang="en-US" dirty="0"/>
              <a:t>ơn vị </a:t>
            </a:r>
            <a:r>
              <a:rPr lang="en-US" altLang="en-US" dirty="0"/>
              <a:t>đ</a:t>
            </a:r>
            <a:r>
              <a:rPr lang="en-US" altLang="en-US" dirty="0"/>
              <a:t>ộ cao cho mỗi một </a:t>
            </a:r>
            <a:r>
              <a:rPr lang="en-US" altLang="en-US" dirty="0"/>
              <a:t>đ</a:t>
            </a:r>
            <a:r>
              <a:rPr lang="en-US" altLang="en-US" dirty="0"/>
              <a:t>ơn vị khoảng cách tiến lên dọc theo con </a:t>
            </a:r>
            <a:r>
              <a:rPr lang="en-US" altLang="en-US" dirty="0"/>
              <a:t>đư</a:t>
            </a:r>
            <a:r>
              <a:rPr lang="en-US" altLang="en-US" dirty="0"/>
              <a:t>ờng dốc nhất này.</a:t>
            </a:r>
            <a:endParaRPr lang="en-US" altLang="en-US" dirty="0"/>
          </a:p>
          <a:p>
            <a:pPr marL="0" indent="0" algn="just">
              <a:lnSpc>
                <a:spcPct val="150000"/>
              </a:lnSpc>
              <a:buNone/>
            </a:pPr>
            <a:endParaRPr lang="en-US" altLang="en-US" dirty="0"/>
          </a:p>
        </p:txBody>
      </p:sp>
      <p:pic>
        <p:nvPicPr>
          <p:cNvPr id="2" name="Picture 1"/>
          <p:cNvPicPr>
            <a:picLocks noChangeAspect="1"/>
          </p:cNvPicPr>
          <p:nvPr/>
        </p:nvPicPr>
        <p:blipFill>
          <a:blip r:embed="rId1"/>
          <a:stretch>
            <a:fillRect/>
          </a:stretch>
        </p:blipFill>
        <p:spPr>
          <a:xfrm>
            <a:off x="5361305" y="1497330"/>
            <a:ext cx="2366682" cy="73152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 Khi di chuyển, cả h</a:t>
            </a:r>
            <a:r>
              <a:rPr lang="en-US" altLang="en-US" dirty="0"/>
              <a:t>ư</a:t>
            </a:r>
            <a:r>
              <a:rPr lang="en-US" altLang="en-US" dirty="0"/>
              <a:t>ớng và </a:t>
            </a:r>
            <a:r>
              <a:rPr lang="en-US" altLang="en-US" dirty="0"/>
              <a:t>đ</a:t>
            </a:r>
            <a:r>
              <a:rPr lang="en-US" altLang="en-US" dirty="0"/>
              <a:t>ộ lớn của con </a:t>
            </a:r>
            <a:r>
              <a:rPr lang="en-US" altLang="en-US" dirty="0"/>
              <a:t>đư</a:t>
            </a:r>
            <a:r>
              <a:rPr lang="en-US" altLang="en-US" dirty="0"/>
              <a:t>ờng dốc nhất </a:t>
            </a:r>
            <a:r>
              <a:rPr lang="en-US" altLang="en-US" dirty="0"/>
              <a:t>đ</a:t>
            </a:r>
            <a:r>
              <a:rPr lang="en-US" altLang="en-US" dirty="0"/>
              <a:t>ều sẽ thay </a:t>
            </a:r>
            <a:r>
              <a:rPr lang="en-US" altLang="en-US" dirty="0"/>
              <a:t>đ</a:t>
            </a:r>
            <a:r>
              <a:rPr lang="en-US" altLang="en-US" dirty="0"/>
              <a:t>ổi. </a:t>
            </a:r>
            <a:r>
              <a:rPr lang="en-US" dirty="0"/>
              <a:t>Do đó sau mỗi bước</a:t>
            </a:r>
            <a:r>
              <a:rPr lang="en-US" altLang="en-US" dirty="0"/>
              <a:t> h</a:t>
            </a:r>
            <a:r>
              <a:rPr lang="en-US" altLang="en-US" dirty="0"/>
              <a:t>ư</a:t>
            </a:r>
            <a:r>
              <a:rPr lang="en-US" altLang="en-US" dirty="0"/>
              <a:t>ớng leo núi sẽ </a:t>
            </a:r>
            <a:r>
              <a:rPr lang="en-US" altLang="en-US" dirty="0"/>
              <a:t>đư</a:t>
            </a:r>
            <a:r>
              <a:rPr lang="en-US" altLang="en-US" dirty="0"/>
              <a:t>ợc </a:t>
            </a:r>
            <a:r>
              <a:rPr lang="en-US" altLang="en-US" dirty="0"/>
              <a:t>đ</a:t>
            </a:r>
            <a:r>
              <a:rPr lang="en-US" altLang="en-US" dirty="0"/>
              <a:t>iều chỉnh t</a:t>
            </a:r>
            <a:r>
              <a:rPr lang="en-US" altLang="en-US" dirty="0"/>
              <a:t>ư</a:t>
            </a:r>
            <a:r>
              <a:rPr lang="en-US" altLang="en-US" dirty="0"/>
              <a:t>ơng ứng.</a:t>
            </a:r>
            <a:endParaRPr lang="en-US" altLang="en-US" dirty="0"/>
          </a:p>
          <a:p>
            <a:pPr marL="0" indent="0" algn="just">
              <a:lnSpc>
                <a:spcPct val="150000"/>
              </a:lnSpc>
              <a:buNone/>
            </a:pPr>
            <a:r>
              <a:rPr lang="en-US" altLang="en-US" dirty="0"/>
              <a:t>- H</a:t>
            </a:r>
            <a:r>
              <a:rPr lang="en-US" altLang="en-US" dirty="0"/>
              <a:t>ư</a:t>
            </a:r>
            <a:r>
              <a:rPr lang="en-US" altLang="en-US" dirty="0"/>
              <a:t>ớng </a:t>
            </a:r>
            <a:r>
              <a:rPr lang="en-US" altLang="en-US" dirty="0"/>
              <a:t>đ</a:t>
            </a:r>
            <a:r>
              <a:rPr lang="en-US" altLang="en-US" dirty="0"/>
              <a:t>i lên dốc nhanh nhất sẽ vuông góc (trực giao) với </a:t>
            </a:r>
            <a:r>
              <a:rPr lang="en-US" altLang="en-US" dirty="0"/>
              <a:t>đư</a:t>
            </a:r>
            <a:r>
              <a:rPr lang="en-US" altLang="en-US" dirty="0"/>
              <a:t>ờng </a:t>
            </a:r>
            <a:r>
              <a:rPr lang="en-US" altLang="en-US" dirty="0"/>
              <a:t>đ</a:t>
            </a:r>
            <a:r>
              <a:rPr lang="en-US" altLang="en-US" dirty="0"/>
              <a:t>ồng mức tại tọa </a:t>
            </a:r>
            <a:r>
              <a:rPr lang="en-US" altLang="en-US" dirty="0"/>
              <a:t>đ</a:t>
            </a:r>
            <a:r>
              <a:rPr lang="en-US" altLang="en-US" dirty="0"/>
              <a:t>ộ (2, 2). </a:t>
            </a:r>
            <a:r>
              <a:rPr lang="en-US" altLang="en-US" dirty="0"/>
              <a:t>Đ</a:t>
            </a:r>
            <a:r>
              <a:rPr lang="en-US" altLang="en-US" dirty="0"/>
              <a:t>ây là một </a:t>
            </a:r>
            <a:r>
              <a:rPr lang="en-US" altLang="en-US" dirty="0"/>
              <a:t>đ</a:t>
            </a:r>
            <a:r>
              <a:rPr lang="en-US" altLang="en-US" dirty="0"/>
              <a:t>ặc </a:t>
            </a:r>
            <a:r>
              <a:rPr lang="en-US" altLang="en-US" dirty="0"/>
              <a:t>đ</a:t>
            </a:r>
            <a:r>
              <a:rPr lang="en-US" altLang="en-US" dirty="0"/>
              <a:t>iểm tổng quát của gradient.</a:t>
            </a:r>
            <a:endParaRPr lang="en-US"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 Hessian: Là ma trận vuông với các hàng là đạo hàm riêng bậc hai của hàm số nhiều biến số lần lượt theo các biến số. Định thức của ma trận Hessian cung cấp thông tin liệu các điểm dừng của hàm số có là điểm cực trị. </a:t>
            </a:r>
            <a:endParaRPr lang="en-US"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Với hàm số 2 biến số f(x,y), ma trận Hessian của f là</a:t>
            </a:r>
            <a:endParaRPr lang="en-US" altLang="en-US" dirty="0"/>
          </a:p>
          <a:p>
            <a:pPr marL="0" indent="0" algn="just">
              <a:lnSpc>
                <a:spcPct val="150000"/>
              </a:lnSpc>
              <a:buNone/>
            </a:pPr>
            <a:endParaRPr lang="en-US" altLang="en-US" dirty="0"/>
          </a:p>
          <a:p>
            <a:pPr marL="0" indent="0" algn="just">
              <a:lnSpc>
                <a:spcPct val="150000"/>
              </a:lnSpc>
              <a:buNone/>
            </a:pPr>
            <a:endParaRPr lang="en-US" altLang="en-US" dirty="0"/>
          </a:p>
          <a:p>
            <a:pPr marL="0" indent="0" algn="just">
              <a:lnSpc>
                <a:spcPct val="150000"/>
              </a:lnSpc>
              <a:buNone/>
            </a:pPr>
            <a:endParaRPr lang="en-US" altLang="en-US" dirty="0"/>
          </a:p>
          <a:p>
            <a:pPr marL="0" indent="0" algn="just">
              <a:lnSpc>
                <a:spcPct val="150000"/>
              </a:lnSpc>
              <a:buNone/>
            </a:pPr>
            <a:r>
              <a:rPr lang="en-US" altLang="en-US" dirty="0"/>
              <a:t>- Nếu |H| &gt; 0 và h</a:t>
            </a:r>
            <a:r>
              <a:rPr lang="en-US" altLang="en-US" baseline="-25000" dirty="0"/>
              <a:t>11</a:t>
            </a:r>
            <a:r>
              <a:rPr lang="en-US" altLang="en-US" dirty="0"/>
              <a:t> &gt; 0 hàm số đạt cực tiểu tại (x,y)</a:t>
            </a:r>
            <a:endParaRPr lang="en-US" altLang="en-US" dirty="0"/>
          </a:p>
          <a:p>
            <a:pPr marL="0" indent="0" algn="just">
              <a:lnSpc>
                <a:spcPct val="150000"/>
              </a:lnSpc>
              <a:buNone/>
            </a:pPr>
            <a:r>
              <a:rPr lang="en-US" altLang="en-US" dirty="0"/>
              <a:t>- Nếu |H| &gt; 0 và h</a:t>
            </a:r>
            <a:r>
              <a:rPr lang="en-US" altLang="en-US" baseline="-25000" dirty="0"/>
              <a:t>11</a:t>
            </a:r>
            <a:r>
              <a:rPr lang="en-US" altLang="en-US" dirty="0"/>
              <a:t> &lt; 0 hàm số đạt cực đại tại (x,y)</a:t>
            </a:r>
            <a:endParaRPr lang="en-US" altLang="en-US" dirty="0"/>
          </a:p>
          <a:p>
            <a:pPr marL="0" indent="0" algn="just">
              <a:lnSpc>
                <a:spcPct val="150000"/>
              </a:lnSpc>
              <a:buNone/>
            </a:pPr>
            <a:r>
              <a:rPr lang="en-US" altLang="en-US" dirty="0"/>
              <a:t>- Nếu |H| &lt; 0 hàm số có điểm yên ngựa tại (x, y)</a:t>
            </a:r>
            <a:endParaRPr lang="en-US" altLang="en-US" dirty="0"/>
          </a:p>
        </p:txBody>
      </p:sp>
      <p:pic>
        <p:nvPicPr>
          <p:cNvPr id="2" name="Picture 1"/>
          <p:cNvPicPr>
            <a:picLocks noChangeAspect="1"/>
          </p:cNvPicPr>
          <p:nvPr/>
        </p:nvPicPr>
        <p:blipFill>
          <a:blip r:embed="rId1"/>
          <a:stretch>
            <a:fillRect/>
          </a:stretch>
        </p:blipFill>
        <p:spPr>
          <a:xfrm>
            <a:off x="4552950" y="1664970"/>
            <a:ext cx="2712720" cy="157734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Ph</a:t>
            </a:r>
            <a:r>
              <a:rPr lang="en-US" altLang="en-US" dirty="0"/>
              <a:t>ư</a:t>
            </a:r>
            <a:r>
              <a:rPr lang="en-US" altLang="en-US" dirty="0"/>
              <a:t>ơng pháp Leo dốc nhanh nhất:</a:t>
            </a:r>
            <a:endParaRPr lang="en-US" altLang="en-US" dirty="0"/>
          </a:p>
          <a:p>
            <a:pPr marL="0" indent="0" algn="just">
              <a:lnSpc>
                <a:spcPct val="150000"/>
              </a:lnSpc>
              <a:buNone/>
            </a:pPr>
            <a:r>
              <a:rPr lang="en-US" altLang="en-US" dirty="0"/>
              <a:t>- Di chuyển theo một </a:t>
            </a:r>
            <a:r>
              <a:rPr lang="en-US" altLang="en-US" dirty="0"/>
              <a:t>đư</a:t>
            </a:r>
            <a:r>
              <a:rPr lang="en-US" altLang="en-US" dirty="0"/>
              <a:t>ờng cố </a:t>
            </a:r>
            <a:r>
              <a:rPr lang="en-US" altLang="en-US" dirty="0"/>
              <a:t>đ</a:t>
            </a:r>
            <a:r>
              <a:rPr lang="en-US" altLang="en-US" dirty="0"/>
              <a:t>ịnh dọc theo h</a:t>
            </a:r>
            <a:r>
              <a:rPr lang="en-US" altLang="en-US" dirty="0"/>
              <a:t>ư</a:t>
            </a:r>
            <a:r>
              <a:rPr lang="en-US" altLang="en-US" dirty="0"/>
              <a:t>ớng gradient ban </a:t>
            </a:r>
            <a:r>
              <a:rPr lang="en-US" altLang="en-US" dirty="0"/>
              <a:t>đ</a:t>
            </a:r>
            <a:r>
              <a:rPr lang="en-US" altLang="en-US" dirty="0"/>
              <a:t>ầu cho </a:t>
            </a:r>
            <a:r>
              <a:rPr lang="en-US" altLang="en-US" dirty="0"/>
              <a:t>đ</a:t>
            </a:r>
            <a:r>
              <a:rPr lang="en-US" altLang="en-US" dirty="0"/>
              <a:t>ến khi f(x, y) ngừng t</a:t>
            </a:r>
            <a:r>
              <a:rPr lang="en-US" altLang="en-US" dirty="0"/>
              <a:t>ă</a:t>
            </a:r>
            <a:r>
              <a:rPr lang="en-US" altLang="en-US" dirty="0"/>
              <a:t>ng. </a:t>
            </a:r>
            <a:r>
              <a:rPr lang="en-US" altLang="en-US" dirty="0"/>
              <a:t>Đ</a:t>
            </a:r>
            <a:r>
              <a:rPr lang="en-US" altLang="en-US" dirty="0"/>
              <a:t>iểm dừng này sẽ trở thành </a:t>
            </a:r>
            <a:r>
              <a:rPr lang="en-US" altLang="en-US" dirty="0"/>
              <a:t>đ</a:t>
            </a:r>
            <a:r>
              <a:rPr lang="en-US" altLang="en-US" dirty="0"/>
              <a:t>iểm bắt </a:t>
            </a:r>
            <a:r>
              <a:rPr lang="en-US" altLang="en-US" dirty="0"/>
              <a:t>đ</a:t>
            </a:r>
            <a:r>
              <a:rPr lang="en-US" altLang="en-US" dirty="0"/>
              <a:t>ầu mới, tại </a:t>
            </a:r>
            <a:r>
              <a:rPr lang="en-US" altLang="en-US" dirty="0"/>
              <a:t>đ</a:t>
            </a:r>
            <a:r>
              <a:rPr lang="en-US" altLang="en-US" dirty="0"/>
              <a:t>ó </a:t>
            </a:r>
            <a:r>
              <a:rPr lang="en-US" altLang="en-US" dirty="0">
                <a:latin typeface="Microsoft YaHei" panose="020B0503020204020204" charset="-122"/>
                <a:ea typeface="Microsoft YaHei" panose="020B0503020204020204" charset="-122"/>
                <a:sym typeface="+mn-ea"/>
              </a:rPr>
              <a:t>∇</a:t>
            </a:r>
            <a:r>
              <a:rPr lang="en-US" altLang="en-US" dirty="0"/>
              <a:t>f </a:t>
            </a:r>
            <a:r>
              <a:rPr lang="en-US" altLang="en-US" dirty="0"/>
              <a:t>đư</a:t>
            </a:r>
            <a:r>
              <a:rPr lang="en-US" altLang="en-US" dirty="0"/>
              <a:t>ợc </a:t>
            </a:r>
            <a:r>
              <a:rPr lang="en-US" altLang="en-US" dirty="0"/>
              <a:t>đ</a:t>
            </a:r>
            <a:r>
              <a:rPr lang="en-US" altLang="en-US" dirty="0"/>
              <a:t>ánh giá lại và một h</a:t>
            </a:r>
            <a:r>
              <a:rPr lang="en-US" altLang="en-US" dirty="0"/>
              <a:t>ư</a:t>
            </a:r>
            <a:r>
              <a:rPr lang="en-US" altLang="en-US" dirty="0"/>
              <a:t>ớng </a:t>
            </a:r>
            <a:r>
              <a:rPr lang="en-US" altLang="en-US" dirty="0"/>
              <a:t>đ</a:t>
            </a:r>
            <a:r>
              <a:rPr lang="en-US" altLang="en-US" dirty="0"/>
              <a:t>i mới </a:t>
            </a:r>
            <a:r>
              <a:rPr lang="en-US" altLang="en-US" dirty="0"/>
              <a:t>đư</a:t>
            </a:r>
            <a:r>
              <a:rPr lang="en-US" altLang="en-US" dirty="0"/>
              <a:t>ợc thiết lập. Quá trình này lặp lại cho </a:t>
            </a:r>
            <a:r>
              <a:rPr lang="en-US" altLang="en-US" dirty="0"/>
              <a:t>đ</a:t>
            </a:r>
            <a:r>
              <a:rPr lang="en-US" altLang="en-US" dirty="0"/>
              <a:t>ến khi chạm tới </a:t>
            </a:r>
            <a:r>
              <a:rPr lang="en-US" altLang="en-US" dirty="0"/>
              <a:t>đ</a:t>
            </a:r>
            <a:r>
              <a:rPr lang="en-US" altLang="en-US" dirty="0"/>
              <a:t>ỉnh.</a:t>
            </a:r>
            <a:endParaRPr lang="en-US"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Bài toán được chia thành lặp hai giai đoạn</a:t>
            </a:r>
            <a:endParaRPr lang="en-US" altLang="en-US" dirty="0"/>
          </a:p>
          <a:p>
            <a:pPr marL="0" indent="0" algn="just">
              <a:lnSpc>
                <a:spcPct val="150000"/>
              </a:lnSpc>
              <a:buNone/>
            </a:pPr>
            <a:r>
              <a:rPr lang="en-US" altLang="en-US" dirty="0"/>
              <a:t>(1) Xác định hướng tăng nhanh nhất</a:t>
            </a:r>
            <a:endParaRPr lang="en-US" altLang="en-US" dirty="0"/>
          </a:p>
          <a:p>
            <a:pPr marL="0" indent="0" algn="just">
              <a:lnSpc>
                <a:spcPct val="150000"/>
              </a:lnSpc>
              <a:buNone/>
            </a:pPr>
            <a:r>
              <a:rPr lang="en-US" altLang="en-US" dirty="0"/>
              <a:t>(2) Xác định khoảng dịch chuyển tốt nhất theo hướng này</a:t>
            </a:r>
            <a:endParaRPr lang="en-US"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 Xuất phát từ vị trí ban đầu (x</a:t>
            </a:r>
            <a:r>
              <a:rPr lang="en-US" altLang="en-US" baseline="-25000" dirty="0"/>
              <a:t>0</a:t>
            </a:r>
            <a:r>
              <a:rPr lang="en-US" altLang="en-US" dirty="0"/>
              <a:t>, y</a:t>
            </a:r>
            <a:r>
              <a:rPr lang="en-US" altLang="en-US" baseline="-25000" dirty="0"/>
              <a:t>0</a:t>
            </a:r>
            <a:r>
              <a:rPr lang="en-US" altLang="en-US" dirty="0"/>
              <a:t>), tọa độ của một điểm bất kì theo hướng của véc-tơ gradient là</a:t>
            </a:r>
            <a:endParaRPr lang="en-US" altLang="en-US" dirty="0"/>
          </a:p>
          <a:p>
            <a:pPr marL="0" indent="0" algn="just">
              <a:lnSpc>
                <a:spcPct val="150000"/>
              </a:lnSpc>
              <a:buNone/>
            </a:pPr>
            <a:endParaRPr lang="en-US" altLang="en-US" dirty="0"/>
          </a:p>
          <a:p>
            <a:pPr marL="0" indent="0" algn="just">
              <a:lnSpc>
                <a:spcPct val="150000"/>
              </a:lnSpc>
              <a:buNone/>
            </a:pPr>
            <a:endParaRPr lang="en-US" altLang="en-US" dirty="0"/>
          </a:p>
          <a:p>
            <a:pPr marL="0" indent="0" algn="just">
              <a:lnSpc>
                <a:spcPct val="150000"/>
              </a:lnSpc>
              <a:buNone/>
            </a:pPr>
            <a:r>
              <a:rPr lang="en-US" altLang="en-US" dirty="0"/>
              <a:t>- Thế (x, y) vào hàm f(x, y) ta được hàm g(h). Cần xác định h sao cho g(h) đạt cực đại. Khi này phương pháp đi tới điểm cực đại dọc theo hướng của véc-tơ gradient được gọi là phương pháp leo dốc tối ưu.</a:t>
            </a:r>
            <a:endParaRPr lang="en-US" altLang="en-US" dirty="0"/>
          </a:p>
        </p:txBody>
      </p:sp>
      <p:pic>
        <p:nvPicPr>
          <p:cNvPr id="2" name="Picture 1"/>
          <p:cNvPicPr>
            <a:picLocks noChangeAspect="1"/>
          </p:cNvPicPr>
          <p:nvPr/>
        </p:nvPicPr>
        <p:blipFill>
          <a:blip r:embed="rId1"/>
          <a:stretch>
            <a:fillRect/>
          </a:stretch>
        </p:blipFill>
        <p:spPr>
          <a:xfrm>
            <a:off x="4917440" y="2109470"/>
            <a:ext cx="1836420" cy="150114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Ví dụ: Sử dụng pp leo dốc tối ưu, xác định điểm cực đại của hàm số:</a:t>
            </a:r>
            <a:endParaRPr lang="en-US" altLang="en-US" dirty="0"/>
          </a:p>
          <a:p>
            <a:pPr marL="0" indent="0" algn="ctr">
              <a:lnSpc>
                <a:spcPct val="150000"/>
              </a:lnSpc>
              <a:buNone/>
            </a:pPr>
            <a:r>
              <a:rPr lang="en-US" altLang="en-US" dirty="0"/>
              <a:t>f(x, y) = 2xy + 2x - x</a:t>
            </a:r>
            <a:r>
              <a:rPr lang="en-US" altLang="en-US" baseline="30000" dirty="0"/>
              <a:t>2</a:t>
            </a:r>
            <a:r>
              <a:rPr lang="en-US" altLang="en-US" dirty="0"/>
              <a:t> - 2y</a:t>
            </a:r>
            <a:r>
              <a:rPr lang="en-US" altLang="en-US" baseline="30000" dirty="0"/>
              <a:t>2</a:t>
            </a:r>
            <a:endParaRPr lang="en-US" altLang="en-US" dirty="0"/>
          </a:p>
          <a:p>
            <a:pPr marL="0" indent="0" algn="just">
              <a:lnSpc>
                <a:spcPct val="150000"/>
              </a:lnSpc>
              <a:buNone/>
            </a:pPr>
            <a:r>
              <a:rPr lang="en-US" altLang="en-US" dirty="0"/>
              <a:t>với điểm xuất phát ban đầu là (-1, 1).</a:t>
            </a:r>
            <a:endParaRPr lang="en-US"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LG.</a:t>
            </a:r>
            <a:endParaRPr lang="en-US" altLang="en-US" dirty="0"/>
          </a:p>
          <a:p>
            <a:pPr marL="0" indent="0" algn="just">
              <a:lnSpc>
                <a:spcPct val="150000"/>
              </a:lnSpc>
              <a:buNone/>
            </a:pPr>
            <a:endParaRPr lang="en-US" altLang="en-US" dirty="0"/>
          </a:p>
          <a:p>
            <a:pPr marL="0" indent="0" algn="just">
              <a:lnSpc>
                <a:spcPct val="150000"/>
              </a:lnSpc>
              <a:buNone/>
            </a:pPr>
            <a:r>
              <a:rPr lang="en-US" altLang="en-US" dirty="0"/>
              <a:t>Dọc theo hướng của vec-tơ grandient, dịch chuyển tới điểm ( - 1 + 6h, 1 - 6h) sao cho </a:t>
            </a:r>
            <a:endParaRPr lang="en-US" altLang="en-US" dirty="0"/>
          </a:p>
          <a:p>
            <a:pPr marL="0" indent="0" algn="ctr">
              <a:lnSpc>
                <a:spcPct val="150000"/>
              </a:lnSpc>
              <a:buNone/>
            </a:pPr>
            <a:r>
              <a:rPr lang="en-US" altLang="en-US" dirty="0"/>
              <a:t>g(h) = f( </a:t>
            </a:r>
            <a:r>
              <a:rPr lang="en-US" altLang="en-US" dirty="0">
                <a:sym typeface="+mn-ea"/>
              </a:rPr>
              <a:t>- 1 + 6h, 1 - 6h) = -180h</a:t>
            </a:r>
            <a:r>
              <a:rPr lang="en-US" altLang="en-US" baseline="30000" dirty="0">
                <a:sym typeface="+mn-ea"/>
              </a:rPr>
              <a:t>2</a:t>
            </a:r>
            <a:r>
              <a:rPr lang="en-US" altLang="en-US" dirty="0">
                <a:sym typeface="+mn-ea"/>
              </a:rPr>
              <a:t> + 72h - 7</a:t>
            </a:r>
            <a:endParaRPr lang="en-US" altLang="en-US" dirty="0">
              <a:sym typeface="+mn-ea"/>
            </a:endParaRPr>
          </a:p>
          <a:p>
            <a:pPr marL="0" indent="0" algn="just">
              <a:lnSpc>
                <a:spcPct val="150000"/>
              </a:lnSpc>
              <a:buNone/>
            </a:pPr>
            <a:r>
              <a:rPr lang="en-US" altLang="en-US" dirty="0"/>
              <a:t>đạt cực đại</a:t>
            </a:r>
            <a:endParaRPr lang="en-US" altLang="en-US" dirty="0"/>
          </a:p>
        </p:txBody>
      </p:sp>
      <p:graphicFrame>
        <p:nvGraphicFramePr>
          <p:cNvPr id="2" name="Object 1">
            <a:hlinkClick r:id="" action="ppaction://ole?verb="/>
          </p:cNvPr>
          <p:cNvGraphicFramePr>
            <a:graphicFrameLocks noChangeAspect="1"/>
          </p:cNvGraphicFramePr>
          <p:nvPr/>
        </p:nvGraphicFramePr>
        <p:xfrm>
          <a:off x="4276725" y="1372870"/>
          <a:ext cx="3125585" cy="731520"/>
        </p:xfrm>
        <a:graphic>
          <a:graphicData uri="http://schemas.openxmlformats.org/presentationml/2006/ole">
            <mc:AlternateContent xmlns:mc="http://schemas.openxmlformats.org/markup-compatibility/2006">
              <mc:Choice xmlns:v="urn:schemas-microsoft-com:vml" Requires="v">
                <p:oleObj spid="_x0000_s1025" name="" r:id="rId1" imgW="1790700" imgH="419100" progId="Equation.KSEE3">
                  <p:embed/>
                </p:oleObj>
              </mc:Choice>
              <mc:Fallback>
                <p:oleObj name="" r:id="rId1" imgW="1790700" imgH="419100" progId="Equation.KSEE3">
                  <p:embed/>
                  <p:pic>
                    <p:nvPicPr>
                      <p:cNvPr id="0" name="Picture 1024"/>
                      <p:cNvPicPr/>
                      <p:nvPr/>
                    </p:nvPicPr>
                    <p:blipFill>
                      <a:blip r:embed="rId2"/>
                      <a:stretch>
                        <a:fillRect/>
                      </a:stretch>
                    </p:blipFill>
                    <p:spPr>
                      <a:xfrm>
                        <a:off x="4276725" y="1372870"/>
                        <a:ext cx="3125585" cy="73152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sym typeface="+mn-ea"/>
              </a:rPr>
              <a:t>g’(h) =</a:t>
            </a:r>
            <a:r>
              <a:rPr lang="en-US" altLang="en-US" dirty="0">
                <a:sym typeface="+mn-ea"/>
              </a:rPr>
              <a:t> -360h + 72 = 0.</a:t>
            </a:r>
            <a:endParaRPr lang="en-US" altLang="en-US" dirty="0">
              <a:sym typeface="+mn-ea"/>
            </a:endParaRPr>
          </a:p>
          <a:p>
            <a:pPr marL="0" indent="0" algn="just">
              <a:lnSpc>
                <a:spcPct val="150000"/>
              </a:lnSpc>
              <a:buNone/>
            </a:pPr>
            <a:r>
              <a:rPr lang="en-US" altLang="en-US" dirty="0"/>
              <a:t>Vậy h = 0.2 và do đó điểm tiếp theo sau (-1, 1) cần đi tới là điểm (0.2, -0.2)</a:t>
            </a:r>
            <a:endParaRPr lang="en-US" altLang="en-US" dirty="0"/>
          </a:p>
          <a:p>
            <a:pPr marL="0" indent="0" algn="just">
              <a:lnSpc>
                <a:spcPct val="150000"/>
              </a:lnSpc>
              <a:buNone/>
            </a:pPr>
            <a:r>
              <a:rPr lang="en-US" altLang="en-US" dirty="0"/>
              <a:t>Tiếp tục quá trình ta thu được kết quả</a:t>
            </a:r>
            <a:endParaRPr lang="en-US" altLang="en-US" dirty="0"/>
          </a:p>
        </p:txBody>
      </p:sp>
      <p:pic>
        <p:nvPicPr>
          <p:cNvPr id="2" name="Picture 1"/>
          <p:cNvPicPr>
            <a:picLocks noChangeAspect="1"/>
          </p:cNvPicPr>
          <p:nvPr/>
        </p:nvPicPr>
        <p:blipFill>
          <a:blip r:embed="rId1"/>
          <a:stretch>
            <a:fillRect/>
          </a:stretch>
        </p:blipFill>
        <p:spPr>
          <a:xfrm>
            <a:off x="7294880" y="3540125"/>
            <a:ext cx="3329940" cy="23088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Nhận xét:</a:t>
            </a:r>
            <a:endParaRPr lang="en-US" altLang="en-US" dirty="0"/>
          </a:p>
          <a:p>
            <a:pPr marL="0" indent="0" algn="just">
              <a:lnSpc>
                <a:spcPct val="150000"/>
              </a:lnSpc>
              <a:buNone/>
            </a:pPr>
            <a:r>
              <a:rPr lang="en-US" altLang="en-US" dirty="0"/>
              <a:t> - Véc-tơ gradient tại (x</a:t>
            </a:r>
            <a:r>
              <a:rPr lang="en-US" altLang="en-US" baseline="-25000" dirty="0"/>
              <a:t>0</a:t>
            </a:r>
            <a:r>
              <a:rPr lang="en-US" altLang="en-US" dirty="0"/>
              <a:t>, y</a:t>
            </a:r>
            <a:r>
              <a:rPr lang="en-US" altLang="en-US" baseline="-25000" dirty="0"/>
              <a:t>0</a:t>
            </a:r>
            <a:r>
              <a:rPr lang="en-US" altLang="en-US" dirty="0"/>
              <a:t>) vuông góc với véc-tơ gradient tại (x, y).</a:t>
            </a:r>
            <a:endParaRPr lang="en-US" altLang="en-US" dirty="0"/>
          </a:p>
          <a:p>
            <a:pPr marL="0" indent="0" algn="just">
              <a:lnSpc>
                <a:spcPct val="150000"/>
              </a:lnSpc>
              <a:buNone/>
            </a:pPr>
            <a:r>
              <a:rPr lang="en-US" altLang="en-US" dirty="0"/>
              <a:t>- Đối với một hàm </a:t>
            </a:r>
            <a:r>
              <a:rPr lang="" altLang="en-US" dirty="0"/>
              <a:t>đ</a:t>
            </a:r>
            <a:r>
              <a:rPr lang="en-US" altLang="en-US" dirty="0"/>
              <a:t>ối xứng xuyên tâm </a:t>
            </a:r>
            <a:r>
              <a:rPr lang="" altLang="en-US" dirty="0"/>
              <a:t>đ</a:t>
            </a:r>
            <a:r>
              <a:rPr lang="en-US" altLang="en-US" dirty="0"/>
              <a:t>ơn giản thì thuật toán leo dốc nhanh nhất hội tụ sau một lần lặp duy nhất vì thuật toán này sẽ h</a:t>
            </a:r>
            <a:r>
              <a:rPr lang="" altLang="en-US" dirty="0"/>
              <a:t>ư</a:t>
            </a:r>
            <a:r>
              <a:rPr lang="en-US" altLang="en-US" dirty="0"/>
              <a:t>ớng trực tiếp </a:t>
            </a:r>
            <a:r>
              <a:rPr lang="" altLang="en-US" dirty="0"/>
              <a:t>đ</a:t>
            </a:r>
            <a:r>
              <a:rPr lang="en-US" altLang="en-US" dirty="0"/>
              <a:t>ến giá trị tối đa.</a:t>
            </a:r>
            <a:endParaRPr lang="en-US" altLang="en-US" dirty="0"/>
          </a:p>
          <a:p>
            <a:pPr marL="0" indent="0" algn="just">
              <a:lnSpc>
                <a:spcPct val="150000"/>
              </a:lnSpc>
              <a:buNone/>
            </a:pPr>
            <a:r>
              <a:rPr lang="en-US" altLang="en-US" dirty="0"/>
              <a:t>  </a:t>
            </a:r>
            <a:endParaRPr lang="en-US"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 - </a:t>
            </a:r>
            <a:r>
              <a:rPr lang="en-US" dirty="0"/>
              <a:t>T</a:t>
            </a:r>
            <a:r>
              <a:rPr lang="" altLang="en-US" dirty="0"/>
              <a:t>ư</a:t>
            </a:r>
            <a:r>
              <a:rPr lang="en-US" altLang="en-US" dirty="0"/>
              <a:t>ơng tự nh</a:t>
            </a:r>
            <a:r>
              <a:rPr lang="" altLang="en-US" dirty="0"/>
              <a:t>ư</a:t>
            </a:r>
            <a:r>
              <a:rPr lang="en-US" altLang="en-US" dirty="0"/>
              <a:t> ph</a:t>
            </a:r>
            <a:r>
              <a:rPr lang="" altLang="en-US" dirty="0"/>
              <a:t>ư</a:t>
            </a:r>
            <a:r>
              <a:rPr lang="en-US" altLang="en-US" dirty="0"/>
              <a:t>ơng pháp Newton tìm nghiệm của ph</a:t>
            </a:r>
            <a:r>
              <a:rPr lang="" altLang="en-US" dirty="0"/>
              <a:t>ư</a:t>
            </a:r>
            <a:r>
              <a:rPr lang="en-US" altLang="en-US" dirty="0"/>
              <a:t>ơng trình dựa trên thông tin về </a:t>
            </a:r>
            <a:r>
              <a:rPr lang="" altLang="en-US" dirty="0"/>
              <a:t>đ</a:t>
            </a:r>
            <a:r>
              <a:rPr lang="en-US" altLang="en-US" dirty="0"/>
              <a:t>ạo hàm, sự hội tụ tới nghiệm của ph</a:t>
            </a:r>
            <a:r>
              <a:rPr lang="" altLang="en-US" dirty="0"/>
              <a:t>ư</a:t>
            </a:r>
            <a:r>
              <a:rPr lang="en-US" altLang="en-US" dirty="0"/>
              <a:t>ơng pháp leo dốc nhanh nhất phụ thuộc vào khả n</a:t>
            </a:r>
            <a:r>
              <a:rPr lang="" altLang="en-US" dirty="0"/>
              <a:t>ă</a:t>
            </a:r>
            <a:r>
              <a:rPr lang="en-US" altLang="en-US" dirty="0"/>
              <a:t>ng cung cấp một giá trị phỏng </a:t>
            </a:r>
            <a:r>
              <a:rPr lang="" altLang="en-US" dirty="0"/>
              <a:t>đ</a:t>
            </a:r>
            <a:r>
              <a:rPr lang="en-US" altLang="en-US" dirty="0"/>
              <a:t>oán ban </a:t>
            </a:r>
            <a:r>
              <a:rPr lang="" altLang="en-US" dirty="0"/>
              <a:t>đ</a:t>
            </a:r>
            <a:r>
              <a:rPr lang="en-US" altLang="en-US" dirty="0"/>
              <a:t>ầu </a:t>
            </a:r>
            <a:r>
              <a:rPr lang="" altLang="en-US" dirty="0"/>
              <a:t>đ</a:t>
            </a:r>
            <a:r>
              <a:rPr lang="en-US" altLang="en-US" dirty="0"/>
              <a:t>ủ tốt.</a:t>
            </a:r>
            <a:endParaRPr lang="en-US" altLang="en-US" dirty="0"/>
          </a:p>
          <a:p>
            <a:pPr marL="0" indent="0" algn="just">
              <a:lnSpc>
                <a:spcPct val="150000"/>
              </a:lnSpc>
              <a:buNone/>
            </a:pPr>
            <a:r>
              <a:rPr lang="en-US" altLang="en-US" dirty="0">
                <a:sym typeface="+mn-ea"/>
              </a:rPr>
              <a:t>- Phương pháp leo dốc nhanh nhất có tốc độ hội tụ tuyến tính.</a:t>
            </a:r>
            <a:endParaRPr lang="en-US"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lstStyle/>
          <a:p>
            <a:pPr marL="0" indent="0" algn="just">
              <a:lnSpc>
                <a:spcPct val="150000"/>
              </a:lnSpc>
              <a:buNone/>
            </a:pPr>
            <a:r>
              <a:rPr lang="en-US" altLang="en-US" dirty="0"/>
              <a:t>Bài tập</a:t>
            </a:r>
            <a:endParaRPr lang="en-US" altLang="en-US" dirty="0"/>
          </a:p>
          <a:p>
            <a:pPr marL="0" indent="0" algn="just">
              <a:lnSpc>
                <a:spcPct val="150000"/>
              </a:lnSpc>
              <a:buNone/>
            </a:pPr>
            <a:r>
              <a:rPr lang="en-US" altLang="en-US" dirty="0"/>
              <a:t>Trang 393: 14.4 - 14.6</a:t>
            </a:r>
            <a:endParaRPr lang="en-US"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3236</Words>
  <Application>WPS Presentation</Application>
  <PresentationFormat>Widescreen</PresentationFormat>
  <Paragraphs>74</Paragraphs>
  <Slides>17</Slides>
  <Notes>0</Notes>
  <HiddenSlides>1</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17</vt:i4>
      </vt:variant>
    </vt:vector>
  </HeadingPairs>
  <TitlesOfParts>
    <vt:vector size="26" baseType="lpstr">
      <vt:lpstr>Arial</vt:lpstr>
      <vt:lpstr>SimSun</vt:lpstr>
      <vt:lpstr>Wingdings</vt:lpstr>
      <vt:lpstr>Microsoft YaHei</vt:lpstr>
      <vt:lpstr>Calibri</vt:lpstr>
      <vt:lpstr>Arial Unicode MS</vt:lpstr>
      <vt:lpstr>Calibri Light</vt:lpstr>
      <vt:lpstr>Office Theme</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Nghiệm của phương trình một biến số</dc:title>
  <dc:creator>Admin</dc:creator>
  <cp:lastModifiedBy>Nguyen Thi Hoai</cp:lastModifiedBy>
  <cp:revision>202</cp:revision>
  <dcterms:created xsi:type="dcterms:W3CDTF">2023-06-05T08:06:00Z</dcterms:created>
  <dcterms:modified xsi:type="dcterms:W3CDTF">2026-04-12T02:06:58Z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6B48653BB78D4E3D94027B10E1124822_12</vt:lpwstr>
  </property>
  <property fmtid="{D5CDD505-2E9C-101B-9397-08002B2CF9AE}" pid="3" name="KSOProductBuildVer">
    <vt:lpwstr>1033-12.1.0.25242</vt:lpwstr>
  </property>
</Properties>
</file>