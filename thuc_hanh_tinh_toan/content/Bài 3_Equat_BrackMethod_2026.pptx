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322" r:id="rId5"/>
    <p:sldId id="323" r:id="rId6"/>
    <p:sldId id="336" r:id="rId7"/>
    <p:sldId id="337" r:id="rId8"/>
    <p:sldId id="324" r:id="rId9"/>
    <p:sldId id="330" r:id="rId10"/>
    <p:sldId id="325" r:id="rId11"/>
    <p:sldId id="326" r:id="rId12"/>
    <p:sldId id="327" r:id="rId13"/>
    <p:sldId id="328" r:id="rId14"/>
    <p:sldId id="331" r:id="rId15"/>
    <p:sldId id="332" r:id="rId16"/>
    <p:sldId id="329" r:id="rId17"/>
    <p:sldId id="338" r:id="rId18"/>
    <p:sldId id="333" r:id="rId19"/>
    <p:sldId id="334" r:id="rId20"/>
    <p:sldId id="339" r:id="rId21"/>
    <p:sldId id="340" r:id="rId22"/>
    <p:sldId id="341" r:id="rId23"/>
    <p:sldId id="33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Chương</a:t>
            </a:r>
            <a:r>
              <a:rPr lang="en-US" dirty="0" smtClean="0"/>
              <a:t> 3.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I. </a:t>
            </a:r>
            <a:r>
              <a:rPr lang="en-US" b="1" dirty="0" err="1" smtClean="0">
                <a:solidFill>
                  <a:srgbClr val="C00000"/>
                </a:solidFill>
              </a:rPr>
              <a:t>Một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số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phương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pháp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b="1" dirty="0" smtClean="0"/>
              <a:t>f(x) = 0</a:t>
            </a:r>
            <a:endParaRPr lang="en-US" b="1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: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x, </a:t>
            </a:r>
            <a:r>
              <a:rPr lang="en-US" dirty="0" err="1" smtClean="0"/>
              <a:t>tính</a:t>
            </a:r>
            <a:r>
              <a:rPr lang="en-US" dirty="0" smtClean="0"/>
              <a:t> f(x) </a:t>
            </a:r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0 hay </a:t>
            </a:r>
            <a:r>
              <a:rPr lang="en-US" dirty="0" err="1" smtClean="0"/>
              <a:t>không</a:t>
            </a:r>
            <a:r>
              <a:rPr lang="en-US" dirty="0" smtClean="0"/>
              <a:t>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A. Phương</a:t>
            </a:r>
            <a:r>
              <a:rPr lang="en-US" b="1" dirty="0" smtClean="0"/>
              <a:t> </a:t>
            </a:r>
            <a:r>
              <a:rPr lang="en-US" b="1" dirty="0" err="1" smtClean="0"/>
              <a:t>pháp</a:t>
            </a:r>
            <a:r>
              <a:rPr lang="en-US" b="1" dirty="0" smtClean="0"/>
              <a:t> </a:t>
            </a:r>
            <a:r>
              <a:rPr lang="en-US" b="1" dirty="0" err="1" smtClean="0"/>
              <a:t>đóng</a:t>
            </a:r>
            <a:r>
              <a:rPr lang="en-US" b="1" dirty="0" smtClean="0"/>
              <a:t> </a:t>
            </a:r>
            <a:r>
              <a:rPr lang="en-US" b="1" dirty="0" err="1" smtClean="0"/>
              <a:t>khung</a:t>
            </a:r>
            <a:r>
              <a:rPr lang="en-US" b="1" dirty="0" smtClean="0"/>
              <a:t> (Bracketing method)</a:t>
            </a:r>
            <a:endParaRPr lang="en-US" b="1" dirty="0" smtClean="0"/>
          </a:p>
          <a:p>
            <a:pPr marL="0" indent="457200" algn="just">
              <a:lnSpc>
                <a:spcPct val="150000"/>
              </a:lnSpc>
              <a:buNone/>
            </a:pP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[a, b]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f(x)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(f(a)f(b) &lt; 0) do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đảm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f(x) = 0 </a:t>
            </a:r>
            <a:r>
              <a:rPr lang="en-US" dirty="0" err="1" smtClean="0"/>
              <a:t>nằm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00B050"/>
                </a:solidFill>
              </a:rPr>
              <a:t>1. </a:t>
            </a:r>
            <a:r>
              <a:rPr lang="en-US" b="1" u="sng" dirty="0" err="1" smtClean="0">
                <a:solidFill>
                  <a:srgbClr val="00B050"/>
                </a:solidFill>
              </a:rPr>
              <a:t>Sử</a:t>
            </a:r>
            <a:r>
              <a:rPr lang="en-US" b="1" u="sng" dirty="0" smtClean="0">
                <a:solidFill>
                  <a:srgbClr val="00B050"/>
                </a:solidFill>
              </a:rPr>
              <a:t> </a:t>
            </a:r>
            <a:r>
              <a:rPr lang="en-US" b="1" u="sng" dirty="0" err="1" smtClean="0">
                <a:solidFill>
                  <a:srgbClr val="00B050"/>
                </a:solidFill>
              </a:rPr>
              <a:t>dụng</a:t>
            </a:r>
            <a:r>
              <a:rPr lang="en-US" b="1" u="sng" dirty="0" smtClean="0">
                <a:solidFill>
                  <a:srgbClr val="00B050"/>
                </a:solidFill>
              </a:rPr>
              <a:t> </a:t>
            </a:r>
            <a:r>
              <a:rPr lang="en-US" b="1" u="sng" dirty="0" err="1" smtClean="0">
                <a:solidFill>
                  <a:srgbClr val="00B050"/>
                </a:solidFill>
              </a:rPr>
              <a:t>công</a:t>
            </a:r>
            <a:r>
              <a:rPr lang="en-US" b="1" u="sng" dirty="0" smtClean="0">
                <a:solidFill>
                  <a:srgbClr val="00B050"/>
                </a:solidFill>
              </a:rPr>
              <a:t> </a:t>
            </a:r>
            <a:r>
              <a:rPr lang="en-US" b="1" u="sng" dirty="0" err="1" smtClean="0">
                <a:solidFill>
                  <a:srgbClr val="00B050"/>
                </a:solidFill>
              </a:rPr>
              <a:t>cụ</a:t>
            </a:r>
            <a:r>
              <a:rPr lang="en-US" b="1" u="sng" dirty="0" smtClean="0">
                <a:solidFill>
                  <a:srgbClr val="00B050"/>
                </a:solidFill>
              </a:rPr>
              <a:t> </a:t>
            </a:r>
            <a:r>
              <a:rPr lang="en-US" b="1" u="sng" dirty="0" err="1" smtClean="0">
                <a:solidFill>
                  <a:srgbClr val="00B050"/>
                </a:solidFill>
              </a:rPr>
              <a:t>đồ</a:t>
            </a:r>
            <a:r>
              <a:rPr lang="en-US" b="1" u="sng" dirty="0" smtClean="0">
                <a:solidFill>
                  <a:srgbClr val="00B050"/>
                </a:solidFill>
              </a:rPr>
              <a:t> </a:t>
            </a:r>
            <a:r>
              <a:rPr lang="en-US" b="1" u="sng" dirty="0" err="1" smtClean="0">
                <a:solidFill>
                  <a:srgbClr val="00B050"/>
                </a:solidFill>
              </a:rPr>
              <a:t>thị</a:t>
            </a:r>
            <a:endParaRPr lang="en-US" b="1" u="sng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ước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thô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. </a:t>
            </a:r>
            <a:r>
              <a:rPr lang="en-US" dirty="0" err="1" smtClean="0"/>
              <a:t>Tuy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Bài</a:t>
            </a:r>
            <a:r>
              <a:rPr lang="en-US" b="1" dirty="0" smtClean="0"/>
              <a:t> </a:t>
            </a:r>
            <a:r>
              <a:rPr lang="en-US" b="1" dirty="0" err="1" smtClean="0"/>
              <a:t>thực</a:t>
            </a:r>
            <a:r>
              <a:rPr lang="en-US" b="1" dirty="0" smtClean="0"/>
              <a:t> </a:t>
            </a:r>
            <a:r>
              <a:rPr lang="en-US" b="1" dirty="0" err="1" smtClean="0"/>
              <a:t>hành 1</a:t>
            </a:r>
            <a:r>
              <a:rPr lang="en-US" dirty="0" smtClean="0"/>
              <a:t>.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f</a:t>
            </a:r>
            <a:r>
              <a:rPr lang="en-US" dirty="0" smtClean="0"/>
              <a:t>(x) = sin (10x) + cos (3x)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[0, 5].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73480" y="811530"/>
            <a:ext cx="4282440" cy="16535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20" y="2197735"/>
            <a:ext cx="5615940" cy="435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>
                <a:solidFill>
                  <a:srgbClr val="00B050"/>
                </a:solidFill>
              </a:rPr>
              <a:t>2. </a:t>
            </a:r>
            <a:r>
              <a:rPr lang="en-US" b="1" u="sng" dirty="0" err="1" smtClean="0">
                <a:solidFill>
                  <a:srgbClr val="00B050"/>
                </a:solidFill>
              </a:rPr>
              <a:t>Phương</a:t>
            </a:r>
            <a:r>
              <a:rPr lang="en-US" b="1" u="sng" dirty="0" smtClean="0">
                <a:solidFill>
                  <a:srgbClr val="00B050"/>
                </a:solidFill>
              </a:rPr>
              <a:t> </a:t>
            </a:r>
            <a:r>
              <a:rPr lang="en-US" b="1" u="sng" dirty="0" err="1" smtClean="0">
                <a:solidFill>
                  <a:srgbClr val="00B050"/>
                </a:solidFill>
              </a:rPr>
              <a:t>pháp</a:t>
            </a:r>
            <a:r>
              <a:rPr lang="en-US" b="1" u="sng" dirty="0" smtClean="0">
                <a:solidFill>
                  <a:srgbClr val="00B050"/>
                </a:solidFill>
              </a:rPr>
              <a:t> chia </a:t>
            </a:r>
            <a:r>
              <a:rPr lang="en-US" b="1" u="sng" dirty="0" err="1" smtClean="0">
                <a:solidFill>
                  <a:srgbClr val="00B050"/>
                </a:solidFill>
              </a:rPr>
              <a:t>đôi</a:t>
            </a:r>
            <a:endParaRPr lang="en-US" b="1" u="sng" dirty="0" smtClean="0">
              <a:solidFill>
                <a:srgbClr val="00B050"/>
              </a:solidFill>
            </a:endParaRP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[a, b]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Bước</a:t>
            </a:r>
            <a:r>
              <a:rPr lang="en-US" dirty="0" smtClean="0"/>
              <a:t> 1: a</a:t>
            </a:r>
            <a:r>
              <a:rPr lang="en-US" baseline="-25000" dirty="0" smtClean="0"/>
              <a:t>1</a:t>
            </a:r>
            <a:r>
              <a:rPr lang="en-US" dirty="0" smtClean="0"/>
              <a:t> = a, b</a:t>
            </a:r>
            <a:r>
              <a:rPr lang="en-US" baseline="-25000" dirty="0" smtClean="0"/>
              <a:t>1</a:t>
            </a:r>
            <a:r>
              <a:rPr lang="en-US" dirty="0" smtClean="0"/>
              <a:t> = b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284797" y="3402112"/>
          <a:ext cx="1622405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" imgW="21031200" imgH="10668000" progId="Equation.3">
                  <p:embed/>
                </p:oleObj>
              </mc:Choice>
              <mc:Fallback>
                <p:oleObj name="Equation" r:id="rId1" imgW="21031200" imgH="10668000" progId="Equation.3">
                  <p:embed/>
                  <p:pic>
                    <p:nvPicPr>
                      <p:cNvPr id="0" name="Picture 10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84797" y="3402112"/>
                        <a:ext cx="1622405" cy="822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Nếu</a:t>
            </a:r>
            <a:r>
              <a:rPr lang="en-US" dirty="0" smtClean="0"/>
              <a:t> f(p</a:t>
            </a:r>
            <a:r>
              <a:rPr lang="en-US" baseline="-25000" dirty="0" smtClean="0"/>
              <a:t>1</a:t>
            </a:r>
            <a:r>
              <a:rPr lang="en-US" dirty="0" smtClean="0"/>
              <a:t>) = 0,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p = p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 err="1" smtClean="0"/>
              <a:t>dừng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Bước</a:t>
            </a:r>
            <a:r>
              <a:rPr lang="en-US" dirty="0" smtClean="0"/>
              <a:t> 2: </a:t>
            </a:r>
            <a:r>
              <a:rPr lang="en-US" dirty="0" err="1" smtClean="0"/>
              <a:t>Nếu</a:t>
            </a:r>
            <a:r>
              <a:rPr lang="en-US" dirty="0" smtClean="0"/>
              <a:t> f(p</a:t>
            </a:r>
            <a:r>
              <a:rPr lang="en-US" baseline="-25000" dirty="0" smtClean="0"/>
              <a:t>1</a:t>
            </a:r>
            <a:r>
              <a:rPr lang="en-US" dirty="0" smtClean="0"/>
              <a:t>)f(a) &gt; 0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a</a:t>
            </a:r>
            <a:r>
              <a:rPr lang="en-US" baseline="-25000" dirty="0" smtClean="0"/>
              <a:t>2</a:t>
            </a:r>
            <a:r>
              <a:rPr lang="en-US" dirty="0" smtClean="0"/>
              <a:t> = p</a:t>
            </a:r>
            <a:r>
              <a:rPr lang="en-US" baseline="-25000" dirty="0" smtClean="0"/>
              <a:t>1</a:t>
            </a:r>
            <a:r>
              <a:rPr lang="en-US" dirty="0" smtClean="0"/>
              <a:t>, b</a:t>
            </a:r>
            <a:r>
              <a:rPr lang="en-US" baseline="-25000" dirty="0" smtClean="0"/>
              <a:t>2</a:t>
            </a:r>
            <a:r>
              <a:rPr lang="en-US" dirty="0" smtClean="0"/>
              <a:t> = b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/>
              <a:t>f(p</a:t>
            </a:r>
            <a:r>
              <a:rPr lang="en-US" baseline="-25000" dirty="0"/>
              <a:t>1</a:t>
            </a:r>
            <a:r>
              <a:rPr lang="en-US" dirty="0"/>
              <a:t>)f(a) </a:t>
            </a:r>
            <a:r>
              <a:rPr lang="en-US" dirty="0" smtClean="0"/>
              <a:t>&lt; </a:t>
            </a:r>
            <a:r>
              <a:rPr lang="en-US" dirty="0"/>
              <a:t>0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baseline="-25000" dirty="0"/>
              <a:t>2</a:t>
            </a:r>
            <a:r>
              <a:rPr lang="en-US" dirty="0"/>
              <a:t> = </a:t>
            </a:r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/>
              <a:t>, b</a:t>
            </a:r>
            <a:r>
              <a:rPr lang="en-US" baseline="-25000" dirty="0"/>
              <a:t>2</a:t>
            </a:r>
            <a:r>
              <a:rPr lang="en-US" dirty="0"/>
              <a:t> = </a:t>
            </a:r>
            <a:r>
              <a:rPr lang="en-US" dirty="0" smtClean="0"/>
              <a:t>p</a:t>
            </a:r>
            <a:r>
              <a:rPr lang="en-US" baseline="-25000" dirty="0" smtClean="0"/>
              <a:t>1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algn="just">
              <a:lnSpc>
                <a:spcPct val="150000"/>
              </a:lnSpc>
              <a:buFontTx/>
              <a:buChar char="-"/>
            </a:pP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thỏa</a:t>
            </a:r>
            <a:r>
              <a:rPr lang="en-US" dirty="0" smtClean="0"/>
              <a:t> mãn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237956" y="3316605"/>
          <a:ext cx="1716087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" imgW="22250400" imgH="10668000" progId="Equation.3">
                  <p:embed/>
                </p:oleObj>
              </mc:Choice>
              <mc:Fallback>
                <p:oleObj name="Equation" r:id="rId1" imgW="22250400" imgH="106680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37956" y="3316605"/>
                        <a:ext cx="1716087" cy="82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ước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l-GR" dirty="0" smtClean="0"/>
              <a:t>ε</a:t>
            </a:r>
            <a:r>
              <a:rPr lang="en-US" baseline="-25000" dirty="0" smtClean="0"/>
              <a:t>a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dung </a:t>
            </a:r>
            <a:r>
              <a:rPr lang="en-US" dirty="0" err="1" smtClean="0"/>
              <a:t>sai</a:t>
            </a:r>
            <a:r>
              <a:rPr lang="en-US" dirty="0" smtClean="0"/>
              <a:t> (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)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l-GR" dirty="0" smtClean="0"/>
              <a:t>ε</a:t>
            </a:r>
            <a:r>
              <a:rPr lang="en-US" baseline="-25000" dirty="0" smtClean="0"/>
              <a:t>s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7877" y="2035074"/>
            <a:ext cx="3545587" cy="1005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Bài</a:t>
            </a:r>
            <a:r>
              <a:rPr lang="en-US" b="1" dirty="0" smtClean="0"/>
              <a:t> </a:t>
            </a:r>
            <a:r>
              <a:rPr lang="en-US" b="1" dirty="0" err="1" smtClean="0"/>
              <a:t>thực</a:t>
            </a:r>
            <a:r>
              <a:rPr lang="en-US" b="1" dirty="0" smtClean="0"/>
              <a:t> </a:t>
            </a:r>
            <a:r>
              <a:rPr lang="en-US" b="1" dirty="0" err="1" smtClean="0"/>
              <a:t>hành</a:t>
            </a:r>
            <a:r>
              <a:rPr lang="en-US" b="1" dirty="0" smtClean="0"/>
              <a:t> 2. </a:t>
            </a:r>
            <a:endParaRPr lang="en-US" b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chia </a:t>
            </a:r>
            <a:r>
              <a:rPr lang="en-US" dirty="0" err="1" smtClean="0"/>
              <a:t>đôi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xấp</a:t>
            </a:r>
            <a:r>
              <a:rPr lang="en-US" dirty="0" smtClean="0"/>
              <a:t> </a:t>
            </a:r>
            <a:r>
              <a:rPr lang="en-US" dirty="0" err="1" smtClean="0"/>
              <a:t>xỉ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x</a:t>
            </a:r>
            <a:r>
              <a:rPr lang="en-US" baseline="30000" dirty="0" smtClean="0"/>
              <a:t>3</a:t>
            </a:r>
            <a:r>
              <a:rPr lang="en-US" dirty="0" smtClean="0"/>
              <a:t> – x + 3 = 0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xấp</a:t>
            </a:r>
            <a:r>
              <a:rPr lang="en-US" dirty="0" smtClean="0"/>
              <a:t> </a:t>
            </a:r>
            <a:r>
              <a:rPr lang="en-US" dirty="0" err="1" smtClean="0"/>
              <a:t>xỉ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vượt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0.05.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6790" y="746125"/>
            <a:ext cx="6446520" cy="4853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610735"/>
            <a:ext cx="3451860" cy="1386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/>
              <a:t>3. </a:t>
            </a:r>
            <a:r>
              <a:rPr lang="en-US" b="1" u="sng" dirty="0" err="1" smtClean="0"/>
              <a:t>Phương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pháp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vị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trí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giả</a:t>
            </a:r>
            <a:r>
              <a:rPr lang="en-US" b="1" u="sng" dirty="0" smtClean="0"/>
              <a:t> (the false position method)</a:t>
            </a:r>
            <a:endParaRPr lang="en-US" b="1" u="sng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nhược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pp chia </a:t>
            </a:r>
            <a:r>
              <a:rPr lang="en-US" dirty="0" err="1" smtClean="0"/>
              <a:t>đôi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f(x)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nút</a:t>
            </a:r>
            <a:r>
              <a:rPr lang="en-US" dirty="0" smtClean="0"/>
              <a:t>. </a:t>
            </a:r>
            <a:r>
              <a:rPr lang="en-US" dirty="0" err="1" smtClean="0"/>
              <a:t>Nếu</a:t>
            </a:r>
            <a:r>
              <a:rPr lang="en-US" dirty="0" smtClean="0"/>
              <a:t> f(a) </a:t>
            </a:r>
            <a:r>
              <a:rPr lang="en-US" dirty="0" err="1" smtClean="0"/>
              <a:t>rất</a:t>
            </a:r>
            <a:r>
              <a:rPr lang="en-US" dirty="0" smtClean="0"/>
              <a:t> </a:t>
            </a:r>
            <a:r>
              <a:rPr lang="en-US" dirty="0" err="1" smtClean="0"/>
              <a:t>gần</a:t>
            </a:r>
            <a:r>
              <a:rPr lang="en-US" dirty="0" smtClean="0"/>
              <a:t> 0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gần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a,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pp chia </a:t>
            </a:r>
            <a:r>
              <a:rPr lang="en-US" dirty="0" err="1" smtClean="0"/>
              <a:t>đôi</a:t>
            </a:r>
            <a:r>
              <a:rPr lang="en-US" dirty="0" smtClean="0"/>
              <a:t>,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[a, b]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ở </a:t>
            </a:r>
            <a:r>
              <a:rPr lang="en-US" dirty="0" err="1" smtClean="0"/>
              <a:t>xa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so </a:t>
            </a:r>
            <a:r>
              <a:rPr lang="en-US" dirty="0" err="1" smtClean="0"/>
              <a:t>với</a:t>
            </a:r>
            <a:r>
              <a:rPr lang="en-US" dirty="0" smtClean="0"/>
              <a:t> 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khắc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, ta </a:t>
            </a:r>
            <a:r>
              <a:rPr lang="en-US" dirty="0" err="1" smtClean="0"/>
              <a:t>nối</a:t>
            </a:r>
            <a:r>
              <a:rPr lang="en-US" dirty="0" smtClean="0"/>
              <a:t> 2 </a:t>
            </a:r>
            <a:r>
              <a:rPr lang="en-US" dirty="0" err="1" smtClean="0"/>
              <a:t>điểm</a:t>
            </a:r>
            <a:r>
              <a:rPr lang="en-US" dirty="0" smtClean="0"/>
              <a:t> (a, f(a)) </a:t>
            </a:r>
            <a:r>
              <a:rPr lang="en-US" dirty="0" err="1" smtClean="0"/>
              <a:t>và</a:t>
            </a:r>
            <a:r>
              <a:rPr lang="en-US" dirty="0" smtClean="0"/>
              <a:t> (b, f(b))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thẳng</a:t>
            </a:r>
            <a:r>
              <a:rPr lang="en-US" dirty="0" smtClean="0"/>
              <a:t>.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thẳng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Ox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ước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Hoành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670587" y="3851714"/>
          <a:ext cx="30591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" imgW="44196000" imgH="11582400" progId="Equation.3">
                  <p:embed/>
                </p:oleObj>
              </mc:Choice>
              <mc:Fallback>
                <p:oleObj name="Equation" r:id="rId1" imgW="44196000" imgH="11582400" progId="Equation.3">
                  <p:embed/>
                  <p:pic>
                    <p:nvPicPr>
                      <p:cNvPr id="0" name="Picture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0587" y="3851714"/>
                        <a:ext cx="3059113" cy="801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45416"/>
            <a:ext cx="5258534" cy="42773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Bài</a:t>
            </a:r>
            <a:r>
              <a:rPr lang="en-US" b="1" dirty="0" smtClean="0"/>
              <a:t> </a:t>
            </a:r>
            <a:r>
              <a:rPr lang="en-US" b="1" dirty="0" err="1" smtClean="0"/>
              <a:t>thực</a:t>
            </a:r>
            <a:r>
              <a:rPr lang="en-US" b="1" dirty="0" smtClean="0"/>
              <a:t> </a:t>
            </a:r>
            <a:r>
              <a:rPr lang="en-US" b="1" dirty="0" err="1" smtClean="0"/>
              <a:t>hành</a:t>
            </a:r>
            <a:r>
              <a:rPr lang="en-US" b="1" dirty="0" smtClean="0"/>
              <a:t> 3. </a:t>
            </a:r>
            <a:endParaRPr lang="en-US" b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lần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xấp</a:t>
            </a:r>
            <a:r>
              <a:rPr lang="en-US" dirty="0" smtClean="0"/>
              <a:t> </a:t>
            </a:r>
            <a:r>
              <a:rPr lang="en-US" dirty="0" err="1" smtClean="0"/>
              <a:t>xỉ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vượt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0.001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/>
              <a:t>x</a:t>
            </a:r>
            <a:r>
              <a:rPr lang="en-US" baseline="30000" dirty="0"/>
              <a:t>3</a:t>
            </a:r>
            <a:r>
              <a:rPr lang="en-US" dirty="0"/>
              <a:t> – x + 3 = </a:t>
            </a:r>
            <a:r>
              <a:rPr lang="en-US" dirty="0" smtClean="0"/>
              <a:t>0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[ –2, –1.5]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chia </a:t>
            </a:r>
            <a:r>
              <a:rPr lang="en-US" dirty="0" err="1" smtClean="0"/>
              <a:t>đôi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giả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60" y="864235"/>
            <a:ext cx="5539740" cy="49606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165" y="3640455"/>
            <a:ext cx="3657600" cy="1767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1430" y="845820"/>
            <a:ext cx="5603875" cy="43516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545" y="4114800"/>
            <a:ext cx="3566160" cy="883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Bài</a:t>
            </a:r>
            <a:r>
              <a:rPr lang="en-US" b="1" dirty="0" smtClean="0"/>
              <a:t> </a:t>
            </a:r>
            <a:r>
              <a:rPr lang="en-US" b="1" dirty="0" err="1" smtClean="0"/>
              <a:t>luyện</a:t>
            </a:r>
            <a:r>
              <a:rPr lang="en-US" b="1" dirty="0" smtClean="0"/>
              <a:t> </a:t>
            </a:r>
            <a:r>
              <a:rPr lang="en-US" b="1" dirty="0" err="1" smtClean="0"/>
              <a:t>tập</a:t>
            </a:r>
            <a:endParaRPr lang="en-US" b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Cho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(1) Đưa ra bảng giá trị của hàm vế trái để dự đoán khoảng chứa nghiệm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(2) </a:t>
            </a:r>
            <a:r>
              <a:rPr lang="en-US" dirty="0">
                <a:sym typeface="+mn-ea"/>
              </a:rPr>
              <a:t>Vẽ đồ thị để chọn khoảng có nghiệm.</a:t>
            </a:r>
            <a:endParaRPr lang="en-US" dirty="0">
              <a:sym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ym typeface="+mn-ea"/>
              </a:rPr>
              <a:t>(3) Xác định nghiệm chính xác của phương trình</a:t>
            </a:r>
            <a:endParaRPr lang="en-US" dirty="0">
              <a:sym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720905" y="1665435"/>
          <a:ext cx="3413760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1" imgW="51206400" imgH="10972800" progId="Equation.3">
                  <p:embed/>
                </p:oleObj>
              </mc:Choice>
              <mc:Fallback>
                <p:oleObj name="Equation" r:id="rId1" imgW="51206400" imgH="10972800" progId="Equation.3">
                  <p:embed/>
                  <p:pic>
                    <p:nvPicPr>
                      <p:cNvPr id="0" name="Picture 4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20905" y="1665435"/>
                        <a:ext cx="3413760" cy="731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cs typeface="+mn-lt"/>
                <a:sym typeface="+mn-ea"/>
              </a:rPr>
              <a:t>(4) Sử dụng phương pháp chia đôi, tìm nghiệm xấp xỉ cho tới khi sai số tương đối xấp xỉ nhỏ hơn dung sai ε</a:t>
            </a:r>
            <a:r>
              <a:rPr lang="en-US" baseline="-25000" dirty="0">
                <a:cs typeface="+mn-lt"/>
                <a:sym typeface="+mn-ea"/>
              </a:rPr>
              <a:t>s</a:t>
            </a:r>
            <a:r>
              <a:rPr lang="en-US" dirty="0">
                <a:cs typeface="+mn-lt"/>
                <a:sym typeface="+mn-ea"/>
              </a:rPr>
              <a:t> = 0.5%, so sánh với sai số tương đối thực.</a:t>
            </a:r>
            <a:endParaRPr lang="en-US" dirty="0">
              <a:cs typeface="+mn-lt"/>
              <a:sym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cs typeface="+mn-lt"/>
              </a:rPr>
              <a:t>(5) Vẽ đồ thị của sai số tương đối xấp xỉ và đồ thị của sai số tương đối thực trên cùng một hình.</a:t>
            </a:r>
            <a:endParaRPr lang="en-US" dirty="0"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45"/>
            <a:ext cx="3310255" cy="53467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cs typeface="+mn-lt"/>
              </a:rPr>
              <a:t>(a) </a:t>
            </a:r>
            <a:endParaRPr lang="en-US" dirty="0">
              <a:cs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085" y="1168400"/>
            <a:ext cx="3596640" cy="37414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815" y="829945"/>
            <a:ext cx="5836920" cy="567690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5242560" y="956945"/>
            <a:ext cx="3310255" cy="5346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cs typeface="+mn-lt"/>
              </a:rPr>
              <a:t>(b) </a:t>
            </a:r>
            <a:endParaRPr lang="en-US" dirty="0"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45"/>
            <a:ext cx="3310255" cy="53467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cs typeface="+mn-lt"/>
              </a:rPr>
              <a:t>(c) </a:t>
            </a:r>
            <a:endParaRPr lang="en-US" dirty="0">
              <a:cs typeface="+mn-lt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5242560" y="956945"/>
            <a:ext cx="3310255" cy="5346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cs typeface="+mn-lt"/>
              </a:rPr>
              <a:t>(d) </a:t>
            </a:r>
            <a:endParaRPr lang="en-US" dirty="0">
              <a:cs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020" y="829945"/>
            <a:ext cx="3749040" cy="12725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940" y="829945"/>
            <a:ext cx="5760720" cy="4998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45"/>
            <a:ext cx="3310255" cy="53467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cs typeface="+mn-lt"/>
              </a:rPr>
              <a:t>(e) </a:t>
            </a:r>
            <a:endParaRPr lang="en-US" dirty="0">
              <a:cs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530" y="577215"/>
            <a:ext cx="6370320" cy="25374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482215"/>
            <a:ext cx="6979920" cy="4442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Bài tập</a:t>
            </a:r>
            <a:endParaRPr lang="en-US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Trang 143: 5.1 - 5.4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2317</Words>
  <Application>WPS Presentation</Application>
  <PresentationFormat>Widescreen</PresentationFormat>
  <Paragraphs>71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Equation.3</vt:lpstr>
      <vt:lpstr>Equation.3</vt:lpstr>
      <vt:lpstr>Equation.3</vt:lpstr>
      <vt:lpstr>Equation.3</vt:lpstr>
      <vt:lpstr>Chương 3. Giải phương trình</vt:lpstr>
      <vt:lpstr>I. Một số phương pháp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1. Xấp xỉ và sai số làm tròn</dc:title>
  <dc:creator>Admin</dc:creator>
  <cp:lastModifiedBy>HP</cp:lastModifiedBy>
  <cp:revision>83</cp:revision>
  <dcterms:created xsi:type="dcterms:W3CDTF">2026-01-18T01:55:00Z</dcterms:created>
  <dcterms:modified xsi:type="dcterms:W3CDTF">2026-02-28T08:30:33Z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24AF1C07AC78435B9D0C42B4F2B8AA5C_12</vt:lpwstr>
  </property>
  <property fmtid="{D5CDD505-2E9C-101B-9397-08002B2CF9AE}" pid="3" name="KSOProductBuildVer">
    <vt:lpwstr>1033-12.2.0.23196</vt:lpwstr>
  </property>
</Properties>
</file>