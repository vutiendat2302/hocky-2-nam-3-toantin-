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8" r:id="rId3"/>
    <p:sldId id="312" r:id="rId4"/>
    <p:sldId id="342" r:id="rId5"/>
    <p:sldId id="355" r:id="rId6"/>
    <p:sldId id="356" r:id="rId7"/>
    <p:sldId id="357" r:id="rId8"/>
    <p:sldId id="359" r:id="rId9"/>
    <p:sldId id="360" r:id="rId10"/>
    <p:sldId id="361" r:id="rId11"/>
    <p:sldId id="362" r:id="rId12"/>
    <p:sldId id="363" r:id="rId13"/>
    <p:sldId id="364" r:id="rId14"/>
    <p:sldId id="358" r:id="rId15"/>
    <p:sldId id="365" r:id="rId16"/>
    <p:sldId id="366" r:id="rId17"/>
    <p:sldId id="367" r:id="rId18"/>
    <p:sldId id="369" r:id="rId19"/>
    <p:sldId id="368" r:id="rId20"/>
    <p:sldId id="3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74C9A-5072-419A-8D4E-E4817F9BD5D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3ED55-9AAB-469C-80D9-E9F2E79D5DC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png"/><Relationship Id="rId2" Type="http://schemas.openxmlformats.org/officeDocument/2006/relationships/image" Target="../media/image11.wmf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Bài toán tối ưu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62248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Bài toán tìm nghiệm f(x) = 0: tìm các giá trị của x sao cho f(x) bằng 0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- Bài toán tìm giá trị tối ưu của hàm f(x): tìm các giá trị của x sao cho f(x) đạt cực đại hoặc cực tiểu.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Khi này bài toán tối ưu được đưa về bài toán tìm nghiệm của phương trình: </a:t>
            </a:r>
            <a:endParaRPr 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f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'</a:t>
            </a:r>
            <a:r>
              <a:rPr lang="en-US" dirty="0"/>
              <a:t>(x) = 0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(với điều kiện hàm f(x) khả vi với mọi x)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96105" y="2394585"/>
            <a:ext cx="3398520" cy="20269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Cấu trúc của bài toán tối ưu hóa (hay còn gọi là một bài toán quy hoạch):</a:t>
            </a:r>
            <a:endParaRPr lang="en-US" alt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dirty="0"/>
              <a:t>Xác định x, làm cực tiểu hoặc cực đại hàm f(x)</a:t>
            </a:r>
            <a:endParaRPr lang="en-US" alt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dirty="0"/>
              <a:t>với điều kiện</a:t>
            </a:r>
            <a:endParaRPr lang="en-US" altLang="en-US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d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(x) ≤ a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, i = 1, 2, ..., m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e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(x) = b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, i = 1, 2, ..., p</a:t>
            </a:r>
            <a:endParaRPr lang="en-US" altLang="en-US" dirty="0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với 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- x là vec-tơ thiết kế n chiều, f(x) là hàm mục tiêu, 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- d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(x) ≤ a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</a:t>
            </a:r>
            <a:r>
              <a:rPr lang="en-US" altLang="en-US" dirty="0"/>
              <a:t> là các ràng buộc bất đẳng thức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- e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(x) = b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 </a:t>
            </a:r>
            <a:r>
              <a:rPr lang="en-US" altLang="en-US" dirty="0"/>
              <a:t>là các ràng buộc đẳng thức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- a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 </a:t>
            </a:r>
            <a:r>
              <a:rPr lang="en-US" altLang="en-US" dirty="0"/>
              <a:t>và 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  <a:sym typeface="+mn-ea"/>
              </a:rPr>
              <a:t>b</a:t>
            </a:r>
            <a:r>
              <a:rPr lang="en-US" altLang="en-US" baseline="-25000" dirty="0">
                <a:latin typeface="Calibri" panose="020F0502020204030204" charset="0"/>
                <a:cs typeface="Calibri" panose="020F0502020204030204" charset="0"/>
                <a:sym typeface="+mn-ea"/>
              </a:rPr>
              <a:t>i</a:t>
            </a:r>
            <a:r>
              <a:rPr lang="en-US" altLang="en-US" dirty="0"/>
              <a:t> là các hằng số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Phân loại bài toán tối ưu</a:t>
            </a:r>
            <a:endParaRPr lang="en-US" altLang="en-US" b="1" dirty="0">
              <a:solidFill>
                <a:schemeClr val="accent1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i="1" dirty="0"/>
              <a:t>Dựa trên dạng hàm f(x) và ràng buộc</a:t>
            </a:r>
            <a:r>
              <a:rPr lang="en-US" altLang="en-US" dirty="0"/>
              <a:t>: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1. Quy hoạch tuyến tính: hàm mục tiêu và các ràng buộc là tuyến tính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2. Quy hoạch bậc hai: hàm mục tiêu bậc 2, ràng buộc: tuyến tính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3. Quy hoạch phi tuyến: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i="1" dirty="0"/>
              <a:t>Dựa trên ràng buộc</a:t>
            </a:r>
            <a:r>
              <a:rPr lang="en-US" altLang="en-US" dirty="0"/>
              <a:t>: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1. Tối ưu hóa không ràng buộc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2. Tối ưu hóa có ràng buộc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i="1" dirty="0"/>
              <a:t>Dựa trên số chiều của biến thiết kế</a:t>
            </a:r>
            <a:r>
              <a:rPr lang="en-US" altLang="en-US" dirty="0"/>
              <a:t>: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1. Bài toán một chiều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2. Bài toán nhiều chiều 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b="1" dirty="0"/>
              <a:t>Lưu ý: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Quá trình tìm giá trị cực </a:t>
            </a:r>
            <a:r>
              <a:rPr lang="en-US" altLang="en-US" dirty="0"/>
              <a:t>đ</a:t>
            </a:r>
            <a:r>
              <a:rPr lang="en-US" altLang="en-US" dirty="0"/>
              <a:t>ại so với việc tìm giá trị cực tiểu về bản chất là hoàn toàn giống nhau, bởi vì cùng một giá trị x* vừa giúp tối thiểu hóa hàm f(x), vừa giúp tối </a:t>
            </a:r>
            <a:r>
              <a:rPr lang="en-US" altLang="en-US" dirty="0"/>
              <a:t>đ</a:t>
            </a:r>
            <a:r>
              <a:rPr lang="en-US" altLang="en-US" dirty="0"/>
              <a:t>a hóa hàm - f(x).  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0230" y="3215640"/>
            <a:ext cx="2903220" cy="2522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b="1" u="sng" dirty="0"/>
              <a:t>I. Bài toán tối ưu không ràng buộc một chiều</a:t>
            </a:r>
            <a:endParaRPr lang="en-US" altLang="en-US" b="1" u="sng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1. Phương pháp tìm kiếm tỉ lệ vàng</a:t>
            </a:r>
            <a:endParaRPr lang="en-US" altLang="en-US" dirty="0"/>
          </a:p>
          <a:p>
            <a:pPr algn="just">
              <a:lnSpc>
                <a:spcPct val="150000"/>
              </a:lnSpc>
            </a:pPr>
            <a:r>
              <a:rPr lang="en-US" altLang="en-US" dirty="0"/>
              <a:t>Tìm kiếm tỉ lệ vàng là một kỹ thuật tìm kiếm </a:t>
            </a:r>
            <a:r>
              <a:rPr lang="en-US" altLang="en-US" dirty="0"/>
              <a:t>đ</a:t>
            </a:r>
            <a:r>
              <a:rPr lang="en-US" altLang="en-US" dirty="0"/>
              <a:t>ơn biến, </a:t>
            </a:r>
            <a:r>
              <a:rPr lang="en-US" altLang="en-US" dirty="0"/>
              <a:t>đ</a:t>
            </a:r>
            <a:r>
              <a:rPr lang="en-US" altLang="en-US" dirty="0"/>
              <a:t>a n</a:t>
            </a:r>
            <a:r>
              <a:rPr lang="en-US" altLang="en-US" dirty="0"/>
              <a:t>ă</a:t>
            </a:r>
            <a:r>
              <a:rPr lang="en-US" altLang="en-US" dirty="0"/>
              <a:t>ng và </a:t>
            </a:r>
            <a:r>
              <a:rPr lang="en-US" altLang="en-US" dirty="0"/>
              <a:t>đ</a:t>
            </a:r>
            <a:r>
              <a:rPr lang="en-US" altLang="en-US" dirty="0"/>
              <a:t>ơn giản.</a:t>
            </a:r>
            <a:endParaRPr lang="en-US" altLang="en-US" dirty="0"/>
          </a:p>
          <a:p>
            <a:pPr algn="just">
              <a:lnSpc>
                <a:spcPct val="150000"/>
              </a:lnSpc>
            </a:pPr>
            <a:r>
              <a:rPr lang="en-US" altLang="en-US" dirty="0"/>
              <a:t>Không sử dụng các công cụ của giải tích.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Xét bài toán tìm cực đại duy nhất trong [x</a:t>
            </a:r>
            <a:r>
              <a:rPr lang="en-US" altLang="en-US" baseline="-25000" dirty="0">
                <a:sym typeface="+mn-ea"/>
              </a:rPr>
              <a:t>l</a:t>
            </a:r>
            <a:r>
              <a:rPr lang="en-US" altLang="en-US" dirty="0">
                <a:sym typeface="+mn-ea"/>
              </a:rPr>
              <a:t>, x</a:t>
            </a:r>
            <a:r>
              <a:rPr lang="en-US" altLang="en-US" baseline="-25000" dirty="0">
                <a:sym typeface="+mn-ea"/>
              </a:rPr>
              <a:t>u</a:t>
            </a:r>
            <a:r>
              <a:rPr lang="en-US" altLang="en-US" dirty="0">
                <a:sym typeface="+mn-ea"/>
              </a:rPr>
              <a:t>]</a:t>
            </a:r>
            <a:endParaRPr lang="en-US" altLang="en-US" dirty="0"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Mục tiêu: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- Mỗi lần lần lặp giảm kích thước khoảng chứa nghiệm một nhân tử là hằng số.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- Sử dụng các phép tính của các điểm trung gian ở các bước phía trước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Chọn thêm 2 điểm trong đoạn [</a:t>
            </a:r>
            <a:r>
              <a:rPr lang="en-US" altLang="en-US" dirty="0">
                <a:sym typeface="+mn-ea"/>
              </a:rPr>
              <a:t>x</a:t>
            </a:r>
            <a:r>
              <a:rPr lang="en-US" altLang="en-US" baseline="-25000" dirty="0">
                <a:sym typeface="+mn-ea"/>
              </a:rPr>
              <a:t>l</a:t>
            </a:r>
            <a:r>
              <a:rPr lang="en-US" altLang="en-US" dirty="0">
                <a:sym typeface="+mn-ea"/>
              </a:rPr>
              <a:t>, x</a:t>
            </a:r>
            <a:r>
              <a:rPr lang="en-US" altLang="en-US" baseline="-25000" dirty="0">
                <a:sym typeface="+mn-ea"/>
              </a:rPr>
              <a:t>u</a:t>
            </a:r>
            <a:r>
              <a:rPr lang="en-US" altLang="en-US" dirty="0">
                <a:sym typeface="+mn-ea"/>
              </a:rPr>
              <a:t>] 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Để đạt mục tiêu cần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Đặt                 ta thu được  </a:t>
            </a: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3265" y="2274570"/>
            <a:ext cx="2034540" cy="1280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2570" y="3864610"/>
            <a:ext cx="1219200" cy="457200"/>
          </a:xfrm>
          <a:prstGeom prst="rect">
            <a:avLst/>
          </a:prstGeom>
        </p:spPr>
      </p:pic>
      <p:graphicFrame>
        <p:nvGraphicFramePr>
          <p:cNvPr id="6" name="Object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34510" y="4689475"/>
          <a:ext cx="2759336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447800" imgH="431800" progId="Equation.KSEE3">
                  <p:embed/>
                </p:oleObj>
              </mc:Choice>
              <mc:Fallback>
                <p:oleObj name="" r:id="rId3" imgW="1447800" imgH="4318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34510" y="4689475"/>
                        <a:ext cx="2759336" cy="822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2675" y="240665"/>
            <a:ext cx="4678713" cy="411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Thuật toán.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- Chọn đoạn chứa nghiệm </a:t>
            </a:r>
            <a:r>
              <a:rPr lang="en-US" altLang="en-US" dirty="0">
                <a:sym typeface="+mn-ea"/>
              </a:rPr>
              <a:t>[x</a:t>
            </a:r>
            <a:r>
              <a:rPr lang="en-US" altLang="en-US" baseline="-25000" dirty="0">
                <a:sym typeface="+mn-ea"/>
              </a:rPr>
              <a:t>l</a:t>
            </a:r>
            <a:r>
              <a:rPr lang="en-US" altLang="en-US" dirty="0">
                <a:sym typeface="+mn-ea"/>
              </a:rPr>
              <a:t>, x</a:t>
            </a:r>
            <a:r>
              <a:rPr lang="en-US" altLang="en-US" baseline="-25000" dirty="0">
                <a:sym typeface="+mn-ea"/>
              </a:rPr>
              <a:t>u</a:t>
            </a:r>
            <a:r>
              <a:rPr lang="en-US" altLang="en-US" dirty="0">
                <a:sym typeface="+mn-ea"/>
              </a:rPr>
              <a:t>]</a:t>
            </a:r>
            <a:endParaRPr lang="en-US" altLang="en-US" dirty="0"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>
                <a:sym typeface="+mn-ea"/>
              </a:rPr>
              <a:t>- Chọn thêm 2 điểm x</a:t>
            </a:r>
            <a:r>
              <a:rPr lang="en-US" altLang="en-US" baseline="-25000" dirty="0">
                <a:sym typeface="+mn-ea"/>
              </a:rPr>
              <a:t>1</a:t>
            </a:r>
            <a:r>
              <a:rPr lang="en-US" altLang="en-US" dirty="0">
                <a:sym typeface="+mn-ea"/>
              </a:rPr>
              <a:t> và x</a:t>
            </a:r>
            <a:r>
              <a:rPr lang="en-US" altLang="en-US" baseline="-25000" dirty="0">
                <a:sym typeface="+mn-ea"/>
              </a:rPr>
              <a:t>2</a:t>
            </a:r>
            <a:r>
              <a:rPr lang="en-US" altLang="en-US" dirty="0"/>
              <a:t> 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7660" y="3290570"/>
            <a:ext cx="1611824" cy="914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255" y="4417695"/>
            <a:ext cx="2788920" cy="8229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- Tính giá trị hàm f tại </a:t>
            </a:r>
            <a:r>
              <a:rPr lang="en-US" altLang="en-US" dirty="0">
                <a:sym typeface="+mn-ea"/>
              </a:rPr>
              <a:t>x</a:t>
            </a:r>
            <a:r>
              <a:rPr lang="en-US" altLang="en-US" baseline="-25000" dirty="0">
                <a:sym typeface="+mn-ea"/>
              </a:rPr>
              <a:t>1</a:t>
            </a:r>
            <a:r>
              <a:rPr lang="en-US" altLang="en-US" dirty="0">
                <a:sym typeface="+mn-ea"/>
              </a:rPr>
              <a:t> và x</a:t>
            </a:r>
            <a:r>
              <a:rPr lang="en-US" altLang="en-US" baseline="-25000" dirty="0">
                <a:sym typeface="+mn-ea"/>
              </a:rPr>
              <a:t>2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- Nếu  f(x</a:t>
            </a:r>
            <a:r>
              <a:rPr lang="en-US" altLang="en-US" baseline="-25000" dirty="0"/>
              <a:t>1</a:t>
            </a:r>
            <a:r>
              <a:rPr lang="en-US" altLang="en-US" dirty="0"/>
              <a:t>) </a:t>
            </a:r>
            <a:r>
              <a:rPr lang="en-US" altLang="en-US" dirty="0">
                <a:latin typeface="Calibri" panose="020F0502020204030204" charset="0"/>
                <a:cs typeface="Calibri" panose="020F0502020204030204" charset="0"/>
              </a:rPr>
              <a:t>≥</a:t>
            </a:r>
            <a:r>
              <a:rPr lang="en-US" altLang="en-US" dirty="0"/>
              <a:t> f(x</a:t>
            </a:r>
            <a:r>
              <a:rPr lang="en-US" altLang="en-US" baseline="-25000" dirty="0"/>
              <a:t>2</a:t>
            </a:r>
            <a:r>
              <a:rPr lang="en-US" altLang="en-US" dirty="0"/>
              <a:t>), giữ lại khoảng [x</a:t>
            </a:r>
            <a:r>
              <a:rPr lang="en-US" altLang="en-US" baseline="-25000" dirty="0"/>
              <a:t>2</a:t>
            </a:r>
            <a:r>
              <a:rPr lang="en-US" altLang="en-US" dirty="0"/>
              <a:t>, x</a:t>
            </a:r>
            <a:r>
              <a:rPr lang="en-US" altLang="en-US" baseline="-25000" dirty="0"/>
              <a:t>u</a:t>
            </a:r>
            <a:r>
              <a:rPr lang="en-US" altLang="en-US" dirty="0"/>
              <a:t>], ngược lại giữ </a:t>
            </a:r>
            <a:r>
              <a:rPr lang="en-US" altLang="en-US" dirty="0">
                <a:sym typeface="+mn-ea"/>
              </a:rPr>
              <a:t>[x</a:t>
            </a:r>
            <a:r>
              <a:rPr lang="en-US" altLang="en-US" baseline="-25000" dirty="0">
                <a:sym typeface="+mn-ea"/>
              </a:rPr>
              <a:t>l</a:t>
            </a:r>
            <a:r>
              <a:rPr lang="en-US" altLang="en-US" dirty="0">
                <a:sym typeface="+mn-ea"/>
              </a:rPr>
              <a:t>, x</a:t>
            </a:r>
            <a:r>
              <a:rPr lang="en-US" altLang="en-US" baseline="-25000" dirty="0">
                <a:sym typeface="+mn-ea"/>
              </a:rPr>
              <a:t>1</a:t>
            </a:r>
            <a:r>
              <a:rPr lang="en-US" altLang="en-US" dirty="0">
                <a:sym typeface="+mn-ea"/>
              </a:rPr>
              <a:t>].</a:t>
            </a:r>
            <a:endParaRPr lang="en-US" altLang="en-US" dirty="0">
              <a:sym typeface="+mn-ea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- Tiếp tục quá trình, chọn trung điểm của đoạn cuối cùng làm giá trị cần xác định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99610" y="640080"/>
            <a:ext cx="3669665" cy="553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  Sau  </a:t>
            </a:r>
            <a:r>
              <a:rPr lang="en-US" altLang="en-US" i="1" dirty="0"/>
              <a:t>k</a:t>
            </a:r>
            <a:r>
              <a:rPr lang="en-US" altLang="en-US" dirty="0"/>
              <a:t> b</a:t>
            </a:r>
            <a:r>
              <a:rPr lang="" altLang="en-US" dirty="0"/>
              <a:t>ư</a:t>
            </a:r>
            <a:r>
              <a:rPr lang="en-US" altLang="en-US" dirty="0"/>
              <a:t>ớc lặp, bắt </a:t>
            </a:r>
            <a:r>
              <a:rPr lang="" altLang="en-US" dirty="0"/>
              <a:t>đ</a:t>
            </a:r>
            <a:r>
              <a:rPr lang="en-US" altLang="en-US" dirty="0"/>
              <a:t>ầu từ khoảng [</a:t>
            </a:r>
            <a:r>
              <a:rPr lang="en-US" altLang="en-US" dirty="0">
                <a:sym typeface="+mn-ea"/>
              </a:rPr>
              <a:t>x</a:t>
            </a:r>
            <a:r>
              <a:rPr lang="en-US" altLang="en-US" baseline="-25000" dirty="0">
                <a:sym typeface="+mn-ea"/>
              </a:rPr>
              <a:t>l</a:t>
            </a:r>
            <a:r>
              <a:rPr lang="en-US" altLang="en-US" dirty="0">
                <a:sym typeface="+mn-ea"/>
              </a:rPr>
              <a:t>, x</a:t>
            </a:r>
            <a:r>
              <a:rPr lang="en-US" altLang="en-US" baseline="-25000" dirty="0">
                <a:sym typeface="+mn-ea"/>
              </a:rPr>
              <a:t>u</a:t>
            </a:r>
            <a:r>
              <a:rPr lang="en-US" altLang="en-US" dirty="0"/>
              <a:t>], trung </a:t>
            </a:r>
            <a:r>
              <a:rPr lang="" altLang="en-US" dirty="0"/>
              <a:t>đ</a:t>
            </a:r>
            <a:r>
              <a:rPr lang="en-US" altLang="en-US" dirty="0"/>
              <a:t>iểm của </a:t>
            </a:r>
            <a:r>
              <a:rPr lang="" altLang="en-US" dirty="0"/>
              <a:t>đ</a:t>
            </a:r>
            <a:r>
              <a:rPr lang="en-US" altLang="en-US" dirty="0"/>
              <a:t>oạn cuối cùng này nằm trong khoảng                      của </a:t>
            </a:r>
            <a:r>
              <a:rPr lang="" altLang="en-US" dirty="0"/>
              <a:t>đ</a:t>
            </a:r>
            <a:r>
              <a:rPr lang="en-US" altLang="en-US" dirty="0"/>
              <a:t>iểm cực đại.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 </a:t>
            </a:r>
            <a:endParaRPr lang="en-US" altLang="en-US" dirty="0"/>
          </a:p>
        </p:txBody>
      </p:sp>
      <p:graphicFrame>
        <p:nvGraphicFramePr>
          <p:cNvPr id="-2147482618" name="Object -2147482619"/>
          <p:cNvGraphicFramePr>
            <a:graphicFrameLocks noChangeAspect="1"/>
          </p:cNvGraphicFramePr>
          <p:nvPr/>
        </p:nvGraphicFramePr>
        <p:xfrm>
          <a:off x="5166678" y="1381125"/>
          <a:ext cx="1323650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749300" imgH="419100" progId="Equation.3">
                  <p:embed/>
                </p:oleObj>
              </mc:Choice>
              <mc:Fallback>
                <p:oleObj name="" r:id="rId1" imgW="749300" imgH="419100" progId="Equation.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66678" y="1381125"/>
                        <a:ext cx="1323650" cy="73152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Ví dụ. Sử dụng phương pháp tỷ lệ vàng tính xấp xỉ giá trị cực đại sau 2 lần lặp của hàm số 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trên đoạn [0, 4].</a:t>
            </a:r>
            <a:endParaRPr lang="en-US" altLang="en-US" dirty="0"/>
          </a:p>
        </p:txBody>
      </p:sp>
      <p:graphicFrame>
        <p:nvGraphicFramePr>
          <p:cNvPr id="2" name="Object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961890" y="2348230"/>
          <a:ext cx="2039389" cy="731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168400" imgH="419100" progId="Equation.KSEE3">
                  <p:embed/>
                </p:oleObj>
              </mc:Choice>
              <mc:Fallback>
                <p:oleObj name="" r:id="rId1" imgW="1168400" imgH="4191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61890" y="2348230"/>
                        <a:ext cx="2039389" cy="7315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965" y="2513330"/>
            <a:ext cx="3063240" cy="30556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Bài tập</a:t>
            </a:r>
            <a:endParaRPr lang="en-US" alt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altLang="en-US" dirty="0"/>
              <a:t>Trang 373: 13.2, 13.3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2254</Words>
  <Application>WPS Presentation</Application>
  <PresentationFormat>Widescreen</PresentationFormat>
  <Paragraphs>76</Paragraphs>
  <Slides>19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Office Theme</vt:lpstr>
      <vt:lpstr>Equation.KSEE3</vt:lpstr>
      <vt:lpstr>Equation.3</vt:lpstr>
      <vt:lpstr>Equation.KSEE3</vt:lpstr>
      <vt:lpstr>Bài toán tối ưu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2. Nghiệm của phương trình một biến số</dc:title>
  <dc:creator>Admin</dc:creator>
  <cp:lastModifiedBy>Nguyen Thi Hoai</cp:lastModifiedBy>
  <cp:revision>197</cp:revision>
  <dcterms:created xsi:type="dcterms:W3CDTF">2023-06-05T08:06:00Z</dcterms:created>
  <dcterms:modified xsi:type="dcterms:W3CDTF">2026-04-09T08:18:32Z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6B48653BB78D4E3D94027B10E1124822_12</vt:lpwstr>
  </property>
  <property fmtid="{D5CDD505-2E9C-101B-9397-08002B2CF9AE}" pid="3" name="KSOProductBuildVer">
    <vt:lpwstr>1033-12.1.0.25242</vt:lpwstr>
  </property>
</Properties>
</file>