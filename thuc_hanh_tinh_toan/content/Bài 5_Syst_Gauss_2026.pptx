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2" r:id="rId3"/>
    <p:sldId id="323" r:id="rId4"/>
    <p:sldId id="336"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6511BD4-09FE-423A-AE26-7EEDCCE9E16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6511BD4-09FE-423A-AE26-7EEDCCE9E160}"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6511BD4-09FE-423A-AE26-7EEDCCE9E160}"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511BD4-09FE-423A-AE26-7EEDCCE9E160}"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11BD4-09FE-423A-AE26-7EEDCCE9E160}"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6511BD4-09FE-423A-AE26-7EEDCCE9E160}"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6511BD4-09FE-423A-AE26-7EEDCCE9E160}"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11BD4-09FE-423A-AE26-7EEDCCE9E160}" type="datetimeFigureOut">
              <a:rPr lang="en-US" smtClean="0"/>
              <a:t>3/5/2026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A8064-B825-47D7-9C26-BFA1C777806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Bài</a:t>
            </a:r>
            <a:r>
              <a:rPr lang="en-US" dirty="0" smtClean="0"/>
              <a:t> 5. </a:t>
            </a:r>
            <a:r>
              <a:rPr lang="en-US" dirty="0" err="1" smtClean="0"/>
              <a:t>Hệ phương trình </a:t>
            </a:r>
            <a:br>
              <a:rPr lang="en-US" dirty="0" err="1" smtClean="0"/>
            </a:br>
            <a:r>
              <a:rPr lang="en-US" dirty="0" err="1" smtClean="0"/>
              <a:t>tuyến tính</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474"/>
            <a:ext cx="10515600" cy="5346969"/>
          </a:xfrm>
        </p:spPr>
        <p:txBody>
          <a:bodyPr/>
          <a:lstStyle/>
          <a:p>
            <a:pPr marL="0" indent="0" algn="just">
              <a:lnSpc>
                <a:spcPct val="150000"/>
              </a:lnSpc>
              <a:buNone/>
            </a:pPr>
            <a:r>
              <a:rPr lang="en-US" b="1" dirty="0" err="1" smtClean="0"/>
              <a:t>I. Kiến thức nền</a:t>
            </a:r>
          </a:p>
          <a:p>
            <a:pPr marL="0" indent="0" algn="just">
              <a:lnSpc>
                <a:spcPct val="150000"/>
              </a:lnSpc>
              <a:buNone/>
            </a:pPr>
            <a:r>
              <a:rPr lang="en-US" dirty="0" err="1" smtClean="0"/>
              <a:t>Hệ phương trình tuyến tính có dạng</a:t>
            </a:r>
          </a:p>
          <a:p>
            <a:pPr marL="0" indent="0" algn="just">
              <a:lnSpc>
                <a:spcPct val="150000"/>
              </a:lnSpc>
              <a:buNone/>
            </a:pPr>
            <a:endParaRPr lang="en-US" dirty="0" err="1" smtClean="0"/>
          </a:p>
          <a:p>
            <a:pPr marL="0" indent="0" algn="just">
              <a:lnSpc>
                <a:spcPct val="150000"/>
              </a:lnSpc>
              <a:buNone/>
            </a:pPr>
            <a:endParaRPr lang="en-US" dirty="0" err="1" smtClean="0"/>
          </a:p>
          <a:p>
            <a:pPr marL="0" indent="0" algn="just">
              <a:lnSpc>
                <a:spcPct val="150000"/>
              </a:lnSpc>
              <a:buNone/>
            </a:pPr>
            <a:endParaRPr lang="en-US" dirty="0" err="1" smtClean="0"/>
          </a:p>
          <a:p>
            <a:pPr marL="0" indent="0" algn="just">
              <a:lnSpc>
                <a:spcPct val="150000"/>
              </a:lnSpc>
              <a:buNone/>
            </a:pPr>
            <a:r>
              <a:rPr lang="en-US" dirty="0" smtClean="0"/>
              <a:t>được viết dưới dạng phương trình ma trận: </a:t>
            </a:r>
            <a:r>
              <a:rPr lang="en-US" b="1" dirty="0" smtClean="0"/>
              <a:t>A</a:t>
            </a:r>
            <a:r>
              <a:rPr lang="en-US" dirty="0" smtClean="0"/>
              <a:t>x = </a:t>
            </a:r>
            <a:r>
              <a:rPr lang="en-US" b="1" dirty="0" smtClean="0"/>
              <a:t>b</a:t>
            </a:r>
            <a:endParaRPr lang="en-US" dirty="0" smtClean="0"/>
          </a:p>
          <a:p>
            <a:pPr marL="0" indent="0" algn="just">
              <a:lnSpc>
                <a:spcPct val="150000"/>
              </a:lnSpc>
              <a:buNone/>
            </a:pPr>
            <a:endParaRPr lang="en-US" dirty="0"/>
          </a:p>
        </p:txBody>
      </p:sp>
      <p:pic>
        <p:nvPicPr>
          <p:cNvPr id="2" name="Picture 1"/>
          <p:cNvPicPr>
            <a:picLocks noChangeAspect="1"/>
          </p:cNvPicPr>
          <p:nvPr/>
        </p:nvPicPr>
        <p:blipFill>
          <a:blip r:embed="rId2"/>
          <a:stretch>
            <a:fillRect/>
          </a:stretch>
        </p:blipFill>
        <p:spPr>
          <a:xfrm>
            <a:off x="4224020" y="2274570"/>
            <a:ext cx="3744513" cy="201168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Một số ma trận đặc biệt</a:t>
            </a:r>
          </a:p>
          <a:p>
            <a:pPr marL="0" indent="0" algn="just">
              <a:lnSpc>
                <a:spcPct val="150000"/>
              </a:lnSpc>
              <a:buNone/>
            </a:pPr>
            <a:r>
              <a:rPr lang="en-US" dirty="0"/>
              <a:t>- Ma trận đối xứng</a:t>
            </a:r>
          </a:p>
          <a:p>
            <a:pPr marL="0" indent="0" algn="just">
              <a:lnSpc>
                <a:spcPct val="150000"/>
              </a:lnSpc>
              <a:buNone/>
            </a:pPr>
            <a:r>
              <a:rPr lang="en-US" dirty="0"/>
              <a:t>- Ma trận đường chéo</a:t>
            </a:r>
          </a:p>
          <a:p>
            <a:pPr marL="0" indent="0" algn="just">
              <a:lnSpc>
                <a:spcPct val="150000"/>
              </a:lnSpc>
              <a:buNone/>
            </a:pPr>
            <a:r>
              <a:rPr lang="en-US" dirty="0"/>
              <a:t>- Ma trận đơn vị</a:t>
            </a:r>
          </a:p>
          <a:p>
            <a:pPr marL="0" indent="0" algn="just">
              <a:lnSpc>
                <a:spcPct val="150000"/>
              </a:lnSpc>
              <a:buNone/>
            </a:pPr>
            <a:r>
              <a:rPr lang="en-US" dirty="0"/>
              <a:t>- Ma trận tam giác trên/ tam giác dưới</a:t>
            </a:r>
          </a:p>
          <a:p>
            <a:pPr marL="0" indent="0" algn="just">
              <a:lnSpc>
                <a:spcPct val="150000"/>
              </a:lnSpc>
              <a:buNone/>
            </a:pPr>
            <a:r>
              <a:rPr lang="en-US" dirty="0"/>
              <a:t>- Ma trận dải (banded matrix)</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Một số phép toán trên ma trận</a:t>
            </a:r>
          </a:p>
          <a:p>
            <a:pPr marL="0" indent="0" algn="just">
              <a:lnSpc>
                <a:spcPct val="150000"/>
              </a:lnSpc>
              <a:buNone/>
            </a:pPr>
            <a:r>
              <a:rPr lang="en-US" dirty="0"/>
              <a:t>- Cộng, trừ, nhân vô hướng ma trận với một số</a:t>
            </a:r>
          </a:p>
          <a:p>
            <a:pPr marL="0" indent="0" algn="just">
              <a:lnSpc>
                <a:spcPct val="150000"/>
              </a:lnSpc>
              <a:buNone/>
            </a:pPr>
            <a:r>
              <a:rPr lang="en-US" dirty="0"/>
              <a:t>- Phép nhân hai ma trận (không có tính chất giao hoán)</a:t>
            </a:r>
          </a:p>
          <a:p>
            <a:pPr marL="0" indent="0" algn="just">
              <a:lnSpc>
                <a:spcPct val="150000"/>
              </a:lnSpc>
              <a:buNone/>
            </a:pPr>
            <a:r>
              <a:rPr lang="en-US" dirty="0"/>
              <a:t>- Chuyển vị và nghịch đảo của một ma trận</a:t>
            </a:r>
          </a:p>
          <a:p>
            <a:pPr marL="0" indent="0" algn="just">
              <a:lnSpc>
                <a:spcPct val="150000"/>
              </a:lnSpc>
              <a:buNone/>
            </a:pPr>
            <a:r>
              <a:rPr lang="en-US" dirty="0"/>
              <a:t>- Vết của ma trận</a:t>
            </a:r>
          </a:p>
          <a:p>
            <a:pPr marL="0" indent="0" algn="just">
              <a:lnSpc>
                <a:spcPct val="150000"/>
              </a:lnSpc>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I. Giải hệ kích cỡ nhỏ</a:t>
            </a:r>
          </a:p>
          <a:p>
            <a:pPr marL="0" indent="0" algn="just">
              <a:lnSpc>
                <a:spcPct val="150000"/>
              </a:lnSpc>
              <a:buNone/>
            </a:pPr>
            <a:r>
              <a:rPr lang="en-US" u="sng" dirty="0"/>
              <a:t>A. Phương pháp hình học</a:t>
            </a:r>
          </a:p>
        </p:txBody>
      </p:sp>
      <p:pic>
        <p:nvPicPr>
          <p:cNvPr id="2" name="Picture 1"/>
          <p:cNvPicPr>
            <a:picLocks noChangeAspect="1"/>
          </p:cNvPicPr>
          <p:nvPr/>
        </p:nvPicPr>
        <p:blipFill>
          <a:blip r:embed="rId2"/>
          <a:stretch>
            <a:fillRect/>
          </a:stretch>
        </p:blipFill>
        <p:spPr>
          <a:xfrm>
            <a:off x="1958975" y="2630805"/>
            <a:ext cx="8503920" cy="260604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 Hệ kỳ dị (không có nghiệm hoặc có vô số nghiệm) (a) và (b)</a:t>
            </a:r>
          </a:p>
          <a:p>
            <a:pPr marL="0" indent="0" algn="just">
              <a:lnSpc>
                <a:spcPct val="150000"/>
              </a:lnSpc>
              <a:buNone/>
            </a:pPr>
            <a:r>
              <a:rPr lang="en-US" dirty="0"/>
              <a:t>- Hệ điều kiện xấu (c) (là hệ phương trình tiến dần tới trạng thái kỳ dị) , về mặt hình học điều này tương ứng với việc rất khó để xác định chính xác điểm giao nhau của các đường thẳng. Hệ điều kiện xấu cực kì nhạy cảm với sai số làm tròn và do vậy gây khó khăn cho việc giải số hệ.</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u="sng" dirty="0"/>
              <a:t>B. Định thức và quy tắc Cramer</a:t>
            </a:r>
            <a:endParaRPr lang="en-US" dirty="0"/>
          </a:p>
          <a:p>
            <a:pPr marL="0" indent="0" algn="just">
              <a:lnSpc>
                <a:spcPct val="150000"/>
              </a:lnSpc>
              <a:buNone/>
            </a:pPr>
            <a:r>
              <a:rPr lang="en-US" dirty="0"/>
              <a:t>- Khái niệm định thức được sử dụng cho ma trận vuông, quy tắc Cramer dùng để giải hệ vuông</a:t>
            </a:r>
          </a:p>
          <a:p>
            <a:pPr marL="0" indent="0" algn="just">
              <a:lnSpc>
                <a:spcPct val="150000"/>
              </a:lnSpc>
              <a:buNone/>
            </a:pPr>
            <a:endParaRPr lang="en-US" dirty="0"/>
          </a:p>
          <a:p>
            <a:pPr marL="0" indent="0" algn="just">
              <a:lnSpc>
                <a:spcPct val="150000"/>
              </a:lnSpc>
              <a:buNone/>
            </a:pPr>
            <a:endParaRPr lang="en-US" dirty="0"/>
          </a:p>
          <a:p>
            <a:pPr marL="0" indent="0" algn="just">
              <a:lnSpc>
                <a:spcPct val="150000"/>
              </a:lnSpc>
              <a:buNone/>
            </a:pPr>
            <a:r>
              <a:rPr lang="en-US" dirty="0"/>
              <a:t>trong đó |A| là định thức của ma trận hệ số A, |A</a:t>
            </a:r>
            <a:r>
              <a:rPr lang="en-US" baseline="-25000" dirty="0"/>
              <a:t>i</a:t>
            </a:r>
            <a:r>
              <a:rPr lang="en-US" dirty="0"/>
              <a:t>| là định thức của ma trận thu được từ A bằng cách thay cột thứ i bằng cột hệ số tự do </a:t>
            </a:r>
            <a:r>
              <a:rPr lang="en-US" b="1" dirty="0"/>
              <a:t>b</a:t>
            </a:r>
            <a:r>
              <a:rPr lang="en-US" dirty="0"/>
              <a:t>.</a:t>
            </a:r>
          </a:p>
        </p:txBody>
      </p:sp>
      <p:graphicFrame>
        <p:nvGraphicFramePr>
          <p:cNvPr id="2" name="Object 1">
            <a:hlinkClick r:id="" action="ppaction://ole?verb=0"/>
          </p:cNvPr>
          <p:cNvGraphicFramePr>
            <a:graphicFrameLocks noChangeAspect="1"/>
          </p:cNvGraphicFramePr>
          <p:nvPr/>
        </p:nvGraphicFramePr>
        <p:xfrm>
          <a:off x="4792980" y="3219450"/>
          <a:ext cx="1274618" cy="914400"/>
        </p:xfrm>
        <a:graphic>
          <a:graphicData uri="http://schemas.openxmlformats.org/presentationml/2006/ole">
            <mc:AlternateContent xmlns:mc="http://schemas.openxmlformats.org/markup-compatibility/2006">
              <mc:Choice xmlns:v="urn:schemas-microsoft-com:vml" Requires="v">
                <p:oleObj spid="_x0000_s1028" r:id="rId3" imgW="584200" imgH="419100" progId="Equation.KSEE3">
                  <p:embed/>
                </p:oleObj>
              </mc:Choice>
              <mc:Fallback>
                <p:oleObj r:id="rId3" imgW="584200" imgH="419100" progId="Equation.KSEE3">
                  <p:embed/>
                  <p:pic>
                    <p:nvPicPr>
                      <p:cNvPr id="0" name="Picture 1024"/>
                      <p:cNvPicPr/>
                      <p:nvPr/>
                    </p:nvPicPr>
                    <p:blipFill>
                      <a:blip r:embed="rId4"/>
                      <a:stretch>
                        <a:fillRect/>
                      </a:stretch>
                    </p:blipFill>
                    <p:spPr>
                      <a:xfrm>
                        <a:off x="4792980" y="3219450"/>
                        <a:ext cx="1274618" cy="91440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u="sng" dirty="0"/>
              <a:t>C. Khử các biến</a:t>
            </a:r>
          </a:p>
          <a:p>
            <a:pPr marL="0" indent="0" algn="just">
              <a:lnSpc>
                <a:spcPct val="150000"/>
              </a:lnSpc>
              <a:buNone/>
            </a:pPr>
            <a:r>
              <a:rPr lang="en-US" dirty="0"/>
              <a:t>Biểu diễn các biến theo các biến khác rồi thế vào một phương trình cụ thể để thu được phương trình một biến số</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II. Phương pháp khử Gauss đơn giản</a:t>
            </a:r>
          </a:p>
          <a:p>
            <a:pPr marL="0" indent="0" algn="just">
              <a:lnSpc>
                <a:spcPct val="150000"/>
              </a:lnSpc>
              <a:buNone/>
            </a:pPr>
            <a:r>
              <a:rPr lang="en-US" dirty="0"/>
              <a:t>là phương pháp khử Gauss cơ bản nhất khi không có các kĩ thuật hỗ trợ để xử lý các lỗi tính toán có thể xuất hiện. Cụ thể:</a:t>
            </a:r>
          </a:p>
          <a:p>
            <a:pPr marL="0" indent="0" algn="just">
              <a:lnSpc>
                <a:spcPct val="150000"/>
              </a:lnSpc>
              <a:buNone/>
            </a:pPr>
            <a:r>
              <a:rPr lang="en-US" dirty="0"/>
              <a:t>- Nó giả định các phần tử trên đường chéo chính luôn khác 0 (do vậy nếu các phần tử này bằng 0 hoặc rất gần 0, thuật toán bị lỗi hoặc gây ra sai số làm tròn cực lớn)</a:t>
            </a:r>
          </a:p>
          <a:p>
            <a:pPr marL="0" indent="0" algn="just">
              <a:lnSpc>
                <a:spcPct val="150000"/>
              </a:lnSpc>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 Nó bị ảnh hưởng bởi sai số: nếu hệ là điều kiện xấu, phương pháp khử Gauss đơn giản dễ bị sai lệch kết quả.</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Phương pháp khử Gauss gồm 2 bước</a:t>
            </a:r>
          </a:p>
          <a:p>
            <a:pPr marL="0" indent="0" algn="just">
              <a:lnSpc>
                <a:spcPct val="150000"/>
              </a:lnSpc>
              <a:buNone/>
            </a:pPr>
            <a:r>
              <a:rPr lang="en-US" dirty="0"/>
              <a:t>- Bước khử xuôi: Biến đổi ma trận hệ số mở rộng về dạng tam giác trên (hoặc dạng hàng bậc thang)</a:t>
            </a:r>
          </a:p>
          <a:p>
            <a:pPr marL="0" indent="0" algn="just">
              <a:lnSpc>
                <a:spcPct val="150000"/>
              </a:lnSpc>
              <a:buNone/>
            </a:pPr>
            <a:r>
              <a:rPr lang="en-US" dirty="0"/>
              <a:t>- Bước thế ngược: Giải tìm các ẩn số từ ẩn cuối cùng tới ẩn đầu tiên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Thực hành 1 </a:t>
            </a:r>
            <a:r>
              <a:rPr lang="en-US" dirty="0"/>
              <a:t>(trang 259) Cho hệ </a:t>
            </a:r>
          </a:p>
          <a:p>
            <a:pPr marL="0" indent="0" algn="just">
              <a:lnSpc>
                <a:spcPct val="150000"/>
              </a:lnSpc>
              <a:buNone/>
            </a:pPr>
            <a:endParaRPr lang="en-US" dirty="0"/>
          </a:p>
          <a:p>
            <a:pPr marL="0" indent="0" algn="just">
              <a:lnSpc>
                <a:spcPct val="150000"/>
              </a:lnSpc>
              <a:buNone/>
            </a:pPr>
            <a:endParaRPr lang="en-US" dirty="0"/>
          </a:p>
          <a:p>
            <a:pPr marL="0" indent="0" algn="just">
              <a:lnSpc>
                <a:spcPct val="150000"/>
              </a:lnSpc>
              <a:buNone/>
            </a:pPr>
            <a:r>
              <a:rPr lang="en-US" dirty="0">
                <a:sym typeface="+mn-ea"/>
              </a:rPr>
              <a:t>Sử dụng kỹ thuật khử Gauss giải hệ, sử dụng 6 chữ </a:t>
            </a:r>
            <a:r>
              <a:rPr lang="en-US" dirty="0" err="1">
                <a:sym typeface="+mn-ea"/>
              </a:rPr>
              <a:t>số</a:t>
            </a:r>
            <a:r>
              <a:rPr lang="en-US" dirty="0">
                <a:sym typeface="+mn-ea"/>
              </a:rPr>
              <a:t> </a:t>
            </a:r>
            <a:r>
              <a:rPr lang="en-US" dirty="0" err="1" smtClean="0">
                <a:sym typeface="+mn-ea"/>
              </a:rPr>
              <a:t>thập</a:t>
            </a:r>
            <a:r>
              <a:rPr lang="en-US" dirty="0" smtClean="0">
                <a:sym typeface="+mn-ea"/>
              </a:rPr>
              <a:t> </a:t>
            </a:r>
            <a:r>
              <a:rPr lang="en-US" dirty="0" err="1" smtClean="0">
                <a:sym typeface="+mn-ea"/>
              </a:rPr>
              <a:t>phân</a:t>
            </a:r>
            <a:r>
              <a:rPr lang="en-US" dirty="0" smtClean="0">
                <a:sym typeface="+mn-ea"/>
              </a:rPr>
              <a:t>.</a:t>
            </a:r>
            <a:endParaRPr lang="en-US" dirty="0"/>
          </a:p>
        </p:txBody>
      </p:sp>
      <p:pic>
        <p:nvPicPr>
          <p:cNvPr id="4" name="Picture 3"/>
          <p:cNvPicPr>
            <a:picLocks noChangeAspect="1"/>
          </p:cNvPicPr>
          <p:nvPr/>
        </p:nvPicPr>
        <p:blipFill>
          <a:blip r:embed="rId2"/>
          <a:stretch>
            <a:fillRect/>
          </a:stretch>
        </p:blipFill>
        <p:spPr>
          <a:xfrm>
            <a:off x="4974590" y="1880870"/>
            <a:ext cx="2453640" cy="96774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996950" y="871855"/>
            <a:ext cx="6172200" cy="4404360"/>
          </a:xfrm>
          <a:prstGeom prst="rect">
            <a:avLst/>
          </a:prstGeom>
        </p:spPr>
      </p:pic>
      <p:pic>
        <p:nvPicPr>
          <p:cNvPr id="6" name="Picture 5"/>
          <p:cNvPicPr>
            <a:picLocks noChangeAspect="1"/>
          </p:cNvPicPr>
          <p:nvPr/>
        </p:nvPicPr>
        <p:blipFill>
          <a:blip r:embed="rId3"/>
          <a:stretch>
            <a:fillRect/>
          </a:stretch>
        </p:blipFill>
        <p:spPr>
          <a:xfrm>
            <a:off x="7894320" y="3860165"/>
            <a:ext cx="3596640" cy="19812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ĐẾM SỐ PHÉP TÍNH TOÁN</a:t>
            </a:r>
          </a:p>
          <a:p>
            <a:pPr marL="0" indent="0" algn="just">
              <a:lnSpc>
                <a:spcPct val="150000"/>
              </a:lnSpc>
              <a:buNone/>
            </a:pPr>
            <a:r>
              <a:rPr lang="en-US" dirty="0"/>
              <a:t>Thời gian thực thi thuật toán phụ thuộc vào số lượng phép toán trong thuật toán. Việc tổng hợp các phép toán giúp hiểu rõ phần nào của thuật toán tiêu tốn thời gian nhiều nhất cũng như cách mà thời gian tính toán tăng lên khi hệ trở nên lớn hơn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Số lượng phép toán khử là </a:t>
            </a:r>
          </a:p>
          <a:p>
            <a:pPr marL="0" indent="0" algn="just">
              <a:lnSpc>
                <a:spcPct val="150000"/>
              </a:lnSpc>
              <a:buNone/>
            </a:pPr>
            <a:endParaRPr lang="en-US" dirty="0"/>
          </a:p>
          <a:p>
            <a:pPr marL="0" indent="0" algn="just">
              <a:lnSpc>
                <a:spcPct val="150000"/>
              </a:lnSpc>
              <a:buNone/>
            </a:pPr>
            <a:r>
              <a:rPr lang="en-US" dirty="0"/>
              <a:t>Số lượng phép toán thế ngược là</a:t>
            </a:r>
          </a:p>
          <a:p>
            <a:pPr marL="0" indent="0" algn="just">
              <a:lnSpc>
                <a:spcPct val="150000"/>
              </a:lnSpc>
              <a:buNone/>
            </a:pPr>
            <a:endParaRPr lang="en-US" dirty="0"/>
          </a:p>
          <a:p>
            <a:pPr marL="0" indent="0" algn="just">
              <a:lnSpc>
                <a:spcPct val="150000"/>
              </a:lnSpc>
              <a:buNone/>
            </a:pPr>
            <a:r>
              <a:rPr lang="en-US" dirty="0"/>
              <a:t>Vậy độ phức tạp tính toán là O(n</a:t>
            </a:r>
            <a:r>
              <a:rPr lang="en-US" baseline="30000" dirty="0"/>
              <a:t>3</a:t>
            </a:r>
            <a:r>
              <a:rPr lang="en-US" dirty="0"/>
              <a:t>) chủ yếu là thực hiện quá trình khử</a:t>
            </a:r>
          </a:p>
        </p:txBody>
      </p:sp>
      <p:pic>
        <p:nvPicPr>
          <p:cNvPr id="2" name="Picture 1"/>
          <p:cNvPicPr>
            <a:picLocks noChangeAspect="1"/>
          </p:cNvPicPr>
          <p:nvPr/>
        </p:nvPicPr>
        <p:blipFill>
          <a:blip r:embed="rId2"/>
          <a:stretch>
            <a:fillRect/>
          </a:stretch>
        </p:blipFill>
        <p:spPr>
          <a:xfrm>
            <a:off x="4943475" y="1659255"/>
            <a:ext cx="1584960" cy="731520"/>
          </a:xfrm>
          <a:prstGeom prst="rect">
            <a:avLst/>
          </a:prstGeom>
        </p:spPr>
      </p:pic>
      <p:pic>
        <p:nvPicPr>
          <p:cNvPr id="4" name="Picture 3"/>
          <p:cNvPicPr>
            <a:picLocks noChangeAspect="1"/>
          </p:cNvPicPr>
          <p:nvPr/>
        </p:nvPicPr>
        <p:blipFill>
          <a:blip r:embed="rId3"/>
          <a:stretch>
            <a:fillRect/>
          </a:stretch>
        </p:blipFill>
        <p:spPr>
          <a:xfrm>
            <a:off x="5274945" y="3230880"/>
            <a:ext cx="1339948" cy="54864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Các lỗi có thể xuất hiện khi sử dụng khử Gauss:</a:t>
            </a:r>
          </a:p>
          <a:p>
            <a:pPr marL="0" indent="0" algn="just">
              <a:lnSpc>
                <a:spcPct val="150000"/>
              </a:lnSpc>
              <a:buNone/>
            </a:pPr>
            <a:r>
              <a:rPr lang="en-US" dirty="0"/>
              <a:t>- Phép chia cho 0</a:t>
            </a:r>
          </a:p>
          <a:p>
            <a:pPr marL="0" indent="0" algn="just">
              <a:lnSpc>
                <a:spcPct val="150000"/>
              </a:lnSpc>
              <a:buNone/>
            </a:pPr>
            <a:r>
              <a:rPr lang="en-US" dirty="0"/>
              <a:t>- Sai số làm tròn</a:t>
            </a:r>
          </a:p>
          <a:p>
            <a:pPr marL="0" indent="0" algn="just">
              <a:lnSpc>
                <a:spcPct val="150000"/>
              </a:lnSpc>
              <a:buNone/>
            </a:pPr>
            <a:r>
              <a:rPr lang="en-US" dirty="0"/>
              <a:t>- Hệ điều kiện xấu</a:t>
            </a:r>
          </a:p>
          <a:p>
            <a:pPr marL="0" indent="0" algn="just">
              <a:lnSpc>
                <a:spcPct val="150000"/>
              </a:lnSpc>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solidFill>
                  <a:srgbClr val="C00000"/>
                </a:solidFill>
              </a:rPr>
              <a:t>Hệ điều kiện xấu</a:t>
            </a:r>
          </a:p>
          <a:p>
            <a:pPr marL="0" indent="0" algn="just">
              <a:lnSpc>
                <a:spcPct val="150000"/>
              </a:lnSpc>
              <a:buNone/>
            </a:pPr>
            <a:endParaRPr lang="en-US" dirty="0"/>
          </a:p>
          <a:p>
            <a:pPr marL="0" indent="0" algn="just">
              <a:lnSpc>
                <a:spcPct val="150000"/>
              </a:lnSpc>
              <a:buNone/>
            </a:pPr>
            <a:r>
              <a:rPr lang="en-US" dirty="0"/>
              <a:t>Giải hệ                              ta được nghiệm (4, 3).</a:t>
            </a:r>
          </a:p>
          <a:p>
            <a:pPr marL="0" indent="0" algn="just">
              <a:lnSpc>
                <a:spcPct val="150000"/>
              </a:lnSpc>
              <a:buNone/>
            </a:pPr>
            <a:endParaRPr lang="en-US" dirty="0"/>
          </a:p>
          <a:p>
            <a:pPr marL="0" indent="0" algn="just">
              <a:lnSpc>
                <a:spcPct val="150000"/>
              </a:lnSpc>
              <a:buNone/>
            </a:pPr>
            <a:r>
              <a:rPr lang="en-US" dirty="0"/>
              <a:t>  Một sự thay đổi nhỏ trong hệ số 1.1 thành 1.05 ta được hệ</a:t>
            </a:r>
          </a:p>
          <a:p>
            <a:pPr marL="0" indent="0" algn="just">
              <a:lnSpc>
                <a:spcPct val="150000"/>
              </a:lnSpc>
              <a:buNone/>
            </a:pPr>
            <a:r>
              <a:rPr lang="en-US" dirty="0"/>
              <a:t>với nghiệm là (8, 1)</a:t>
            </a:r>
          </a:p>
        </p:txBody>
      </p:sp>
      <p:graphicFrame>
        <p:nvGraphicFramePr>
          <p:cNvPr id="2" name="Object 1">
            <a:hlinkClick r:id="" action="ppaction://ole?verb=0"/>
          </p:cNvPr>
          <p:cNvGraphicFramePr>
            <a:graphicFrameLocks noChangeAspect="1"/>
          </p:cNvGraphicFramePr>
          <p:nvPr/>
        </p:nvGraphicFramePr>
        <p:xfrm>
          <a:off x="9604475" y="3928745"/>
          <a:ext cx="2358390" cy="914400"/>
        </p:xfrm>
        <a:graphic>
          <a:graphicData uri="http://schemas.openxmlformats.org/presentationml/2006/ole">
            <mc:AlternateContent xmlns:mc="http://schemas.openxmlformats.org/markup-compatibility/2006">
              <mc:Choice xmlns:v="urn:schemas-microsoft-com:vml" Requires="v">
                <p:oleObj spid="_x0000_s2051" r:id="rId3" imgW="1244600" imgH="482600" progId="Equation.KSEE3">
                  <p:embed/>
                </p:oleObj>
              </mc:Choice>
              <mc:Fallback>
                <p:oleObj r:id="rId3" imgW="1244600" imgH="482600" progId="Equation.KSEE3">
                  <p:embed/>
                  <p:pic>
                    <p:nvPicPr>
                      <p:cNvPr id="0" name="Picture 1024"/>
                      <p:cNvPicPr/>
                      <p:nvPr/>
                    </p:nvPicPr>
                    <p:blipFill>
                      <a:blip r:embed="rId4"/>
                      <a:stretch>
                        <a:fillRect/>
                      </a:stretch>
                    </p:blipFill>
                    <p:spPr>
                      <a:xfrm>
                        <a:off x="9604475" y="3928745"/>
                        <a:ext cx="2358390" cy="914400"/>
                      </a:xfrm>
                      <a:prstGeom prst="rect">
                        <a:avLst/>
                      </a:prstGeom>
                    </p:spPr>
                  </p:pic>
                </p:oleObj>
              </mc:Fallback>
            </mc:AlternateContent>
          </a:graphicData>
        </a:graphic>
      </p:graphicFrame>
      <p:graphicFrame>
        <p:nvGraphicFramePr>
          <p:cNvPr id="4" name="Object 3">
            <a:hlinkClick r:id="" action="ppaction://ole?verb=0"/>
          </p:cNvPr>
          <p:cNvGraphicFramePr>
            <a:graphicFrameLocks noChangeAspect="1"/>
          </p:cNvGraphicFramePr>
          <p:nvPr/>
        </p:nvGraphicFramePr>
        <p:xfrm>
          <a:off x="2041307" y="2368550"/>
          <a:ext cx="2214245" cy="914400"/>
        </p:xfrm>
        <a:graphic>
          <a:graphicData uri="http://schemas.openxmlformats.org/presentationml/2006/ole">
            <mc:AlternateContent xmlns:mc="http://schemas.openxmlformats.org/markup-compatibility/2006">
              <mc:Choice xmlns:v="urn:schemas-microsoft-com:vml" Requires="v">
                <p:oleObj spid="_x0000_s2052" r:id="rId5" imgW="1168400" imgH="482600" progId="Equation.KSEE3">
                  <p:embed/>
                </p:oleObj>
              </mc:Choice>
              <mc:Fallback>
                <p:oleObj r:id="rId5" imgW="1168400" imgH="482600" progId="Equation.KSEE3">
                  <p:embed/>
                  <p:pic>
                    <p:nvPicPr>
                      <p:cNvPr id="0" name="Picture 1024"/>
                      <p:cNvPicPr/>
                      <p:nvPr/>
                    </p:nvPicPr>
                    <p:blipFill>
                      <a:blip r:embed="rId6"/>
                      <a:stretch>
                        <a:fillRect/>
                      </a:stretch>
                    </p:blipFill>
                    <p:spPr>
                      <a:xfrm>
                        <a:off x="2041307" y="2368550"/>
                        <a:ext cx="2214245" cy="91440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a:t>Hệ điều kiện xấu là hệ có định thức xấp xỉ bằng 0. Tuy nhiên khó xác định xem định thức phải gần bằng 0 đến mức nào thì hệ mới được coi là điều kiện xấu, ngoài ra thực tế là giá trị của định thức có thể thay đổi được bằng cách nhân một hoặc nhiều phương trình với một hằng số mà không làm thay đổi nghiệm của hệ.</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III. Một số kỹ thuật cải thiện nghiệm</a:t>
            </a:r>
          </a:p>
          <a:p>
            <a:pPr marL="0" indent="0" algn="just">
              <a:lnSpc>
                <a:spcPct val="150000"/>
              </a:lnSpc>
              <a:buNone/>
            </a:pPr>
            <a:r>
              <a:rPr lang="en-US" b="1" dirty="0"/>
              <a:t>a.</a:t>
            </a:r>
            <a:r>
              <a:rPr lang="en-US" dirty="0"/>
              <a:t> Sử dụng nhiều các chữ số có nghĩa hơn. Giá phải trả là tăng chi phí tính toán và bộ nhớ đi kèm.</a:t>
            </a:r>
          </a:p>
          <a:p>
            <a:pPr marL="0" indent="0" algn="just">
              <a:lnSpc>
                <a:spcPct val="150000"/>
              </a:lnSpc>
              <a:buNone/>
            </a:pPr>
            <a:r>
              <a:rPr lang="en-US" b="1" dirty="0"/>
              <a:t>b.</a:t>
            </a:r>
            <a:r>
              <a:rPr lang="en-US" dirty="0"/>
              <a:t> Sử dụng kĩ thuật xoay</a:t>
            </a:r>
          </a:p>
          <a:p>
            <a:pPr marL="0" indent="0" algn="just">
              <a:lnSpc>
                <a:spcPct val="150000"/>
              </a:lnSpc>
              <a:buNone/>
            </a:pPr>
            <a:r>
              <a:rPr lang="en-US" dirty="0"/>
              <a:t>  - Tránh chia cho phần tử chốt bằng 0</a:t>
            </a:r>
          </a:p>
          <a:p>
            <a:pPr marL="0" indent="0" algn="just">
              <a:lnSpc>
                <a:spcPct val="150000"/>
              </a:lnSpc>
              <a:buNone/>
            </a:pPr>
            <a:r>
              <a:rPr lang="en-US" dirty="0"/>
              <a:t>  - Tránh chia cho phần tử nhỏ hơn nhiều so với các phần tử khác trong cùng cột.</a:t>
            </a:r>
          </a:p>
          <a:p>
            <a:pPr marL="0" indent="0" algn="just">
              <a:lnSpc>
                <a:spcPct val="150000"/>
              </a:lnSpc>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a:t>Kỹ thuật xoay</a:t>
            </a:r>
          </a:p>
          <a:p>
            <a:pPr marL="0" indent="0" algn="just">
              <a:lnSpc>
                <a:spcPct val="150000"/>
              </a:lnSpc>
              <a:buNone/>
            </a:pPr>
            <a:r>
              <a:rPr lang="en-US" dirty="0"/>
              <a:t>- Xoay một phần: hoán đổi hàng để phần tử chốt là lớn nhất trong cột của nó.</a:t>
            </a:r>
          </a:p>
          <a:p>
            <a:pPr marL="0" indent="0" algn="just">
              <a:lnSpc>
                <a:spcPct val="150000"/>
              </a:lnSpc>
              <a:buNone/>
            </a:pPr>
            <a:r>
              <a:rPr lang="en-US" dirty="0"/>
              <a:t>- Xoay toàn phần: hoán đổi cả hàng và cột để phần tử chốt là lớn nhất. Tuy nhiên trong thực tế không sử dụng xoay toàn phần vì dẫn tới thay đổi thứ tự thành phần nghiệm </a:t>
            </a:r>
            <a:r>
              <a:rPr lang="en-US" dirty="0">
                <a:latin typeface="Calibri" panose="020F0502020204030204" charset="0"/>
                <a:cs typeface="Calibri" panose="020F0502020204030204" charset="0"/>
              </a:rPr>
              <a:t>→ phức tạp</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0555"/>
            <a:ext cx="10515600" cy="5546090"/>
          </a:xfrm>
        </p:spPr>
        <p:txBody>
          <a:bodyPr/>
          <a:lstStyle/>
          <a:p>
            <a:pPr marL="0" indent="0" algn="just">
              <a:lnSpc>
                <a:spcPct val="150000"/>
              </a:lnSpc>
              <a:buNone/>
            </a:pPr>
            <a:r>
              <a:rPr lang="en-US" b="1" dirty="0"/>
              <a:t>c. </a:t>
            </a:r>
            <a:r>
              <a:rPr lang="en-US" dirty="0"/>
              <a:t>Chuẩn hóa tỉ lệ (scaling)</a:t>
            </a:r>
          </a:p>
          <a:p>
            <a:pPr marL="0" indent="0" algn="just">
              <a:lnSpc>
                <a:spcPct val="150000"/>
              </a:lnSpc>
              <a:buNone/>
            </a:pPr>
            <a:r>
              <a:rPr lang="en-US" dirty="0">
                <a:latin typeface="Calibri" panose="020F0502020204030204" charset="0"/>
                <a:cs typeface="Calibri" panose="020F0502020204030204" charset="0"/>
              </a:rPr>
              <a:t>Việc nhân vào một hoặc nhiều phương trình các hằng số </a:t>
            </a:r>
          </a:p>
          <a:p>
            <a:pPr marL="0" indent="0" algn="just">
              <a:lnSpc>
                <a:spcPct val="150000"/>
              </a:lnSpc>
              <a:buNone/>
            </a:pPr>
            <a:r>
              <a:rPr lang="en-US" dirty="0">
                <a:latin typeface="Calibri" panose="020F0502020204030204" charset="0"/>
                <a:cs typeface="Calibri" panose="020F0502020204030204" charset="0"/>
              </a:rPr>
              <a:t>- làm thay đổi giá trị của định thức</a:t>
            </a:r>
          </a:p>
          <a:p>
            <a:pPr marL="0" indent="0" algn="just">
              <a:lnSpc>
                <a:spcPct val="150000"/>
              </a:lnSpc>
              <a:buNone/>
            </a:pPr>
            <a:r>
              <a:rPr lang="en-US" dirty="0">
                <a:latin typeface="Calibri" panose="020F0502020204030204" charset="0"/>
                <a:cs typeface="Calibri" panose="020F0502020204030204" charset="0"/>
              </a:rPr>
              <a:t>- có tác dụng giảm thiểu sai số làm tròn trong những trường hợp mà một số pt trong hệ có hệ số lớn hơn nhiều so với các pt khác.</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0555"/>
            <a:ext cx="10515600" cy="5546090"/>
          </a:xfrm>
        </p:spPr>
        <p:txBody>
          <a:bodyPr/>
          <a:lstStyle/>
          <a:p>
            <a:pPr marL="0" indent="0" algn="just">
              <a:lnSpc>
                <a:spcPct val="150000"/>
              </a:lnSpc>
              <a:buNone/>
            </a:pPr>
            <a:r>
              <a:rPr lang="en-US" dirty="0">
                <a:latin typeface="Calibri" panose="020F0502020204030204" charset="0"/>
                <a:cs typeface="Calibri" panose="020F0502020204030204" charset="0"/>
              </a:rPr>
              <a:t>Trong kỹ thuật chuẩn hóa tỷ lệ ta chuẩn hóa các phương trình sao cho hệ số lớn nhất trong các phương trình là 1.</a:t>
            </a:r>
          </a:p>
          <a:p>
            <a:pPr marL="0" indent="0" algn="just">
              <a:lnSpc>
                <a:spcPct val="150000"/>
              </a:lnSpc>
              <a:buNone/>
            </a:pPr>
            <a:endParaRPr lang="en-US" dirty="0">
              <a:latin typeface="Calibri" panose="020F0502020204030204" charset="0"/>
              <a:cs typeface="Calibri" panose="020F0502020204030204" charset="0"/>
            </a:endParaRPr>
          </a:p>
          <a:p>
            <a:pPr marL="0" indent="0" algn="just">
              <a:lnSpc>
                <a:spcPct val="150000"/>
              </a:lnSpc>
              <a:buNone/>
            </a:pPr>
            <a:r>
              <a:rPr lang="en-US" dirty="0">
                <a:latin typeface="Calibri" panose="020F0502020204030204" charset="0"/>
                <a:cs typeface="Calibri" panose="020F0502020204030204" charset="0"/>
              </a:rPr>
              <a:t>Xét 2 hệ x + 2y = 1 và 100x + 200y = 100 (các phương trình có thể có hệ số sai khác rất lớn phụ thuộc vào đơn vị đo đạc (vd:km và mm, ..). Nếu không chuẩn hóa tỷ lệ về 1, xoay vòng sẽ chọn pt thứ 2, mà bản chất 2 pt này là như nhau.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0555"/>
            <a:ext cx="10515600" cy="5546090"/>
          </a:xfrm>
        </p:spPr>
        <p:txBody>
          <a:bodyPr/>
          <a:lstStyle/>
          <a:p>
            <a:pPr marL="0" indent="0" algn="just">
              <a:lnSpc>
                <a:spcPct val="150000"/>
              </a:lnSpc>
              <a:buNone/>
            </a:pPr>
            <a:r>
              <a:rPr lang="en-US" dirty="0">
                <a:latin typeface="Calibri" panose="020F0502020204030204" charset="0"/>
                <a:cs typeface="Calibri" panose="020F0502020204030204" charset="0"/>
              </a:rPr>
              <a:t>Bài tập</a:t>
            </a:r>
          </a:p>
          <a:p>
            <a:pPr marL="0" indent="0" algn="just">
              <a:lnSpc>
                <a:spcPct val="150000"/>
              </a:lnSpc>
              <a:buNone/>
            </a:pPr>
            <a:r>
              <a:rPr lang="en-US" dirty="0">
                <a:latin typeface="Calibri" panose="020F0502020204030204" charset="0"/>
                <a:cs typeface="Calibri" panose="020F0502020204030204" charset="0"/>
              </a:rPr>
              <a:t>Trang 281: 9.7, 9.8</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1039</Words>
  <Application>Microsoft Office PowerPoint</Application>
  <PresentationFormat>Widescreen</PresentationFormat>
  <Paragraphs>75</Paragraphs>
  <Slides>23</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8" baseType="lpstr">
      <vt:lpstr>Arial</vt:lpstr>
      <vt:lpstr>Calibri</vt:lpstr>
      <vt:lpstr>Calibri Light</vt:lpstr>
      <vt:lpstr>Office Theme</vt:lpstr>
      <vt:lpstr>Equation.KSEE3</vt:lpstr>
      <vt:lpstr>Bài 5. Hệ phương trình  tuyến tính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Xấp xỉ và sai số làm tròn</dc:title>
  <dc:creator>Admin</dc:creator>
  <cp:lastModifiedBy>Admin</cp:lastModifiedBy>
  <cp:revision>92</cp:revision>
  <dcterms:created xsi:type="dcterms:W3CDTF">2026-01-18T01:55:00Z</dcterms:created>
  <dcterms:modified xsi:type="dcterms:W3CDTF">2026-03-05T02:52:22Z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24AF1C07AC78435B9D0C42B4F2B8AA5C_12</vt:lpwstr>
  </property>
  <property fmtid="{D5CDD505-2E9C-101B-9397-08002B2CF9AE}" pid="3" name="KSOProductBuildVer">
    <vt:lpwstr>1033-12.2.0.23196</vt:lpwstr>
  </property>
</Properties>
</file>