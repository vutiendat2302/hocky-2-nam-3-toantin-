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322" r:id="rId4"/>
    <p:sldId id="323" r:id="rId5"/>
    <p:sldId id="336" r:id="rId6"/>
    <p:sldId id="337" r:id="rId7"/>
    <p:sldId id="324" r:id="rId8"/>
    <p:sldId id="345" r:id="rId9"/>
    <p:sldId id="348" r:id="rId10"/>
    <p:sldId id="338" r:id="rId11"/>
    <p:sldId id="339" r:id="rId12"/>
    <p:sldId id="341" r:id="rId13"/>
    <p:sldId id="349" r:id="rId14"/>
    <p:sldId id="342" r:id="rId15"/>
    <p:sldId id="343" r:id="rId16"/>
    <p:sldId id="340" r:id="rId17"/>
    <p:sldId id="346" r:id="rId18"/>
    <p:sldId id="347"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 initials="A" lastIdx="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CC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8" d="100"/>
          <a:sy n="68" d="100"/>
        </p:scale>
        <p:origin x="81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3" Type="http://schemas.openxmlformats.org/officeDocument/2006/relationships/commentAuthors" Target="commentAuthors.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6511BD4-09FE-423A-AE26-7EEDCCE9E16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5A8064-B825-47D7-9C26-BFA1C777806E}"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46511BD4-09FE-423A-AE26-7EEDCCE9E16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5A8064-B825-47D7-9C26-BFA1C777806E}"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endParaRPr lang="en-US" smtClean="0"/>
          </a:p>
        </p:txBody>
      </p:sp>
      <p:sp>
        <p:nvSpPr>
          <p:cNvPr id="4" name="Date Placeholder 3"/>
          <p:cNvSpPr>
            <a:spLocks noGrp="1"/>
          </p:cNvSpPr>
          <p:nvPr>
            <p:ph type="dt" sz="half" idx="10"/>
          </p:nvPr>
        </p:nvSpPr>
        <p:spPr/>
        <p:txBody>
          <a:bodyPr/>
          <a:lstStyle/>
          <a:p>
            <a:fld id="{46511BD4-09FE-423A-AE26-7EEDCCE9E16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5A8064-B825-47D7-9C26-BFA1C777806E}"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46511BD4-09FE-423A-AE26-7EEDCCE9E160}"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5A8064-B825-47D7-9C26-BFA1C777806E}"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46511BD4-09FE-423A-AE26-7EEDCCE9E160}"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E5A8064-B825-47D7-9C26-BFA1C777806E}"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6511BD4-09FE-423A-AE26-7EEDCCE9E160}"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E5A8064-B825-47D7-9C26-BFA1C777806E}"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6511BD4-09FE-423A-AE26-7EEDCCE9E160}"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E5A8064-B825-47D7-9C26-BFA1C777806E}"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46511BD4-09FE-423A-AE26-7EEDCCE9E160}"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5A8064-B825-47D7-9C26-BFA1C777806E}"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46511BD4-09FE-423A-AE26-7EEDCCE9E160}"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5A8064-B825-47D7-9C26-BFA1C777806E}"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46511BD4-09FE-423A-AE26-7EEDCCE9E16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5A8064-B825-47D7-9C26-BFA1C777806E}"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46511BD4-09FE-423A-AE26-7EEDCCE9E16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5A8064-B825-47D7-9C26-BFA1C777806E}"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6511BD4-09FE-423A-AE26-7EEDCCE9E160}"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5A8064-B825-47D7-9C26-BFA1C777806E}"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2.wmf"/><Relationship Id="rId1"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5.wmf"/><Relationship Id="rId1" Type="http://schemas.openxmlformats.org/officeDocument/2006/relationships/oleObject" Target="../embeddings/oleObject2.bin"/></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4.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7.wmf"/><Relationship Id="rId1" Type="http://schemas.openxmlformats.org/officeDocument/2006/relationships/oleObject" Target="../embeddings/oleObject3.bin"/></Relationships>
</file>

<file path=ppt/slides/_rels/slide15.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8.wmf"/><Relationship Id="rId1" Type="http://schemas.openxmlformats.org/officeDocument/2006/relationships/oleObject" Target="../embeddings/oleObject4.bin"/></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err="1" smtClean="0"/>
              <a:t>Bài</a:t>
            </a:r>
            <a:r>
              <a:rPr lang="en-US" dirty="0" smtClean="0"/>
              <a:t> 4. </a:t>
            </a:r>
            <a:r>
              <a:rPr lang="en-US" dirty="0" err="1" smtClean="0"/>
              <a:t>Giải</a:t>
            </a:r>
            <a:r>
              <a:rPr lang="en-US" dirty="0" smtClean="0"/>
              <a:t> </a:t>
            </a:r>
            <a:r>
              <a:rPr lang="en-US" dirty="0" err="1" smtClean="0"/>
              <a:t>phương</a:t>
            </a:r>
            <a:r>
              <a:rPr lang="en-US" dirty="0" smtClean="0"/>
              <a:t> </a:t>
            </a:r>
            <a:r>
              <a:rPr lang="en-US" dirty="0" err="1" smtClean="0"/>
              <a:t>trình</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b="1" dirty="0" err="1" smtClean="0"/>
              <a:t>B. Các phương pháp mở</a:t>
            </a:r>
            <a:r>
              <a:rPr lang="en-US" b="1" dirty="0" smtClean="0"/>
              <a:t> (Open methods)</a:t>
            </a:r>
            <a:endParaRPr lang="en-US" b="1" dirty="0" smtClean="0"/>
          </a:p>
          <a:p>
            <a:pPr marL="0" indent="0" algn="just">
              <a:lnSpc>
                <a:spcPct val="150000"/>
              </a:lnSpc>
              <a:buNone/>
            </a:pPr>
            <a:r>
              <a:rPr lang="en-US" dirty="0"/>
              <a:t>Với phương pháp đóng khung (bài 3), nghiệm chính xác luôn nằm bên trong một khoảng xác định, kết quả của phép lặp cho nghiệm xấp xỉ ngày càng dần tới nghiệm chính xác. Những phương pháp đóng khung luôn luôn hội tụ tới nghiệm chính xác</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dirty="0"/>
              <a:t>Trong bài này, các phương pháp mở xây dựng các công thức dựa trên 1 hoặc 2 giá trị xuất phát ban đầu (có thể không chứa nghiệm chính xác bên trong chúng). Vì thế các phương pháp mở có thể không hội tụ, tuy nhiên nếu chúng hội tụ thì thông thường chúng hội tụ tới nghiệm nhanh hơn các phương pháp đóng khung.</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b="1" dirty="0"/>
              <a:t>I. Phương pháp lặp điểm cố định (phương pháp lặp đơn)</a:t>
            </a:r>
            <a:endParaRPr lang="en-US" b="1" dirty="0"/>
          </a:p>
          <a:p>
            <a:pPr marL="0" indent="0" algn="just">
              <a:lnSpc>
                <a:spcPct val="150000"/>
              </a:lnSpc>
              <a:buNone/>
            </a:pPr>
            <a:r>
              <a:rPr lang="en-US" dirty="0"/>
              <a:t>Đưa phương trình f(x) = 0 về dạng</a:t>
            </a:r>
            <a:endParaRPr lang="en-US" dirty="0"/>
          </a:p>
          <a:p>
            <a:pPr marL="0" indent="0" algn="ctr">
              <a:lnSpc>
                <a:spcPct val="150000"/>
              </a:lnSpc>
              <a:buNone/>
            </a:pPr>
            <a:r>
              <a:rPr lang="en-US" dirty="0"/>
              <a:t>x = g(x)</a:t>
            </a:r>
            <a:endParaRPr lang="en-US" dirty="0"/>
          </a:p>
          <a:p>
            <a:pPr marL="0" indent="0" algn="just">
              <a:lnSpc>
                <a:spcPct val="150000"/>
              </a:lnSpc>
              <a:buNone/>
            </a:pPr>
            <a:r>
              <a:rPr lang="en-US" dirty="0"/>
              <a:t>Với giá trị xuất phát ban đầu x</a:t>
            </a:r>
            <a:r>
              <a:rPr lang="en-US" baseline="-25000" dirty="0"/>
              <a:t>0</a:t>
            </a:r>
            <a:r>
              <a:rPr lang="en-US" dirty="0"/>
              <a:t> cho trước, ta thu được công thức lặp điểm cố định để xác định các xấp xỉ tiếp theo của nghiệm là</a:t>
            </a:r>
            <a:endParaRPr lang="en-US" dirty="0"/>
          </a:p>
          <a:p>
            <a:pPr marL="0" indent="0" algn="ctr">
              <a:lnSpc>
                <a:spcPct val="150000"/>
              </a:lnSpc>
              <a:buNone/>
            </a:pPr>
            <a:r>
              <a:rPr lang="en-US" dirty="0">
                <a:sym typeface="+mn-ea"/>
              </a:rPr>
              <a:t>x</a:t>
            </a:r>
            <a:r>
              <a:rPr lang="en-US" baseline="-25000" dirty="0">
                <a:sym typeface="+mn-ea"/>
              </a:rPr>
              <a:t>i+1</a:t>
            </a:r>
            <a:r>
              <a:rPr lang="en-US" dirty="0">
                <a:sym typeface="+mn-ea"/>
              </a:rPr>
              <a:t> = g(x</a:t>
            </a:r>
            <a:r>
              <a:rPr lang="en-US" baseline="-25000" dirty="0">
                <a:sym typeface="+mn-ea"/>
              </a:rPr>
              <a:t>i</a:t>
            </a:r>
            <a:r>
              <a:rPr lang="en-US" dirty="0">
                <a:sym typeface="+mn-ea"/>
              </a:rPr>
              <a:t>), i = 0, 1, 2, ...</a:t>
            </a:r>
            <a:endParaRPr lang="en-US" dirty="0"/>
          </a:p>
          <a:p>
            <a:pPr marL="0" indent="0" algn="just">
              <a:lnSpc>
                <a:spcPct val="150000"/>
              </a:lnSpc>
              <a:buNone/>
            </a:pP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dirty="0"/>
              <a:t>Sai số tương đối xấp xỉ của phương pháp lặp đơn được cho bởi công thức</a:t>
            </a:r>
            <a:endParaRPr lang="en-US" dirty="0"/>
          </a:p>
        </p:txBody>
      </p:sp>
      <p:pic>
        <p:nvPicPr>
          <p:cNvPr id="2" name="Picture 1"/>
          <p:cNvPicPr>
            <a:picLocks noChangeAspect="1"/>
          </p:cNvPicPr>
          <p:nvPr/>
        </p:nvPicPr>
        <p:blipFill>
          <a:blip r:embed="rId1"/>
          <a:stretch>
            <a:fillRect/>
          </a:stretch>
        </p:blipFill>
        <p:spPr>
          <a:xfrm>
            <a:off x="4892040" y="2423160"/>
            <a:ext cx="2407920" cy="746760"/>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dirty="0">
                <a:latin typeface="Calibri" panose="020F0502020204030204" charset="0"/>
                <a:cs typeface="Calibri" panose="020F0502020204030204" charset="0"/>
              </a:rPr>
              <a:t>Phương pháp lặp đơn hội tụ nếu trên miền đang xét </a:t>
            </a:r>
            <a:endParaRPr lang="en-US" dirty="0">
              <a:latin typeface="Calibri" panose="020F0502020204030204" charset="0"/>
              <a:cs typeface="Calibri" panose="020F0502020204030204" charset="0"/>
            </a:endParaRPr>
          </a:p>
          <a:p>
            <a:pPr marL="0" indent="0" algn="ctr">
              <a:lnSpc>
                <a:spcPct val="150000"/>
              </a:lnSpc>
              <a:buNone/>
            </a:pPr>
            <a:r>
              <a:rPr lang="en-US" dirty="0">
                <a:latin typeface="Calibri" panose="020F0502020204030204" charset="0"/>
                <a:cs typeface="Calibri" panose="020F0502020204030204" charset="0"/>
              </a:rPr>
              <a:t>|g'(x)| &lt; 1</a:t>
            </a:r>
            <a:endParaRPr lang="en-US" dirty="0">
              <a:latin typeface="Calibri" panose="020F0502020204030204" charset="0"/>
              <a:cs typeface="Calibri" panose="020F0502020204030204" charset="0"/>
            </a:endParaRPr>
          </a:p>
          <a:p>
            <a:pPr marL="0" indent="0" algn="just">
              <a:lnSpc>
                <a:spcPct val="150000"/>
              </a:lnSpc>
              <a:buNone/>
            </a:pPr>
            <a:endParaRPr lang="en-US" dirty="0">
              <a:latin typeface="Calibri" panose="020F0502020204030204" charset="0"/>
              <a:cs typeface="Calibri" panose="020F050202020403020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dirty="0">
                <a:latin typeface="Calibri" panose="020F0502020204030204" charset="0"/>
                <a:cs typeface="Calibri" panose="020F0502020204030204" charset="0"/>
              </a:rPr>
              <a:t>Với </a:t>
            </a:r>
            <a:r>
              <a:rPr lang="en-US" dirty="0">
                <a:latin typeface="Calibri" panose="020F0502020204030204" charset="0"/>
                <a:cs typeface="Calibri" panose="020F0502020204030204" charset="0"/>
                <a:sym typeface="+mn-ea"/>
              </a:rPr>
              <a:t>|g'(x)| &lt; 1, d</a:t>
            </a:r>
            <a:r>
              <a:rPr lang="en-US" dirty="0">
                <a:latin typeface="Calibri" panose="020F0502020204030204" charset="0"/>
                <a:cs typeface="Calibri" panose="020F0502020204030204" charset="0"/>
              </a:rPr>
              <a:t>ựa trên phương trình của sai số tuyệt đối của phương pháp</a:t>
            </a:r>
            <a:endParaRPr lang="en-US" dirty="0">
              <a:latin typeface="Calibri" panose="020F0502020204030204" charset="0"/>
              <a:cs typeface="Calibri" panose="020F0502020204030204" charset="0"/>
            </a:endParaRPr>
          </a:p>
          <a:p>
            <a:pPr marL="0" indent="0" algn="just">
              <a:lnSpc>
                <a:spcPct val="150000"/>
              </a:lnSpc>
              <a:buNone/>
            </a:pPr>
            <a:endParaRPr lang="en-US" dirty="0">
              <a:latin typeface="Calibri" panose="020F0502020204030204" charset="0"/>
              <a:cs typeface="Calibri" panose="020F0502020204030204" charset="0"/>
            </a:endParaRPr>
          </a:p>
          <a:p>
            <a:pPr marL="0" indent="0" algn="just">
              <a:lnSpc>
                <a:spcPct val="150000"/>
              </a:lnSpc>
              <a:buNone/>
            </a:pPr>
            <a:endParaRPr lang="en-US" dirty="0">
              <a:latin typeface="Calibri" panose="020F0502020204030204" charset="0"/>
              <a:cs typeface="Calibri" panose="020F0502020204030204" charset="0"/>
            </a:endParaRPr>
          </a:p>
          <a:p>
            <a:pPr marL="0" indent="0" algn="just">
              <a:lnSpc>
                <a:spcPct val="150000"/>
              </a:lnSpc>
              <a:buNone/>
            </a:pPr>
            <a:r>
              <a:rPr lang="en-US" dirty="0">
                <a:latin typeface="Calibri" panose="020F0502020204030204" charset="0"/>
                <a:cs typeface="Calibri" panose="020F0502020204030204" charset="0"/>
              </a:rPr>
              <a:t>ta suy ra rằng phương pháp lặp điểm cố định hội tụ tuyến tính</a:t>
            </a:r>
            <a:endParaRPr lang="en-US" dirty="0">
              <a:latin typeface="Calibri" panose="020F0502020204030204" charset="0"/>
              <a:cs typeface="Calibri" panose="020F0502020204030204" charset="0"/>
            </a:endParaRPr>
          </a:p>
        </p:txBody>
      </p:sp>
      <p:graphicFrame>
        <p:nvGraphicFramePr>
          <p:cNvPr id="2" name="Object 1">
            <a:hlinkClick r:id="" action="ppaction://ole?verb="/>
          </p:cNvPr>
          <p:cNvGraphicFramePr>
            <a:graphicFrameLocks noChangeAspect="1"/>
          </p:cNvGraphicFramePr>
          <p:nvPr/>
        </p:nvGraphicFramePr>
        <p:xfrm>
          <a:off x="4389120" y="2545715"/>
          <a:ext cx="3097530" cy="457200"/>
        </p:xfrm>
        <a:graphic>
          <a:graphicData uri="http://schemas.openxmlformats.org/presentationml/2006/ole">
            <mc:AlternateContent xmlns:mc="http://schemas.openxmlformats.org/markup-compatibility/2006">
              <mc:Choice xmlns:v="urn:schemas-microsoft-com:vml" Requires="v">
                <p:oleObj spid="_x0000_s2049" name="" r:id="rId1" imgW="1548765" imgH="228600" progId="Equation.KSEE3">
                  <p:embed/>
                </p:oleObj>
              </mc:Choice>
              <mc:Fallback>
                <p:oleObj name="" r:id="rId1" imgW="1548765" imgH="228600" progId="Equation.KSEE3">
                  <p:embed/>
                  <p:pic>
                    <p:nvPicPr>
                      <p:cNvPr id="0" name="Picture 2048"/>
                      <p:cNvPicPr/>
                      <p:nvPr/>
                    </p:nvPicPr>
                    <p:blipFill>
                      <a:blip r:embed="rId2"/>
                      <a:stretch>
                        <a:fillRect/>
                      </a:stretch>
                    </p:blipFill>
                    <p:spPr>
                      <a:xfrm>
                        <a:off x="4389120" y="2545715"/>
                        <a:ext cx="3097530" cy="457200"/>
                      </a:xfrm>
                      <a:prstGeom prst="rect">
                        <a:avLst/>
                      </a:prstGeom>
                    </p:spPr>
                  </p:pic>
                </p:oleObj>
              </mc:Fallback>
            </mc:AlternateContent>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45"/>
            <a:ext cx="10641965" cy="5346700"/>
          </a:xfrm>
        </p:spPr>
        <p:txBody>
          <a:bodyPr/>
          <a:lstStyle/>
          <a:p>
            <a:pPr marL="0" indent="0" algn="just">
              <a:lnSpc>
                <a:spcPct val="150000"/>
              </a:lnSpc>
              <a:buNone/>
            </a:pPr>
            <a:r>
              <a:rPr lang="en-US" b="1" dirty="0">
                <a:latin typeface="Calibri" panose="020F0502020204030204" charset="0"/>
                <a:cs typeface="Calibri" panose="020F0502020204030204" charset="0"/>
              </a:rPr>
              <a:t>Bài thực hành 1. </a:t>
            </a:r>
            <a:endParaRPr lang="en-US" b="1" dirty="0">
              <a:latin typeface="Calibri" panose="020F0502020204030204" charset="0"/>
              <a:cs typeface="Calibri" panose="020F0502020204030204" charset="0"/>
            </a:endParaRPr>
          </a:p>
          <a:p>
            <a:pPr marL="0" indent="0" algn="just">
              <a:lnSpc>
                <a:spcPct val="150000"/>
              </a:lnSpc>
              <a:buNone/>
            </a:pPr>
            <a:r>
              <a:rPr lang="en-US" dirty="0">
                <a:latin typeface="Calibri" panose="020F0502020204030204" charset="0"/>
                <a:cs typeface="Calibri" panose="020F0502020204030204" charset="0"/>
              </a:rPr>
              <a:t>Sử dụng pp lặp đơn xác định nghiệm xấp xỉ của phương trình x - e</a:t>
            </a:r>
            <a:r>
              <a:rPr lang="en-US" baseline="30000" dirty="0">
                <a:latin typeface="Calibri" panose="020F0502020204030204" charset="0"/>
                <a:cs typeface="Calibri" panose="020F0502020204030204" charset="0"/>
              </a:rPr>
              <a:t>-x</a:t>
            </a:r>
            <a:r>
              <a:rPr lang="en-US" dirty="0">
                <a:latin typeface="Calibri" panose="020F0502020204030204" charset="0"/>
                <a:cs typeface="Calibri" panose="020F0502020204030204" charset="0"/>
              </a:rPr>
              <a:t> = 0 thỏa mãn sai số tương đối xấp xỉ không vượt quá 0.05% với x</a:t>
            </a:r>
            <a:r>
              <a:rPr lang="en-US" baseline="-25000" dirty="0">
                <a:latin typeface="Calibri" panose="020F0502020204030204" charset="0"/>
                <a:cs typeface="Calibri" panose="020F0502020204030204" charset="0"/>
              </a:rPr>
              <a:t>0</a:t>
            </a:r>
            <a:r>
              <a:rPr lang="en-US" dirty="0">
                <a:latin typeface="Calibri" panose="020F0502020204030204" charset="0"/>
                <a:cs typeface="Calibri" panose="020F0502020204030204" charset="0"/>
              </a:rPr>
              <a:t> = 0.</a:t>
            </a:r>
            <a:endParaRPr lang="en-US" dirty="0">
              <a:latin typeface="Calibri" panose="020F0502020204030204" charset="0"/>
              <a:cs typeface="Calibri" panose="020F050202020403020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b="1" dirty="0">
                <a:latin typeface="Calibri" panose="020F0502020204030204" charset="0"/>
                <a:cs typeface="Calibri" panose="020F0502020204030204" charset="0"/>
              </a:rPr>
              <a:t>Gợi ý thực hiện</a:t>
            </a:r>
            <a:endParaRPr lang="en-US" dirty="0">
              <a:latin typeface="Calibri" panose="020F0502020204030204" charset="0"/>
              <a:cs typeface="Calibri" panose="020F0502020204030204" charset="0"/>
            </a:endParaRPr>
          </a:p>
        </p:txBody>
      </p:sp>
      <p:pic>
        <p:nvPicPr>
          <p:cNvPr id="4" name="Picture 3"/>
          <p:cNvPicPr>
            <a:picLocks noChangeAspect="1"/>
          </p:cNvPicPr>
          <p:nvPr/>
        </p:nvPicPr>
        <p:blipFill>
          <a:blip r:embed="rId1"/>
          <a:stretch>
            <a:fillRect/>
          </a:stretch>
        </p:blipFill>
        <p:spPr>
          <a:xfrm>
            <a:off x="6467475" y="829945"/>
            <a:ext cx="4671060" cy="5539740"/>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98170"/>
            <a:ext cx="10515600" cy="5578475"/>
          </a:xfrm>
        </p:spPr>
        <p:txBody>
          <a:bodyPr/>
          <a:lstStyle/>
          <a:p>
            <a:pPr marL="0" indent="0" algn="just">
              <a:lnSpc>
                <a:spcPct val="150000"/>
              </a:lnSpc>
              <a:buNone/>
            </a:pPr>
            <a:r>
              <a:rPr lang="en-US" b="1" dirty="0">
                <a:latin typeface="Calibri" panose="020F0502020204030204" charset="0"/>
                <a:cs typeface="Calibri" panose="020F0502020204030204" charset="0"/>
              </a:rPr>
              <a:t>II. Phương pháp Newton-Raphson</a:t>
            </a:r>
            <a:endParaRPr lang="en-US" b="1" dirty="0">
              <a:latin typeface="Calibri" panose="020F0502020204030204" charset="0"/>
              <a:cs typeface="Calibri" panose="020F0502020204030204" charset="0"/>
            </a:endParaRPr>
          </a:p>
          <a:p>
            <a:pPr marL="0" indent="0" algn="just">
              <a:lnSpc>
                <a:spcPct val="150000"/>
              </a:lnSpc>
              <a:buNone/>
            </a:pPr>
            <a:r>
              <a:rPr lang="en-US" dirty="0">
                <a:latin typeface="Calibri" panose="020F0502020204030204" charset="0"/>
                <a:cs typeface="Calibri" panose="020F0502020204030204" charset="0"/>
              </a:rPr>
              <a:t>- Pp Newton là phương pháp được sử dụng phổ biến nhất trong việc xác định xấp xỉ của nghiệm của phương trình f(x) = 0.</a:t>
            </a:r>
            <a:endParaRPr lang="en-US" dirty="0">
              <a:latin typeface="Calibri" panose="020F0502020204030204" charset="0"/>
              <a:cs typeface="Calibri" panose="020F0502020204030204" charset="0"/>
            </a:endParaRPr>
          </a:p>
        </p:txBody>
      </p:sp>
      <p:pic>
        <p:nvPicPr>
          <p:cNvPr id="2" name="Picture 1"/>
          <p:cNvPicPr>
            <a:picLocks noChangeAspect="1"/>
          </p:cNvPicPr>
          <p:nvPr/>
        </p:nvPicPr>
        <p:blipFill>
          <a:blip r:embed="rId1"/>
          <a:stretch>
            <a:fillRect/>
          </a:stretch>
        </p:blipFill>
        <p:spPr>
          <a:xfrm>
            <a:off x="7773035" y="3114040"/>
            <a:ext cx="3893820" cy="33680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dirty="0">
                <a:latin typeface="Calibri" panose="020F0502020204030204" charset="0"/>
                <a:cs typeface="Calibri" panose="020F0502020204030204" charset="0"/>
              </a:rPr>
              <a:t>Với giá trị xấp xỉ ban đầu x</a:t>
            </a:r>
            <a:r>
              <a:rPr lang="en-US" baseline="-25000" dirty="0">
                <a:latin typeface="Calibri" panose="020F0502020204030204" charset="0"/>
                <a:cs typeface="Calibri" panose="020F0502020204030204" charset="0"/>
              </a:rPr>
              <a:t>0</a:t>
            </a:r>
            <a:r>
              <a:rPr lang="en-US" dirty="0">
                <a:latin typeface="Calibri" panose="020F0502020204030204" charset="0"/>
                <a:cs typeface="Calibri" panose="020F0502020204030204" charset="0"/>
              </a:rPr>
              <a:t>, các xấp xỉ tiếp theo được tính theo công thức</a:t>
            </a:r>
            <a:endParaRPr lang="en-US" dirty="0">
              <a:latin typeface="Calibri" panose="020F0502020204030204" charset="0"/>
              <a:cs typeface="Calibri" panose="020F0502020204030204" charset="0"/>
            </a:endParaRPr>
          </a:p>
        </p:txBody>
      </p:sp>
      <p:graphicFrame>
        <p:nvGraphicFramePr>
          <p:cNvPr id="2" name="Object 1">
            <a:hlinkClick r:id="" action="ppaction://ole?verb="/>
          </p:cNvPr>
          <p:cNvGraphicFramePr>
            <a:graphicFrameLocks noChangeAspect="1"/>
          </p:cNvGraphicFramePr>
          <p:nvPr/>
        </p:nvGraphicFramePr>
        <p:xfrm>
          <a:off x="4707255" y="2591435"/>
          <a:ext cx="3606502" cy="822960"/>
        </p:xfrm>
        <a:graphic>
          <a:graphicData uri="http://schemas.openxmlformats.org/presentationml/2006/ole">
            <mc:AlternateContent xmlns:mc="http://schemas.openxmlformats.org/markup-compatibility/2006">
              <mc:Choice xmlns:v="urn:schemas-microsoft-com:vml" Requires="v">
                <p:oleObj spid="_x0000_s1025" name="" r:id="rId1" imgW="1892300" imgH="431800" progId="Equation.KSEE3">
                  <p:embed/>
                </p:oleObj>
              </mc:Choice>
              <mc:Fallback>
                <p:oleObj name="" r:id="rId1" imgW="1892300" imgH="431800" progId="Equation.KSEE3">
                  <p:embed/>
                  <p:pic>
                    <p:nvPicPr>
                      <p:cNvPr id="0" name="Picture 1024"/>
                      <p:cNvPicPr/>
                      <p:nvPr/>
                    </p:nvPicPr>
                    <p:blipFill>
                      <a:blip r:embed="rId2"/>
                      <a:stretch>
                        <a:fillRect/>
                      </a:stretch>
                    </p:blipFill>
                    <p:spPr>
                      <a:xfrm>
                        <a:off x="4707255" y="2591435"/>
                        <a:ext cx="3606502" cy="822960"/>
                      </a:xfrm>
                      <a:prstGeom prst="rect">
                        <a:avLst/>
                      </a:prstGeom>
                    </p:spPr>
                  </p:pic>
                </p:oleObj>
              </mc:Fallback>
            </mc:AlternateContent>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b="1" dirty="0">
                <a:latin typeface="Calibri" panose="020F0502020204030204" charset="0"/>
                <a:cs typeface="Calibri" panose="020F0502020204030204" charset="0"/>
              </a:rPr>
              <a:t>Bài thực hành 2. </a:t>
            </a:r>
            <a:endParaRPr lang="en-US" b="1" dirty="0">
              <a:latin typeface="Calibri" panose="020F0502020204030204" charset="0"/>
              <a:cs typeface="Calibri" panose="020F0502020204030204" charset="0"/>
            </a:endParaRPr>
          </a:p>
          <a:p>
            <a:pPr marL="0" indent="0" algn="just">
              <a:lnSpc>
                <a:spcPct val="150000"/>
              </a:lnSpc>
              <a:buNone/>
            </a:pPr>
            <a:r>
              <a:rPr lang="en-US" dirty="0">
                <a:latin typeface="Calibri" panose="020F0502020204030204" charset="0"/>
                <a:cs typeface="Calibri" panose="020F0502020204030204" charset="0"/>
              </a:rPr>
              <a:t>Sử dụng pp Newton xác định xấp xỉ của nghiệm của pt </a:t>
            </a:r>
            <a:r>
              <a:rPr lang="en-US" dirty="0">
                <a:latin typeface="Calibri" panose="020F0502020204030204" charset="0"/>
                <a:cs typeface="Calibri" panose="020F0502020204030204" charset="0"/>
                <a:sym typeface="+mn-ea"/>
              </a:rPr>
              <a:t>x - e</a:t>
            </a:r>
            <a:r>
              <a:rPr lang="en-US" baseline="30000" dirty="0">
                <a:latin typeface="Calibri" panose="020F0502020204030204" charset="0"/>
                <a:cs typeface="Calibri" panose="020F0502020204030204" charset="0"/>
                <a:sym typeface="+mn-ea"/>
              </a:rPr>
              <a:t>-x</a:t>
            </a:r>
            <a:r>
              <a:rPr lang="en-US" dirty="0">
                <a:latin typeface="Calibri" panose="020F0502020204030204" charset="0"/>
                <a:cs typeface="Calibri" panose="020F0502020204030204" charset="0"/>
                <a:sym typeface="+mn-ea"/>
              </a:rPr>
              <a:t> = 0</a:t>
            </a:r>
            <a:r>
              <a:rPr lang="en-US" dirty="0">
                <a:latin typeface="Calibri" panose="020F0502020204030204" charset="0"/>
                <a:cs typeface="Calibri" panose="020F0502020204030204" charset="0"/>
              </a:rPr>
              <a:t> thỏa mãn sai số tương đối xấp xỉ không vượt quá 0.05%.</a:t>
            </a:r>
            <a:endParaRPr lang="en-US" dirty="0">
              <a:latin typeface="Calibri" panose="020F0502020204030204" charset="0"/>
              <a:cs typeface="Calibri" panose="020F0502020204030204"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b="1" dirty="0">
                <a:latin typeface="Calibri" panose="020F0502020204030204" charset="0"/>
                <a:cs typeface="Calibri" panose="020F0502020204030204" charset="0"/>
              </a:rPr>
              <a:t>Gợi ý</a:t>
            </a:r>
            <a:endParaRPr lang="en-US" dirty="0">
              <a:latin typeface="Calibri" panose="020F0502020204030204" charset="0"/>
              <a:cs typeface="Calibri" panose="020F0502020204030204" charset="0"/>
            </a:endParaRPr>
          </a:p>
        </p:txBody>
      </p:sp>
      <p:pic>
        <p:nvPicPr>
          <p:cNvPr id="2" name="Picture 1"/>
          <p:cNvPicPr>
            <a:picLocks noChangeAspect="1"/>
          </p:cNvPicPr>
          <p:nvPr/>
        </p:nvPicPr>
        <p:blipFill>
          <a:blip r:embed="rId1"/>
          <a:stretch>
            <a:fillRect/>
          </a:stretch>
        </p:blipFill>
        <p:spPr>
          <a:xfrm>
            <a:off x="3729990" y="925830"/>
            <a:ext cx="4732020" cy="5006340"/>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dirty="0">
                <a:latin typeface="Calibri" panose="020F0502020204030204" charset="0"/>
                <a:cs typeface="Calibri" panose="020F0502020204030204" charset="0"/>
              </a:rPr>
              <a:t>Dựa trên đánh giá sai số của phương pháp, ta có được</a:t>
            </a:r>
            <a:endParaRPr lang="en-US" dirty="0">
              <a:latin typeface="Calibri" panose="020F0502020204030204" charset="0"/>
              <a:cs typeface="Calibri" panose="020F0502020204030204" charset="0"/>
            </a:endParaRPr>
          </a:p>
          <a:p>
            <a:pPr marL="0" indent="0" algn="just">
              <a:lnSpc>
                <a:spcPct val="150000"/>
              </a:lnSpc>
              <a:buNone/>
            </a:pPr>
            <a:endParaRPr lang="en-US" dirty="0">
              <a:latin typeface="Calibri" panose="020F0502020204030204" charset="0"/>
              <a:cs typeface="Calibri" panose="020F0502020204030204" charset="0"/>
            </a:endParaRPr>
          </a:p>
          <a:p>
            <a:pPr marL="0" indent="0" algn="just">
              <a:lnSpc>
                <a:spcPct val="150000"/>
              </a:lnSpc>
              <a:buNone/>
            </a:pPr>
            <a:endParaRPr lang="en-US" dirty="0">
              <a:latin typeface="Calibri" panose="020F0502020204030204" charset="0"/>
              <a:cs typeface="Calibri" panose="020F0502020204030204" charset="0"/>
            </a:endParaRPr>
          </a:p>
          <a:p>
            <a:pPr marL="0" indent="0" algn="just">
              <a:lnSpc>
                <a:spcPct val="150000"/>
              </a:lnSpc>
              <a:buNone/>
            </a:pPr>
            <a:r>
              <a:rPr lang="en-US" dirty="0">
                <a:latin typeface="Calibri" panose="020F0502020204030204" charset="0"/>
                <a:cs typeface="Calibri" panose="020F0502020204030204" charset="0"/>
              </a:rPr>
              <a:t>Công thức trên cho thấy sai số tỉ lệ với bình phương sai số ở bước trước đó. Đặc tính này được gọi là hội tụ bậc hai (nếu phương pháp hội tụ)</a:t>
            </a:r>
            <a:endParaRPr lang="en-US" dirty="0">
              <a:latin typeface="Calibri" panose="020F0502020204030204" charset="0"/>
              <a:cs typeface="Calibri" panose="020F0502020204030204" charset="0"/>
            </a:endParaRPr>
          </a:p>
        </p:txBody>
      </p:sp>
      <p:graphicFrame>
        <p:nvGraphicFramePr>
          <p:cNvPr id="2" name="Object 1">
            <a:hlinkClick r:id="" action="ppaction://ole?verb="/>
          </p:cNvPr>
          <p:cNvGraphicFramePr>
            <a:graphicFrameLocks noChangeAspect="1"/>
          </p:cNvGraphicFramePr>
          <p:nvPr/>
        </p:nvGraphicFramePr>
        <p:xfrm>
          <a:off x="4276894" y="1931988"/>
          <a:ext cx="3510915" cy="920115"/>
        </p:xfrm>
        <a:graphic>
          <a:graphicData uri="http://schemas.openxmlformats.org/presentationml/2006/ole">
            <mc:AlternateContent xmlns:mc="http://schemas.openxmlformats.org/markup-compatibility/2006">
              <mc:Choice xmlns:v="urn:schemas-microsoft-com:vml" Requires="v">
                <p:oleObj spid="_x0000_s1025" name="" r:id="rId1" imgW="1841500" imgH="482600" progId="Equation.KSEE3">
                  <p:embed/>
                </p:oleObj>
              </mc:Choice>
              <mc:Fallback>
                <p:oleObj name="" r:id="rId1" imgW="1841500" imgH="482600" progId="Equation.KSEE3">
                  <p:embed/>
                  <p:pic>
                    <p:nvPicPr>
                      <p:cNvPr id="0" name="Picture 1024"/>
                      <p:cNvPicPr/>
                      <p:nvPr/>
                    </p:nvPicPr>
                    <p:blipFill>
                      <a:blip r:embed="rId2"/>
                      <a:stretch>
                        <a:fillRect/>
                      </a:stretch>
                    </p:blipFill>
                    <p:spPr>
                      <a:xfrm>
                        <a:off x="4276894" y="1931988"/>
                        <a:ext cx="3510915" cy="920115"/>
                      </a:xfrm>
                      <a:prstGeom prst="rect">
                        <a:avLst/>
                      </a:prstGeom>
                    </p:spPr>
                  </p:pic>
                </p:oleObj>
              </mc:Fallback>
            </mc:AlternateContent>
          </a:graphicData>
        </a:graphic>
      </p:graphicFrame>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b="1" dirty="0">
                <a:latin typeface="Calibri" panose="020F0502020204030204" charset="0"/>
                <a:cs typeface="Calibri" panose="020F0502020204030204" charset="0"/>
              </a:rPr>
              <a:t>III. Phương pháp cát tuyến</a:t>
            </a:r>
            <a:endParaRPr lang="en-US" b="1" dirty="0">
              <a:latin typeface="Calibri" panose="020F0502020204030204" charset="0"/>
              <a:cs typeface="Calibri" panose="020F0502020204030204" charset="0"/>
            </a:endParaRPr>
          </a:p>
          <a:p>
            <a:pPr marL="0" indent="0" algn="just">
              <a:lnSpc>
                <a:spcPct val="150000"/>
              </a:lnSpc>
              <a:buNone/>
            </a:pPr>
            <a:r>
              <a:rPr lang="en-US" dirty="0">
                <a:latin typeface="Calibri" panose="020F0502020204030204" charset="0"/>
                <a:cs typeface="Calibri" panose="020F0502020204030204" charset="0"/>
              </a:rPr>
              <a:t>Thu được từ phương pháp Newton bằng cách thay đạo hàm dưới mẫu bằng công thức tỷ sai phân tiến. Do đó phương pháp cát tuyển được cho bởi công thức</a:t>
            </a:r>
            <a:endParaRPr lang="en-US" dirty="0">
              <a:latin typeface="Calibri" panose="020F0502020204030204" charset="0"/>
              <a:cs typeface="Calibri" panose="020F0502020204030204" charset="0"/>
            </a:endParaRPr>
          </a:p>
          <a:p>
            <a:pPr marL="0" indent="0" algn="just">
              <a:lnSpc>
                <a:spcPct val="150000"/>
              </a:lnSpc>
              <a:buNone/>
            </a:pPr>
            <a:endParaRPr lang="en-US" dirty="0">
              <a:latin typeface="Calibri" panose="020F0502020204030204" charset="0"/>
              <a:cs typeface="Calibri" panose="020F0502020204030204" charset="0"/>
            </a:endParaRPr>
          </a:p>
          <a:p>
            <a:pPr marL="0" indent="0" algn="just">
              <a:lnSpc>
                <a:spcPct val="150000"/>
              </a:lnSpc>
              <a:buNone/>
            </a:pPr>
            <a:endParaRPr lang="en-US" dirty="0">
              <a:latin typeface="Calibri" panose="020F0502020204030204" charset="0"/>
              <a:cs typeface="Calibri" panose="020F0502020204030204" charset="0"/>
            </a:endParaRPr>
          </a:p>
          <a:p>
            <a:pPr marL="0" indent="0" algn="just">
              <a:lnSpc>
                <a:spcPct val="150000"/>
              </a:lnSpc>
              <a:buNone/>
            </a:pPr>
            <a:r>
              <a:rPr lang="en-US" dirty="0">
                <a:latin typeface="Calibri" panose="020F0502020204030204" charset="0"/>
                <a:cs typeface="Calibri" panose="020F0502020204030204" charset="0"/>
              </a:rPr>
              <a:t>với x</a:t>
            </a:r>
            <a:r>
              <a:rPr lang="en-US" baseline="-25000" dirty="0">
                <a:latin typeface="Calibri" panose="020F0502020204030204" charset="0"/>
                <a:cs typeface="Calibri" panose="020F0502020204030204" charset="0"/>
              </a:rPr>
              <a:t>0</a:t>
            </a:r>
            <a:r>
              <a:rPr lang="en-US" dirty="0">
                <a:latin typeface="Calibri" panose="020F0502020204030204" charset="0"/>
                <a:cs typeface="Calibri" panose="020F0502020204030204" charset="0"/>
              </a:rPr>
              <a:t> và x</a:t>
            </a:r>
            <a:r>
              <a:rPr lang="en-US" baseline="-25000" dirty="0">
                <a:latin typeface="Calibri" panose="020F0502020204030204" charset="0"/>
                <a:cs typeface="Calibri" panose="020F0502020204030204" charset="0"/>
              </a:rPr>
              <a:t>1</a:t>
            </a:r>
            <a:r>
              <a:rPr lang="en-US" dirty="0">
                <a:latin typeface="Calibri" panose="020F0502020204030204" charset="0"/>
                <a:cs typeface="Calibri" panose="020F0502020204030204" charset="0"/>
              </a:rPr>
              <a:t> được cho trước.</a:t>
            </a:r>
            <a:endParaRPr lang="en-US" dirty="0">
              <a:latin typeface="Calibri" panose="020F0502020204030204" charset="0"/>
              <a:cs typeface="Calibri" panose="020F0502020204030204" charset="0"/>
            </a:endParaRPr>
          </a:p>
          <a:p>
            <a:pPr marL="0" indent="0" algn="just">
              <a:lnSpc>
                <a:spcPct val="150000"/>
              </a:lnSpc>
              <a:buNone/>
            </a:pPr>
            <a:endParaRPr lang="en-US" dirty="0">
              <a:latin typeface="Calibri" panose="020F0502020204030204" charset="0"/>
              <a:cs typeface="Calibri" panose="020F0502020204030204" charset="0"/>
            </a:endParaRPr>
          </a:p>
        </p:txBody>
      </p:sp>
      <p:graphicFrame>
        <p:nvGraphicFramePr>
          <p:cNvPr id="2" name="Object 1">
            <a:hlinkClick r:id="" action="ppaction://ole?verb="/>
          </p:cNvPr>
          <p:cNvGraphicFramePr>
            <a:graphicFrameLocks noChangeAspect="1"/>
          </p:cNvGraphicFramePr>
          <p:nvPr/>
        </p:nvGraphicFramePr>
        <p:xfrm>
          <a:off x="3855571" y="3950335"/>
          <a:ext cx="4333240" cy="822960"/>
        </p:xfrm>
        <a:graphic>
          <a:graphicData uri="http://schemas.openxmlformats.org/presentationml/2006/ole">
            <mc:AlternateContent xmlns:mc="http://schemas.openxmlformats.org/markup-compatibility/2006">
              <mc:Choice xmlns:v="urn:schemas-microsoft-com:vml" Requires="v">
                <p:oleObj spid="_x0000_s1025" name="" r:id="rId1" imgW="2273300" imgH="431800" progId="Equation.KSEE3">
                  <p:embed/>
                </p:oleObj>
              </mc:Choice>
              <mc:Fallback>
                <p:oleObj name="" r:id="rId1" imgW="2273300" imgH="431800" progId="Equation.KSEE3">
                  <p:embed/>
                  <p:pic>
                    <p:nvPicPr>
                      <p:cNvPr id="0" name="Picture 1024"/>
                      <p:cNvPicPr/>
                      <p:nvPr/>
                    </p:nvPicPr>
                    <p:blipFill>
                      <a:blip r:embed="rId2"/>
                      <a:stretch>
                        <a:fillRect/>
                      </a:stretch>
                    </p:blipFill>
                    <p:spPr>
                      <a:xfrm>
                        <a:off x="3855571" y="3950335"/>
                        <a:ext cx="4333240" cy="822960"/>
                      </a:xfrm>
                      <a:prstGeom prst="rect">
                        <a:avLst/>
                      </a:prstGeom>
                    </p:spPr>
                  </p:pic>
                </p:oleObj>
              </mc:Fallback>
            </mc:AlternateContent>
          </a:graphicData>
        </a:graphic>
      </p:graphicFrame>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p:cNvPicPr>
            <a:picLocks noChangeAspect="1"/>
          </p:cNvPicPr>
          <p:nvPr>
            <p:ph idx="1"/>
          </p:nvPr>
        </p:nvPicPr>
        <p:blipFill>
          <a:blip r:embed="rId1"/>
          <a:stretch>
            <a:fillRect/>
          </a:stretch>
        </p:blipFill>
        <p:spPr>
          <a:xfrm>
            <a:off x="1521460" y="1116330"/>
            <a:ext cx="3627120" cy="3208020"/>
          </a:xfrm>
          <a:prstGeom prst="rect">
            <a:avLst/>
          </a:prstGeom>
        </p:spPr>
      </p:pic>
      <p:pic>
        <p:nvPicPr>
          <p:cNvPr id="4" name="Picture 3"/>
          <p:cNvPicPr>
            <a:picLocks noChangeAspect="1"/>
          </p:cNvPicPr>
          <p:nvPr/>
        </p:nvPicPr>
        <p:blipFill>
          <a:blip r:embed="rId2"/>
          <a:stretch>
            <a:fillRect/>
          </a:stretch>
        </p:blipFill>
        <p:spPr>
          <a:xfrm>
            <a:off x="7297420" y="1116330"/>
            <a:ext cx="3665220" cy="4625340"/>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b="1" dirty="0">
                <a:latin typeface="Calibri" panose="020F0502020204030204" charset="0"/>
                <a:cs typeface="Calibri" panose="020F0502020204030204" charset="0"/>
              </a:rPr>
              <a:t>Bài tập</a:t>
            </a:r>
            <a:endParaRPr lang="en-US" b="1" dirty="0">
              <a:latin typeface="Calibri" panose="020F0502020204030204" charset="0"/>
              <a:cs typeface="Calibri" panose="020F0502020204030204" charset="0"/>
            </a:endParaRPr>
          </a:p>
          <a:p>
            <a:pPr marL="0" indent="0" algn="just">
              <a:lnSpc>
                <a:spcPct val="150000"/>
              </a:lnSpc>
              <a:buNone/>
            </a:pPr>
            <a:r>
              <a:rPr lang="en-US" dirty="0">
                <a:latin typeface="Calibri" panose="020F0502020204030204" charset="0"/>
                <a:cs typeface="Calibri" panose="020F0502020204030204" charset="0"/>
              </a:rPr>
              <a:t>Trang 174: 6.1, 6.3, 6.4</a:t>
            </a:r>
            <a:endParaRPr lang="en-US" dirty="0">
              <a:latin typeface="Calibri" panose="020F0502020204030204" charset="0"/>
              <a:cs typeface="Calibri" panose="020F0502020204030204"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2077</Words>
  <Application>WPS Presentation</Application>
  <PresentationFormat>Widescreen</PresentationFormat>
  <Paragraphs>55</Paragraphs>
  <Slides>17</Slides>
  <Notes>0</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4</vt:i4>
      </vt:variant>
      <vt:variant>
        <vt:lpstr>幻灯片标题</vt:lpstr>
      </vt:variant>
      <vt:variant>
        <vt:i4>17</vt:i4>
      </vt:variant>
    </vt:vector>
  </HeadingPairs>
  <TitlesOfParts>
    <vt:vector size="29" baseType="lpstr">
      <vt:lpstr>Arial</vt:lpstr>
      <vt:lpstr>SimSun</vt:lpstr>
      <vt:lpstr>Wingdings</vt:lpstr>
      <vt:lpstr>Calibri</vt:lpstr>
      <vt:lpstr>Calibri Light</vt:lpstr>
      <vt:lpstr>Microsoft YaHei</vt:lpstr>
      <vt:lpstr>Arial Unicode MS</vt:lpstr>
      <vt:lpstr>Office Theme</vt:lpstr>
      <vt:lpstr>Equation.KSEE3</vt:lpstr>
      <vt:lpstr>Equation.KSEE3</vt:lpstr>
      <vt:lpstr>Equation.KSEE3</vt:lpstr>
      <vt:lpstr>Equation.KSEE3</vt:lpstr>
      <vt:lpstr>Bài 4. Giải phương trình</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Chương 1. Xấp xỉ và sai số làm tròn</dc:title>
  <dc:creator>Admin</dc:creator>
  <cp:lastModifiedBy>HP</cp:lastModifiedBy>
  <cp:revision>87</cp:revision>
  <dcterms:created xsi:type="dcterms:W3CDTF">2026-01-18T01:55:00Z</dcterms:created>
  <dcterms:modified xsi:type="dcterms:W3CDTF">2026-02-28T09:43:40Z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24AF1C07AC78435B9D0C42B4F2B8AA5C_12</vt:lpwstr>
  </property>
  <property fmtid="{D5CDD505-2E9C-101B-9397-08002B2CF9AE}" pid="3" name="KSOProductBuildVer">
    <vt:lpwstr>1033-12.2.0.23196</vt:lpwstr>
  </property>
</Properties>
</file>