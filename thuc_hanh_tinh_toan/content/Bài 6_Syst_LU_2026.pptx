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322" r:id="rId4"/>
    <p:sldId id="323" r:id="rId5"/>
    <p:sldId id="367" r:id="rId6"/>
    <p:sldId id="368" r:id="rId7"/>
    <p:sldId id="369" r:id="rId8"/>
    <p:sldId id="370" r:id="rId9"/>
    <p:sldId id="371" r:id="rId10"/>
    <p:sldId id="372" r:id="rId11"/>
    <p:sldId id="373" r:id="rId12"/>
    <p:sldId id="374" r:id="rId14"/>
    <p:sldId id="375" r:id="rId15"/>
    <p:sldId id="376" r:id="rId16"/>
    <p:sldId id="3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(1) vì x = A^{-1)b, nên nếu trong A^{-1} có phần tử rất lớn, thì một sự thay đổi nhỏ trong b cũng làm x khác đi nhiều.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1BD4-09FE-423A-AE26-7EEDCCE9E16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A8064-B825-47D7-9C26-BFA1C77780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1BD4-09FE-423A-AE26-7EEDCCE9E16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A8064-B825-47D7-9C26-BFA1C77780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1BD4-09FE-423A-AE26-7EEDCCE9E16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A8064-B825-47D7-9C26-BFA1C77780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1BD4-09FE-423A-AE26-7EEDCCE9E16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A8064-B825-47D7-9C26-BFA1C77780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1BD4-09FE-423A-AE26-7EEDCCE9E160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A8064-B825-47D7-9C26-BFA1C77780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1BD4-09FE-423A-AE26-7EEDCCE9E160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A8064-B825-47D7-9C26-BFA1C77780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1BD4-09FE-423A-AE26-7EEDCCE9E160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A8064-B825-47D7-9C26-BFA1C77780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1BD4-09FE-423A-AE26-7EEDCCE9E16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A8064-B825-47D7-9C26-BFA1C77780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1BD4-09FE-423A-AE26-7EEDCCE9E160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A8064-B825-47D7-9C26-BFA1C77780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1BD4-09FE-423A-AE26-7EEDCCE9E16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A8064-B825-47D7-9C26-BFA1C77780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11BD4-09FE-423A-AE26-7EEDCCE9E16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A8064-B825-47D7-9C26-BFA1C777806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11BD4-09FE-423A-AE26-7EEDCCE9E160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A8064-B825-47D7-9C26-BFA1C777806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6. </a:t>
            </a:r>
            <a:r>
              <a:rPr lang="en-US" dirty="0" err="1" smtClean="0"/>
              <a:t>Phân tích LU giải hệ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06474"/>
            <a:ext cx="10515600" cy="534696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/>
              <a:t>I. Phân rã LU</a:t>
            </a:r>
            <a:endParaRPr lang="en-US" b="1" dirty="0" err="1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- Phương pháp phù hợp khi giải đồng thời nhiều hệ có cùng ma trận hệ số A.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- Cung cấp phương tiện hiệu quả tính ma trận nghịch đảo của A. Ma trận nghịch đảo có nhiều giá trị trong thực tiễn kĩ thuật.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994"/>
            <a:ext cx="10515600" cy="534696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Có nhiều phương pháp tìm phân rã LU. Trong đó có cách tiếp cận sử dụng phương pháp khử Gauss.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09600"/>
            <a:ext cx="10515600" cy="5567045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Phân rã LU sử dụng khử Gauss (phân rã Doolitle)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Để đơn giản ta giả sử không cần sử dụng các kỹ thuật chọn phần tử trụ. Khi này ma trận A = LU, với L là ma trận tam giác dưới và U là ma trận tam giác trên, trong đó U là ma trận dạng hàng bậc thang thu được sau khi kết thúc pha khử và L là ma trận với các phần tử trên đường chéo chính là 1 và các phần tử nằm dưới 1 trong cùng cột là các hệ số được dùng để khử cột trong phép khử Gauss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994"/>
            <a:ext cx="10515600" cy="534696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Ví dụ. Xác định khai triển LU của ma trận</a:t>
            </a:r>
            <a:endParaRPr lang="en-US" dirty="0"/>
          </a:p>
        </p:txBody>
      </p:sp>
      <p:graphicFrame>
        <p:nvGraphicFramePr>
          <p:cNvPr id="2" name="Object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500245" y="2057400"/>
          <a:ext cx="2253343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168400" imgH="711200" progId="Equation.KSEE3">
                  <p:embed/>
                </p:oleObj>
              </mc:Choice>
              <mc:Fallback>
                <p:oleObj name="" r:id="rId1" imgW="1168400" imgH="711200" progId="Equation.KSEE3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00245" y="2057400"/>
                        <a:ext cx="2253343" cy="137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805294" y="4364990"/>
          <a:ext cx="6148705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3187700" imgH="711200" progId="Equation.KSEE3">
                  <p:embed/>
                </p:oleObj>
              </mc:Choice>
              <mc:Fallback>
                <p:oleObj name="" r:id="rId3" imgW="3187700" imgH="711200" progId="Equation.KSEE3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05294" y="4364990"/>
                        <a:ext cx="6148705" cy="137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994"/>
            <a:ext cx="10515600" cy="534696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/>
              <a:t>Bài thực hành 1.</a:t>
            </a:r>
            <a:r>
              <a:rPr lang="en-US" dirty="0"/>
              <a:t> Viết code tìm khai triển LU của một ma trận. Kiểm tra kết quả với </a:t>
            </a:r>
            <a:endParaRPr lang="en-US" dirty="0"/>
          </a:p>
        </p:txBody>
      </p:sp>
      <p:graphicFrame>
        <p:nvGraphicFramePr>
          <p:cNvPr id="2" name="Object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490845" y="2362835"/>
          <a:ext cx="2253343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168400" imgH="711200" progId="Equation.KSEE3">
                  <p:embed/>
                </p:oleObj>
              </mc:Choice>
              <mc:Fallback>
                <p:oleObj name="" r:id="rId1" imgW="1168400" imgH="711200" progId="Equation.KSEE3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490845" y="2362835"/>
                        <a:ext cx="2253343" cy="137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994"/>
            <a:ext cx="10515600" cy="534696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/>
              <a:t>Xác định ma trận nghịch đảo</a:t>
            </a:r>
            <a:endParaRPr lang="en-US" b="1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Tương đương với việc giải đồng thời các hệ phương trình với cùng ma trận hệ số A và các cột hệ số tự do tương ứng lần lượt là các véc-tơ đơn vị. 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994"/>
            <a:ext cx="10515600" cy="534696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Giải hệ Ax = e</a:t>
            </a:r>
            <a:r>
              <a:rPr lang="en-US" baseline="-25000" dirty="0"/>
              <a:t>i</a:t>
            </a:r>
            <a:r>
              <a:rPr lang="en-US" dirty="0"/>
              <a:t>. 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Hệ Ax = </a:t>
            </a:r>
            <a:r>
              <a:rPr lang="en-US" dirty="0">
                <a:sym typeface="+mn-ea"/>
              </a:rPr>
              <a:t>e</a:t>
            </a:r>
            <a:r>
              <a:rPr lang="en-US" baseline="-25000" dirty="0">
                <a:sym typeface="+mn-ea"/>
              </a:rPr>
              <a:t>i</a:t>
            </a:r>
            <a:r>
              <a:rPr lang="en-US" dirty="0"/>
              <a:t> được viết thành LUx = </a:t>
            </a:r>
            <a:r>
              <a:rPr lang="en-US" dirty="0">
                <a:sym typeface="+mn-ea"/>
              </a:rPr>
              <a:t>e</a:t>
            </a:r>
            <a:r>
              <a:rPr lang="en-US" baseline="-25000" dirty="0">
                <a:sym typeface="+mn-ea"/>
              </a:rPr>
              <a:t>i</a:t>
            </a:r>
            <a:r>
              <a:rPr lang="en-US" dirty="0"/>
              <a:t>. Hệ này được tách thành 2 hệ con 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Ly = </a:t>
            </a:r>
            <a:r>
              <a:rPr lang="en-US" dirty="0">
                <a:sym typeface="+mn-ea"/>
              </a:rPr>
              <a:t>e</a:t>
            </a:r>
            <a:r>
              <a:rPr lang="en-US" baseline="-25000" dirty="0">
                <a:sym typeface="+mn-ea"/>
              </a:rPr>
              <a:t>i</a:t>
            </a:r>
            <a:r>
              <a:rPr lang="en-US" dirty="0"/>
              <a:t> (dùng pp giải xuôi ta tìm được y)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Ux = y (dùng pp thế ngược ta tìm được x)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Khi này các cột x sẽ tạo thành ma trận A</a:t>
            </a:r>
            <a:r>
              <a:rPr lang="en-US" baseline="30000" dirty="0"/>
              <a:t>-1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994"/>
            <a:ext cx="10515600" cy="534696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- Ma trận nghịch đảo xuất hiện nhiều trong các bài toán kĩ thuật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- Ma trận nghịch đảo cung cấp một phương tiện để nhận biết liệu một hệ phương trình có điều kiện xấu hay không?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994"/>
            <a:ext cx="10515600" cy="534696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Có 3 phương pháp sử dụng ma trận nghịch đảo để xác định liệu một hệ có điều kiện xấu hay không?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(1) Chuẩn hóa A sao cho phần tử lớn nhất trong mỗi hàng là 1. Nếu tồn tại phần tử trong A</a:t>
            </a:r>
            <a:r>
              <a:rPr lang="en-US" baseline="30000" dirty="0"/>
              <a:t>-1</a:t>
            </a:r>
            <a:r>
              <a:rPr lang="en-US" dirty="0"/>
              <a:t> sao cho độ lớn của nó lớn hơn 1 vài lũy thừa của 10, thì rất có khả năng hệ điều kiện xấu.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994"/>
            <a:ext cx="10515600" cy="534696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(2) Nếu A</a:t>
            </a:r>
            <a:r>
              <a:rPr lang="en-US" dirty="0">
                <a:sym typeface="+mn-ea"/>
              </a:rPr>
              <a:t>A</a:t>
            </a:r>
            <a:r>
              <a:rPr lang="en-US" baseline="30000" dirty="0">
                <a:sym typeface="+mn-ea"/>
              </a:rPr>
              <a:t>-1</a:t>
            </a:r>
            <a:r>
              <a:rPr lang="en-US" dirty="0"/>
              <a:t> gần với ma trận đơn vị thì hệ điều kiện tốt, ngược lại nếu càng xa ma trận đơn vị thì hệ điều kiện càng xấu.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(3) Lấy nghịch đảo của </a:t>
            </a:r>
            <a:r>
              <a:rPr lang="en-US" dirty="0">
                <a:sym typeface="+mn-ea"/>
              </a:rPr>
              <a:t>A</a:t>
            </a:r>
            <a:r>
              <a:rPr lang="en-US" baseline="30000" dirty="0">
                <a:sym typeface="+mn-ea"/>
              </a:rPr>
              <a:t>-1</a:t>
            </a:r>
            <a:r>
              <a:rPr lang="en-US" dirty="0"/>
              <a:t>. Nếu kết quả gần với ma trận A ban đầu thì hệ điều kiện tốt.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994"/>
            <a:ext cx="10515600" cy="534696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Để đánh giá một hệ điều kiện tốt hay xấu ta sử dụng khái niệm số điều kiện của hệ (của ma trận) 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- Nếu số này gần 1 thì ma trận điều kiện tốt, kết quả thu được đáng tin cậy.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- Nếu số này càng xa 1 thì kết quả tính ra có thể bị sai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  <p:graphicFrame>
        <p:nvGraphicFramePr>
          <p:cNvPr id="2" name="Object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687570" y="2478405"/>
          <a:ext cx="246888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1" imgW="1257300" imgH="279400" progId="Equation.KSEE3">
                  <p:embed/>
                </p:oleObj>
              </mc:Choice>
              <mc:Fallback>
                <p:oleObj name="" r:id="rId1" imgW="1257300" imgH="279400" progId="Equation.KSEE3">
                  <p:embed/>
                  <p:pic>
                    <p:nvPicPr>
                      <p:cNvPr id="0" name="Picture 20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87570" y="2478405"/>
                        <a:ext cx="2468880" cy="5486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994"/>
            <a:ext cx="10515600" cy="534696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/>
              <a:t>Bài thực hành 2. </a:t>
            </a:r>
            <a:r>
              <a:rPr lang="en-US" dirty="0"/>
              <a:t>Hệ có ma trận hệ số là ma trận Hilbert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là hệ điều kiện xấu. Chuẩn hóa ma trận Hilbert và sau đó xác định số điều kiện của ma trận Hilbert dựa trên ma trận chuẩn hóa.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4460" y="1852930"/>
            <a:ext cx="4654639" cy="1737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29994"/>
            <a:ext cx="10515600" cy="5346969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Bài tập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Trang 302: 10.2, 10.3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2368</Words>
  <Application>WPS Presentation</Application>
  <PresentationFormat>Widescreen</PresentationFormat>
  <Paragraphs>52</Paragraphs>
  <Slides>14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Equation.KSEE3</vt:lpstr>
      <vt:lpstr>Equation.KSEE3</vt:lpstr>
      <vt:lpstr>Equation.KSEE3</vt:lpstr>
      <vt:lpstr>Equation.KSEE3</vt:lpstr>
      <vt:lpstr>Bài 6. Phân tích LU giải hệ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1. Xấp xỉ và sai số làm tròn</dc:title>
  <dc:creator>Admin</dc:creator>
  <cp:lastModifiedBy>HP</cp:lastModifiedBy>
  <cp:revision>94</cp:revision>
  <dcterms:created xsi:type="dcterms:W3CDTF">2026-01-18T01:55:00Z</dcterms:created>
  <dcterms:modified xsi:type="dcterms:W3CDTF">2026-03-01T07:49:54Z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24AF1C07AC78435B9D0C42B4F2B8AA5C_12</vt:lpwstr>
  </property>
  <property fmtid="{D5CDD505-2E9C-101B-9397-08002B2CF9AE}" pid="3" name="KSOProductBuildVer">
    <vt:lpwstr>1033-12.2.0.23196</vt:lpwstr>
  </property>
</Properties>
</file>