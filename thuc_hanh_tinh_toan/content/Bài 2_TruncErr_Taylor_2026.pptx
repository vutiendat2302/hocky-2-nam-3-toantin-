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307" r:id="rId5"/>
    <p:sldId id="324" r:id="rId6"/>
    <p:sldId id="308" r:id="rId7"/>
    <p:sldId id="309" r:id="rId8"/>
    <p:sldId id="310" r:id="rId9"/>
    <p:sldId id="311" r:id="rId10"/>
    <p:sldId id="312" r:id="rId11"/>
    <p:sldId id="313" r:id="rId12"/>
    <p:sldId id="315" r:id="rId13"/>
    <p:sldId id="316" r:id="rId14"/>
    <p:sldId id="317" r:id="rId15"/>
    <p:sldId id="318" r:id="rId16"/>
    <p:sldId id="319" r:id="rId17"/>
    <p:sldId id="323" r:id="rId18"/>
    <p:sldId id="314" r:id="rId19"/>
    <p:sldId id="320" r:id="rId20"/>
    <p:sldId id="32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8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46511BD4-09FE-423A-AE26-7EEDCCE9E16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46511BD4-09FE-423A-AE26-7EEDCCE9E16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6511BD4-09FE-423A-AE26-7EEDCCE9E16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511BD4-09FE-423A-AE26-7EEDCCE9E16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46511BD4-09FE-423A-AE26-7EEDCCE9E16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46511BD4-09FE-423A-AE26-7EEDCCE9E16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511BD4-09FE-423A-AE26-7EEDCCE9E160}"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5A8064-B825-47D7-9C26-BFA1C777806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wmf"/><Relationship Id="rId1"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0.wmf"/><Relationship Id="rId1"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Chương</a:t>
            </a:r>
            <a:r>
              <a:rPr lang="en-US" dirty="0" smtClean="0"/>
              <a:t> 2. Sai </a:t>
            </a:r>
            <a:r>
              <a:rPr lang="en-US" dirty="0" err="1" smtClean="0"/>
              <a:t>số</a:t>
            </a:r>
            <a:r>
              <a:rPr lang="en-US" dirty="0" smtClean="0"/>
              <a:t> </a:t>
            </a:r>
            <a:r>
              <a:rPr lang="en-US" dirty="0" err="1" smtClean="0"/>
              <a:t>cắt</a:t>
            </a:r>
            <a:r>
              <a:rPr lang="en-US" dirty="0" smtClean="0"/>
              <a:t> </a:t>
            </a:r>
            <a:r>
              <a:rPr lang="en-US" dirty="0" err="1" smtClean="0"/>
              <a:t>cụt</a:t>
            </a:r>
            <a:r>
              <a:rPr lang="en-US" dirty="0" smtClean="0"/>
              <a:t> </a:t>
            </a:r>
            <a:r>
              <a:rPr lang="en-US" dirty="0" err="1" smtClean="0"/>
              <a:t>và</a:t>
            </a:r>
            <a:r>
              <a:rPr lang="en-US" dirty="0" smtClean="0"/>
              <a:t> </a:t>
            </a:r>
            <a:r>
              <a:rPr lang="en-US" dirty="0" err="1" smtClean="0"/>
              <a:t>chuỗi</a:t>
            </a:r>
            <a:r>
              <a:rPr lang="en-US" dirty="0" smtClean="0"/>
              <a:t> Taylor</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I. </a:t>
            </a:r>
            <a:r>
              <a:rPr lang="en-US" b="1" dirty="0" err="1" smtClean="0">
                <a:solidFill>
                  <a:srgbClr val="C00000"/>
                </a:solidFill>
              </a:rPr>
              <a:t>Chuỗi</a:t>
            </a:r>
            <a:r>
              <a:rPr lang="en-US" b="1" dirty="0" smtClean="0">
                <a:solidFill>
                  <a:srgbClr val="C00000"/>
                </a:solidFill>
              </a:rPr>
              <a:t> Taylor</a:t>
            </a:r>
            <a:endParaRPr lang="en-US" b="1" dirty="0">
              <a:solidFill>
                <a:srgbClr val="C00000"/>
              </a:solidFill>
            </a:endParaRPr>
          </a:p>
        </p:txBody>
      </p:sp>
      <p:sp>
        <p:nvSpPr>
          <p:cNvPr id="3" name="Content Placeholder 2"/>
          <p:cNvSpPr>
            <a:spLocks noGrp="1"/>
          </p:cNvSpPr>
          <p:nvPr>
            <p:ph idx="1"/>
          </p:nvPr>
        </p:nvSpPr>
        <p:spPr/>
        <p:txBody>
          <a:bodyPr/>
          <a:lstStyle/>
          <a:p>
            <a:pPr marL="0" indent="0" algn="just">
              <a:lnSpc>
                <a:spcPct val="150000"/>
              </a:lnSpc>
              <a:buNone/>
            </a:pPr>
            <a:r>
              <a:rPr lang="en-US" dirty="0"/>
              <a:t>C</a:t>
            </a:r>
            <a:r>
              <a:rPr lang="vi-VN" dirty="0" smtClean="0"/>
              <a:t>huỗi </a:t>
            </a:r>
            <a:r>
              <a:rPr lang="vi-VN" dirty="0"/>
              <a:t>Taylor cung cấp một phương pháp để dự đoán giá trị của hàm số tại một điểm thông qua giá trị hàm số và các đạo hàm của nó tại một điểm khác</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err="1" smtClean="0"/>
              <a:t>Định</a:t>
            </a:r>
            <a:r>
              <a:rPr lang="en-US" b="1" dirty="0" smtClean="0"/>
              <a:t> </a:t>
            </a:r>
            <a:r>
              <a:rPr lang="en-US" b="1" dirty="0" err="1" smtClean="0"/>
              <a:t>lý</a:t>
            </a:r>
            <a:r>
              <a:rPr lang="en-US" b="1" dirty="0" smtClean="0"/>
              <a:t> </a:t>
            </a:r>
            <a:r>
              <a:rPr lang="en-US" b="1" dirty="0" err="1" smtClean="0"/>
              <a:t>giá</a:t>
            </a:r>
            <a:r>
              <a:rPr lang="en-US" b="1" dirty="0" smtClean="0"/>
              <a:t> </a:t>
            </a:r>
            <a:r>
              <a:rPr lang="en-US" b="1" dirty="0" err="1" smtClean="0"/>
              <a:t>trị</a:t>
            </a:r>
            <a:r>
              <a:rPr lang="en-US" b="1" dirty="0" smtClean="0"/>
              <a:t> </a:t>
            </a:r>
            <a:r>
              <a:rPr lang="en-US" b="1" dirty="0" err="1" smtClean="0"/>
              <a:t>trung</a:t>
            </a:r>
            <a:r>
              <a:rPr lang="en-US" b="1" dirty="0" smtClean="0"/>
              <a:t> </a:t>
            </a:r>
            <a:r>
              <a:rPr lang="en-US" b="1" dirty="0" err="1" smtClean="0"/>
              <a:t>bình</a:t>
            </a:r>
            <a:r>
              <a:rPr lang="en-US" b="1" dirty="0" smtClean="0"/>
              <a:t> </a:t>
            </a:r>
            <a:r>
              <a:rPr lang="en-US" b="1" dirty="0" err="1" smtClean="0"/>
              <a:t>thứ</a:t>
            </a:r>
            <a:r>
              <a:rPr lang="en-US" b="1" dirty="0" smtClean="0"/>
              <a:t> </a:t>
            </a:r>
            <a:r>
              <a:rPr lang="en-US" b="1" dirty="0" err="1" smtClean="0"/>
              <a:t>nhất</a:t>
            </a:r>
            <a:r>
              <a:rPr lang="en-US" b="1" dirty="0" smtClean="0"/>
              <a:t> </a:t>
            </a:r>
            <a:r>
              <a:rPr lang="en-US" b="1" dirty="0" err="1" smtClean="0"/>
              <a:t>cho</a:t>
            </a:r>
            <a:r>
              <a:rPr lang="en-US" b="1" dirty="0" smtClean="0"/>
              <a:t> </a:t>
            </a:r>
            <a:r>
              <a:rPr lang="en-US" b="1" dirty="0" err="1" smtClean="0"/>
              <a:t>tích</a:t>
            </a:r>
            <a:r>
              <a:rPr lang="en-US" b="1" dirty="0" smtClean="0"/>
              <a:t> </a:t>
            </a:r>
            <a:r>
              <a:rPr lang="en-US" b="1" dirty="0" err="1" smtClean="0"/>
              <a:t>phân</a:t>
            </a:r>
            <a:endParaRPr lang="en-US" b="1" dirty="0" smtClean="0"/>
          </a:p>
          <a:p>
            <a:pPr marL="0" indent="0" algn="just">
              <a:lnSpc>
                <a:spcPct val="150000"/>
              </a:lnSpc>
              <a:buNone/>
            </a:pPr>
            <a:r>
              <a:rPr lang="en-US" dirty="0" err="1" smtClean="0"/>
              <a:t>Nếu</a:t>
            </a:r>
            <a:r>
              <a:rPr lang="en-US" dirty="0" smtClean="0"/>
              <a:t> </a:t>
            </a:r>
            <a:r>
              <a:rPr lang="en-US" dirty="0" err="1" smtClean="0"/>
              <a:t>hàm</a:t>
            </a:r>
            <a:r>
              <a:rPr lang="en-US" dirty="0" smtClean="0"/>
              <a:t> g </a:t>
            </a:r>
            <a:r>
              <a:rPr lang="en-US" dirty="0" err="1" smtClean="0"/>
              <a:t>liên</a:t>
            </a:r>
            <a:r>
              <a:rPr lang="en-US" dirty="0" smtClean="0"/>
              <a:t> </a:t>
            </a:r>
            <a:r>
              <a:rPr lang="en-US" dirty="0" err="1" smtClean="0"/>
              <a:t>tục</a:t>
            </a:r>
            <a:r>
              <a:rPr lang="en-US" dirty="0" smtClean="0"/>
              <a:t> </a:t>
            </a:r>
            <a:r>
              <a:rPr lang="en-US" dirty="0" err="1" smtClean="0"/>
              <a:t>và</a:t>
            </a:r>
            <a:r>
              <a:rPr lang="en-US" dirty="0" smtClean="0"/>
              <a:t> </a:t>
            </a:r>
            <a:r>
              <a:rPr lang="en-US" dirty="0" err="1" smtClean="0"/>
              <a:t>khả</a:t>
            </a:r>
            <a:r>
              <a:rPr lang="en-US" dirty="0" smtClean="0"/>
              <a:t> </a:t>
            </a:r>
            <a:r>
              <a:rPr lang="en-US" dirty="0" err="1" smtClean="0"/>
              <a:t>tích</a:t>
            </a:r>
            <a:r>
              <a:rPr lang="en-US" dirty="0" smtClean="0"/>
              <a:t> </a:t>
            </a:r>
            <a:r>
              <a:rPr lang="en-US" dirty="0" err="1" smtClean="0"/>
              <a:t>trên</a:t>
            </a:r>
            <a:r>
              <a:rPr lang="en-US" dirty="0" smtClean="0"/>
              <a:t> </a:t>
            </a:r>
            <a:r>
              <a:rPr lang="en-US" dirty="0" err="1" smtClean="0"/>
              <a:t>đoạn</a:t>
            </a:r>
            <a:r>
              <a:rPr lang="en-US" dirty="0" smtClean="0"/>
              <a:t> [a, b] </a:t>
            </a:r>
            <a:r>
              <a:rPr lang="en-US" dirty="0" err="1" smtClean="0"/>
              <a:t>thì</a:t>
            </a:r>
            <a:r>
              <a:rPr lang="en-US" dirty="0" smtClean="0"/>
              <a:t> </a:t>
            </a:r>
            <a:r>
              <a:rPr lang="en-US" dirty="0" err="1" smtClean="0"/>
              <a:t>luôn</a:t>
            </a:r>
            <a:r>
              <a:rPr lang="en-US" dirty="0" smtClean="0"/>
              <a:t> </a:t>
            </a:r>
            <a:r>
              <a:rPr lang="en-US" dirty="0" err="1" smtClean="0"/>
              <a:t>tồn</a:t>
            </a:r>
            <a:r>
              <a:rPr lang="en-US" dirty="0" smtClean="0"/>
              <a:t> </a:t>
            </a:r>
            <a:r>
              <a:rPr lang="en-US" dirty="0" err="1" smtClean="0"/>
              <a:t>tại</a:t>
            </a:r>
            <a:r>
              <a:rPr lang="en-US" dirty="0" smtClean="0"/>
              <a:t> </a:t>
            </a:r>
            <a:r>
              <a:rPr lang="el-GR" dirty="0" smtClean="0"/>
              <a:t>ξ</a:t>
            </a:r>
            <a:r>
              <a:rPr lang="en-US" dirty="0" smtClean="0"/>
              <a:t> </a:t>
            </a:r>
            <a:r>
              <a:rPr lang="en-US" dirty="0" err="1" smtClean="0"/>
              <a:t>nằm</a:t>
            </a:r>
            <a:r>
              <a:rPr lang="en-US" dirty="0" smtClean="0"/>
              <a:t> </a:t>
            </a:r>
            <a:r>
              <a:rPr lang="en-US" dirty="0" err="1" smtClean="0"/>
              <a:t>giữa</a:t>
            </a:r>
            <a:r>
              <a:rPr lang="en-US" dirty="0" smtClean="0"/>
              <a:t> a </a:t>
            </a:r>
            <a:r>
              <a:rPr lang="en-US" dirty="0" err="1" smtClean="0"/>
              <a:t>và</a:t>
            </a:r>
            <a:r>
              <a:rPr lang="en-US" dirty="0" smtClean="0"/>
              <a:t> b </a:t>
            </a:r>
            <a:r>
              <a:rPr lang="en-US" dirty="0" err="1" smtClean="0"/>
              <a:t>sao</a:t>
            </a:r>
            <a:r>
              <a:rPr lang="en-US" dirty="0" smtClean="0"/>
              <a:t> </a:t>
            </a:r>
            <a:r>
              <a:rPr lang="en-US" dirty="0" err="1" smtClean="0"/>
              <a:t>cho</a:t>
            </a:r>
            <a:r>
              <a:rPr lang="en-US" dirty="0" smtClean="0"/>
              <a:t> </a:t>
            </a:r>
            <a:endParaRPr lang="en-US" dirty="0" smtClean="0"/>
          </a:p>
          <a:p>
            <a:pPr marL="0" indent="0" algn="just">
              <a:lnSpc>
                <a:spcPct val="150000"/>
              </a:lnSpc>
              <a:buNone/>
            </a:pPr>
            <a:endParaRPr lang="en-US" dirty="0"/>
          </a:p>
          <a:p>
            <a:pPr marL="0" indent="0" algn="just">
              <a:lnSpc>
                <a:spcPct val="150000"/>
              </a:lnSpc>
              <a:buNone/>
            </a:pPr>
            <a:endParaRPr lang="en-US" dirty="0" smtClean="0"/>
          </a:p>
          <a:p>
            <a:pPr marL="0" indent="0" algn="just">
              <a:lnSpc>
                <a:spcPct val="150000"/>
              </a:lnSpc>
              <a:buNone/>
            </a:pPr>
            <a:r>
              <a:rPr lang="en-US" dirty="0" err="1" smtClean="0"/>
              <a:t>trong</a:t>
            </a:r>
            <a:r>
              <a:rPr lang="en-US" dirty="0" smtClean="0"/>
              <a:t> </a:t>
            </a:r>
            <a:r>
              <a:rPr lang="en-US" dirty="0" err="1" smtClean="0"/>
              <a:t>đó</a:t>
            </a:r>
            <a:r>
              <a:rPr lang="en-US" dirty="0" smtClean="0"/>
              <a:t> g(</a:t>
            </a:r>
            <a:r>
              <a:rPr lang="el-GR" dirty="0" smtClean="0"/>
              <a:t>ξ</a:t>
            </a:r>
            <a:r>
              <a:rPr lang="en-US" dirty="0" smtClean="0"/>
              <a:t>) </a:t>
            </a:r>
            <a:r>
              <a:rPr lang="en-US" dirty="0" err="1" smtClean="0"/>
              <a:t>là</a:t>
            </a:r>
            <a:r>
              <a:rPr lang="en-US" dirty="0" smtClean="0"/>
              <a:t> </a:t>
            </a:r>
            <a:r>
              <a:rPr lang="en-US" dirty="0" err="1" smtClean="0"/>
              <a:t>giá</a:t>
            </a:r>
            <a:r>
              <a:rPr lang="en-US" dirty="0" smtClean="0"/>
              <a:t> </a:t>
            </a:r>
            <a:r>
              <a:rPr lang="en-US" dirty="0" err="1" smtClean="0"/>
              <a:t>trị</a:t>
            </a:r>
            <a:r>
              <a:rPr lang="en-US" dirty="0" smtClean="0"/>
              <a:t> </a:t>
            </a:r>
            <a:r>
              <a:rPr lang="en-US" dirty="0" err="1" smtClean="0"/>
              <a:t>trung</a:t>
            </a:r>
            <a:r>
              <a:rPr lang="en-US" dirty="0" smtClean="0"/>
              <a:t> </a:t>
            </a:r>
            <a:r>
              <a:rPr lang="en-US" dirty="0" err="1" smtClean="0"/>
              <a:t>bình</a:t>
            </a:r>
            <a:r>
              <a:rPr lang="en-US" dirty="0" smtClean="0"/>
              <a:t> </a:t>
            </a:r>
            <a:r>
              <a:rPr lang="en-US" dirty="0" err="1" smtClean="0"/>
              <a:t>của</a:t>
            </a:r>
            <a:r>
              <a:rPr lang="en-US" dirty="0" smtClean="0"/>
              <a:t> </a:t>
            </a:r>
            <a:r>
              <a:rPr lang="en-US" dirty="0" err="1" smtClean="0"/>
              <a:t>hàm</a:t>
            </a:r>
            <a:r>
              <a:rPr lang="en-US" dirty="0" smtClean="0"/>
              <a:t> </a:t>
            </a:r>
            <a:r>
              <a:rPr lang="en-US" dirty="0" err="1" smtClean="0"/>
              <a:t>số</a:t>
            </a:r>
            <a:r>
              <a:rPr lang="en-US" dirty="0" smtClean="0"/>
              <a:t> g </a:t>
            </a:r>
            <a:r>
              <a:rPr lang="en-US" dirty="0" err="1" smtClean="0"/>
              <a:t>trên</a:t>
            </a:r>
            <a:r>
              <a:rPr lang="en-US" dirty="0" smtClean="0"/>
              <a:t> [a, b].</a:t>
            </a:r>
            <a:endParaRPr lang="en-US" dirty="0"/>
          </a:p>
        </p:txBody>
      </p:sp>
      <p:graphicFrame>
        <p:nvGraphicFramePr>
          <p:cNvPr id="2" name="Object 1"/>
          <p:cNvGraphicFramePr>
            <a:graphicFrameLocks noChangeAspect="1"/>
          </p:cNvGraphicFramePr>
          <p:nvPr/>
        </p:nvGraphicFramePr>
        <p:xfrm>
          <a:off x="4745501" y="3503478"/>
          <a:ext cx="2700998" cy="822960"/>
        </p:xfrm>
        <a:graphic>
          <a:graphicData uri="http://schemas.openxmlformats.org/presentationml/2006/ole">
            <mc:AlternateContent xmlns:mc="http://schemas.openxmlformats.org/markup-compatibility/2006">
              <mc:Choice xmlns:v="urn:schemas-microsoft-com:vml" Requires="v">
                <p:oleObj spid="_x0000_s9221" name="Equation" r:id="rId1" imgW="39014400" imgH="11887200" progId="Equation.3">
                  <p:embed/>
                </p:oleObj>
              </mc:Choice>
              <mc:Fallback>
                <p:oleObj name="Equation" r:id="rId1" imgW="39014400" imgH="11887200" progId="Equation.3">
                  <p:embed/>
                  <p:pic>
                    <p:nvPicPr>
                      <p:cNvPr id="0" name="Picture 9220"/>
                      <p:cNvPicPr/>
                      <p:nvPr/>
                    </p:nvPicPr>
                    <p:blipFill>
                      <a:blip r:embed="rId2"/>
                      <a:stretch>
                        <a:fillRect/>
                      </a:stretch>
                    </p:blipFill>
                    <p:spPr>
                      <a:xfrm>
                        <a:off x="4745501" y="3503478"/>
                        <a:ext cx="2700998" cy="82296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Với g(x) là hàm không âm trên [a, b] định lý giá trị trung bình cho tích phân có thể hiểu là luôn tồn tại một hình chữ nhật dựng trên đoạn [a, b] sao cho diện tích của nó đúng bằng diện tích nằm bên dưới đường cong g(x). </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err="1" smtClean="0"/>
              <a:t>Định</a:t>
            </a:r>
            <a:r>
              <a:rPr lang="en-US" b="1" dirty="0" smtClean="0"/>
              <a:t> </a:t>
            </a:r>
            <a:r>
              <a:rPr lang="en-US" b="1" dirty="0" err="1" smtClean="0"/>
              <a:t>lý</a:t>
            </a:r>
            <a:r>
              <a:rPr lang="en-US" b="1" dirty="0" smtClean="0"/>
              <a:t> </a:t>
            </a:r>
            <a:r>
              <a:rPr lang="en-US" b="1" dirty="0" err="1" smtClean="0"/>
              <a:t>giá</a:t>
            </a:r>
            <a:r>
              <a:rPr lang="en-US" b="1" dirty="0" smtClean="0"/>
              <a:t> </a:t>
            </a:r>
            <a:r>
              <a:rPr lang="en-US" b="1" dirty="0" err="1" smtClean="0"/>
              <a:t>trị</a:t>
            </a:r>
            <a:r>
              <a:rPr lang="en-US" b="1" dirty="0" smtClean="0"/>
              <a:t> </a:t>
            </a:r>
            <a:r>
              <a:rPr lang="en-US" b="1" dirty="0" err="1" smtClean="0"/>
              <a:t>trung</a:t>
            </a:r>
            <a:r>
              <a:rPr lang="en-US" b="1" dirty="0" smtClean="0"/>
              <a:t> </a:t>
            </a:r>
            <a:r>
              <a:rPr lang="en-US" b="1" dirty="0" err="1" smtClean="0"/>
              <a:t>bình</a:t>
            </a:r>
            <a:r>
              <a:rPr lang="en-US" b="1" dirty="0" smtClean="0"/>
              <a:t> </a:t>
            </a:r>
            <a:r>
              <a:rPr lang="en-US" b="1" dirty="0" err="1" smtClean="0"/>
              <a:t>thứ</a:t>
            </a:r>
            <a:r>
              <a:rPr lang="en-US" b="1" dirty="0" smtClean="0"/>
              <a:t> 2 </a:t>
            </a:r>
            <a:r>
              <a:rPr lang="en-US" b="1" dirty="0" err="1" smtClean="0"/>
              <a:t>cho</a:t>
            </a:r>
            <a:r>
              <a:rPr lang="en-US" b="1" dirty="0" smtClean="0"/>
              <a:t> </a:t>
            </a:r>
            <a:r>
              <a:rPr lang="en-US" b="1" dirty="0" err="1" smtClean="0"/>
              <a:t>tích</a:t>
            </a:r>
            <a:r>
              <a:rPr lang="en-US" b="1" dirty="0" smtClean="0"/>
              <a:t> </a:t>
            </a:r>
            <a:r>
              <a:rPr lang="en-US" b="1" dirty="0" err="1" smtClean="0"/>
              <a:t>phân</a:t>
            </a:r>
            <a:endParaRPr lang="en-US" b="1" dirty="0" smtClean="0"/>
          </a:p>
          <a:p>
            <a:pPr marL="0" indent="0" algn="just">
              <a:lnSpc>
                <a:spcPct val="150000"/>
              </a:lnSpc>
              <a:buNone/>
            </a:pPr>
            <a:r>
              <a:rPr lang="en-US" dirty="0" err="1" smtClean="0"/>
              <a:t>Nếu</a:t>
            </a:r>
            <a:r>
              <a:rPr lang="en-US" dirty="0" smtClean="0"/>
              <a:t> g </a:t>
            </a:r>
            <a:r>
              <a:rPr lang="en-US" dirty="0" err="1" smtClean="0"/>
              <a:t>và</a:t>
            </a:r>
            <a:r>
              <a:rPr lang="en-US" dirty="0" smtClean="0"/>
              <a:t> h </a:t>
            </a:r>
            <a:r>
              <a:rPr lang="en-US" dirty="0" err="1" smtClean="0"/>
              <a:t>là</a:t>
            </a:r>
            <a:r>
              <a:rPr lang="en-US" dirty="0" smtClean="0"/>
              <a:t> </a:t>
            </a:r>
            <a:r>
              <a:rPr lang="en-US" dirty="0" err="1" smtClean="0"/>
              <a:t>các</a:t>
            </a:r>
            <a:r>
              <a:rPr lang="en-US" dirty="0" smtClean="0"/>
              <a:t> </a:t>
            </a:r>
            <a:r>
              <a:rPr lang="en-US" dirty="0" err="1" smtClean="0"/>
              <a:t>hàm</a:t>
            </a:r>
            <a:r>
              <a:rPr lang="en-US" dirty="0" smtClean="0"/>
              <a:t> </a:t>
            </a:r>
            <a:r>
              <a:rPr lang="en-US" dirty="0" err="1" smtClean="0"/>
              <a:t>liên</a:t>
            </a:r>
            <a:r>
              <a:rPr lang="en-US" dirty="0" smtClean="0"/>
              <a:t> </a:t>
            </a:r>
            <a:r>
              <a:rPr lang="en-US" dirty="0" err="1" smtClean="0"/>
              <a:t>tục</a:t>
            </a:r>
            <a:r>
              <a:rPr lang="en-US" dirty="0" smtClean="0"/>
              <a:t> </a:t>
            </a:r>
            <a:r>
              <a:rPr lang="en-US" dirty="0" err="1" smtClean="0"/>
              <a:t>và</a:t>
            </a:r>
            <a:r>
              <a:rPr lang="en-US" dirty="0" smtClean="0"/>
              <a:t> </a:t>
            </a:r>
            <a:r>
              <a:rPr lang="en-US" dirty="0" err="1" smtClean="0"/>
              <a:t>khả</a:t>
            </a:r>
            <a:r>
              <a:rPr lang="en-US" dirty="0" smtClean="0"/>
              <a:t> </a:t>
            </a:r>
            <a:r>
              <a:rPr lang="en-US" dirty="0" err="1" smtClean="0"/>
              <a:t>tích</a:t>
            </a:r>
            <a:r>
              <a:rPr lang="en-US" dirty="0" smtClean="0"/>
              <a:t> </a:t>
            </a:r>
            <a:r>
              <a:rPr lang="en-US" dirty="0" err="1" smtClean="0"/>
              <a:t>trên</a:t>
            </a:r>
            <a:r>
              <a:rPr lang="en-US" dirty="0" smtClean="0"/>
              <a:t> [a, b] </a:t>
            </a:r>
            <a:r>
              <a:rPr lang="en-US" dirty="0" err="1" smtClean="0"/>
              <a:t>và</a:t>
            </a:r>
            <a:r>
              <a:rPr lang="en-US" dirty="0" smtClean="0"/>
              <a:t> </a:t>
            </a:r>
            <a:r>
              <a:rPr lang="en-US" dirty="0" err="1" smtClean="0"/>
              <a:t>hàm</a:t>
            </a:r>
            <a:r>
              <a:rPr lang="en-US" dirty="0" smtClean="0"/>
              <a:t> h </a:t>
            </a:r>
            <a:r>
              <a:rPr lang="en-US" dirty="0" err="1" smtClean="0"/>
              <a:t>không</a:t>
            </a:r>
            <a:r>
              <a:rPr lang="en-US" dirty="0" smtClean="0"/>
              <a:t> </a:t>
            </a:r>
            <a:r>
              <a:rPr lang="en-US" dirty="0" err="1" smtClean="0"/>
              <a:t>đổi</a:t>
            </a:r>
            <a:r>
              <a:rPr lang="en-US" dirty="0" smtClean="0"/>
              <a:t> </a:t>
            </a:r>
            <a:r>
              <a:rPr lang="en-US" dirty="0" err="1" smtClean="0"/>
              <a:t>dấu</a:t>
            </a:r>
            <a:r>
              <a:rPr lang="en-US" dirty="0" smtClean="0"/>
              <a:t> </a:t>
            </a:r>
            <a:r>
              <a:rPr lang="en-US" dirty="0" err="1" smtClean="0"/>
              <a:t>trên</a:t>
            </a:r>
            <a:r>
              <a:rPr lang="en-US" dirty="0" smtClean="0"/>
              <a:t> </a:t>
            </a:r>
            <a:r>
              <a:rPr lang="en-US" dirty="0" err="1" smtClean="0"/>
              <a:t>đoạn</a:t>
            </a:r>
            <a:r>
              <a:rPr lang="en-US" dirty="0" smtClean="0"/>
              <a:t> </a:t>
            </a:r>
            <a:r>
              <a:rPr lang="en-US" dirty="0" err="1" smtClean="0"/>
              <a:t>này</a:t>
            </a:r>
            <a:r>
              <a:rPr lang="en-US" dirty="0" smtClean="0"/>
              <a:t> </a:t>
            </a:r>
            <a:r>
              <a:rPr lang="en-US" dirty="0" err="1" smtClean="0"/>
              <a:t>thì</a:t>
            </a:r>
            <a:r>
              <a:rPr lang="en-US" dirty="0" smtClean="0"/>
              <a:t> </a:t>
            </a:r>
            <a:r>
              <a:rPr lang="en-US" dirty="0" err="1" smtClean="0"/>
              <a:t>luôn</a:t>
            </a:r>
            <a:r>
              <a:rPr lang="en-US" dirty="0" smtClean="0"/>
              <a:t> </a:t>
            </a:r>
            <a:r>
              <a:rPr lang="en-US" dirty="0" err="1" smtClean="0"/>
              <a:t>tồn</a:t>
            </a:r>
            <a:r>
              <a:rPr lang="en-US" dirty="0" smtClean="0"/>
              <a:t> </a:t>
            </a:r>
            <a:r>
              <a:rPr lang="en-US" dirty="0" err="1" smtClean="0"/>
              <a:t>tại</a:t>
            </a:r>
            <a:r>
              <a:rPr lang="en-US" dirty="0"/>
              <a:t> </a:t>
            </a:r>
            <a:r>
              <a:rPr lang="en-US" dirty="0" err="1"/>
              <a:t>tại</a:t>
            </a:r>
            <a:r>
              <a:rPr lang="en-US" dirty="0"/>
              <a:t> </a:t>
            </a:r>
            <a:r>
              <a:rPr lang="el-GR" dirty="0"/>
              <a:t>ξ</a:t>
            </a:r>
            <a:r>
              <a:rPr lang="en-US" dirty="0"/>
              <a:t> </a:t>
            </a:r>
            <a:r>
              <a:rPr lang="en-US" dirty="0" err="1"/>
              <a:t>nằm</a:t>
            </a:r>
            <a:r>
              <a:rPr lang="en-US" dirty="0"/>
              <a:t> </a:t>
            </a:r>
            <a:r>
              <a:rPr lang="en-US" dirty="0" err="1"/>
              <a:t>giữa</a:t>
            </a:r>
            <a:r>
              <a:rPr lang="en-US" dirty="0"/>
              <a:t> a </a:t>
            </a:r>
            <a:r>
              <a:rPr lang="en-US" dirty="0" err="1"/>
              <a:t>và</a:t>
            </a:r>
            <a:r>
              <a:rPr lang="en-US" dirty="0"/>
              <a:t> b </a:t>
            </a:r>
            <a:r>
              <a:rPr lang="en-US" dirty="0" err="1"/>
              <a:t>sao</a:t>
            </a:r>
            <a:r>
              <a:rPr lang="en-US" dirty="0"/>
              <a:t> </a:t>
            </a:r>
            <a:r>
              <a:rPr lang="en-US" dirty="0" err="1"/>
              <a:t>cho</a:t>
            </a:r>
            <a:r>
              <a:rPr lang="en-US" dirty="0"/>
              <a:t> </a:t>
            </a:r>
            <a:endParaRPr lang="en-US" dirty="0"/>
          </a:p>
          <a:p>
            <a:pPr marL="0" indent="0" algn="just">
              <a:lnSpc>
                <a:spcPct val="150000"/>
              </a:lnSpc>
              <a:buNone/>
            </a:pPr>
            <a:endParaRPr lang="en-US" dirty="0"/>
          </a:p>
        </p:txBody>
      </p:sp>
      <p:graphicFrame>
        <p:nvGraphicFramePr>
          <p:cNvPr id="4" name="Object 3"/>
          <p:cNvGraphicFramePr>
            <a:graphicFrameLocks noChangeAspect="1"/>
          </p:cNvGraphicFramePr>
          <p:nvPr/>
        </p:nvGraphicFramePr>
        <p:xfrm>
          <a:off x="4406900" y="3503613"/>
          <a:ext cx="3378200" cy="822325"/>
        </p:xfrm>
        <a:graphic>
          <a:graphicData uri="http://schemas.openxmlformats.org/presentationml/2006/ole">
            <mc:AlternateContent xmlns:mc="http://schemas.openxmlformats.org/markup-compatibility/2006">
              <mc:Choice xmlns:v="urn:schemas-microsoft-com:vml" Requires="v">
                <p:oleObj spid="_x0000_s10244" name="Equation" r:id="rId1" imgW="48768000" imgH="11887200" progId="Equation.3">
                  <p:embed/>
                </p:oleObj>
              </mc:Choice>
              <mc:Fallback>
                <p:oleObj name="Equation" r:id="rId1" imgW="48768000" imgH="11887200" progId="Equation.3">
                  <p:embed/>
                  <p:pic>
                    <p:nvPicPr>
                      <p:cNvPr id="0" name="Object 1"/>
                      <p:cNvPicPr/>
                      <p:nvPr/>
                    </p:nvPicPr>
                    <p:blipFill>
                      <a:blip r:embed="rId2"/>
                      <a:stretch>
                        <a:fillRect/>
                      </a:stretch>
                    </p:blipFill>
                    <p:spPr>
                      <a:xfrm>
                        <a:off x="4406900" y="3503613"/>
                        <a:ext cx="3378200" cy="82232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2369"/>
            <a:ext cx="10515600" cy="5346969"/>
          </a:xfrm>
        </p:spPr>
        <p:txBody>
          <a:bodyPr/>
          <a:lstStyle/>
          <a:p>
            <a:pPr marL="0" indent="0" algn="just">
              <a:lnSpc>
                <a:spcPct val="150000"/>
              </a:lnSpc>
              <a:buNone/>
            </a:pPr>
            <a:r>
              <a:rPr lang="en-US" b="1" dirty="0" err="1" smtClean="0"/>
              <a:t>Định</a:t>
            </a:r>
            <a:r>
              <a:rPr lang="en-US" b="1" dirty="0" smtClean="0"/>
              <a:t> </a:t>
            </a:r>
            <a:r>
              <a:rPr lang="en-US" b="1" dirty="0" err="1" smtClean="0"/>
              <a:t>lý</a:t>
            </a:r>
            <a:r>
              <a:rPr lang="en-US" b="1" dirty="0" smtClean="0"/>
              <a:t> Taylor</a:t>
            </a:r>
            <a:endParaRPr lang="en-US" b="1" dirty="0" smtClean="0"/>
          </a:p>
          <a:p>
            <a:pPr marL="0" indent="0" algn="just">
              <a:lnSpc>
                <a:spcPct val="150000"/>
              </a:lnSpc>
              <a:buNone/>
            </a:pPr>
            <a:r>
              <a:rPr lang="en-US" dirty="0" err="1" smtClean="0"/>
              <a:t>Nếu</a:t>
            </a:r>
            <a:r>
              <a:rPr lang="en-US" dirty="0" smtClean="0"/>
              <a:t> </a:t>
            </a:r>
            <a:r>
              <a:rPr lang="en-US" dirty="0" err="1" smtClean="0"/>
              <a:t>hàm</a:t>
            </a:r>
            <a:r>
              <a:rPr lang="en-US" dirty="0" smtClean="0"/>
              <a:t> f </a:t>
            </a:r>
            <a:r>
              <a:rPr lang="en-US" dirty="0" err="1" smtClean="0"/>
              <a:t>và</a:t>
            </a:r>
            <a:r>
              <a:rPr lang="en-US" dirty="0" smtClean="0"/>
              <a:t> </a:t>
            </a:r>
            <a:r>
              <a:rPr lang="en-US" dirty="0" err="1" smtClean="0"/>
              <a:t>các</a:t>
            </a:r>
            <a:r>
              <a:rPr lang="en-US" dirty="0" smtClean="0"/>
              <a:t> </a:t>
            </a:r>
            <a:r>
              <a:rPr lang="en-US" dirty="0" err="1" smtClean="0"/>
              <a:t>đạo</a:t>
            </a:r>
            <a:r>
              <a:rPr lang="en-US" dirty="0" smtClean="0"/>
              <a:t> </a:t>
            </a:r>
            <a:r>
              <a:rPr lang="en-US" dirty="0" err="1" smtClean="0"/>
              <a:t>hàm</a:t>
            </a:r>
            <a:r>
              <a:rPr lang="en-US" dirty="0" smtClean="0"/>
              <a:t> </a:t>
            </a:r>
            <a:r>
              <a:rPr lang="en-US" dirty="0" err="1" smtClean="0"/>
              <a:t>tới</a:t>
            </a:r>
            <a:r>
              <a:rPr lang="en-US" dirty="0" smtClean="0"/>
              <a:t> </a:t>
            </a:r>
            <a:r>
              <a:rPr lang="en-US" dirty="0" err="1" smtClean="0"/>
              <a:t>bậc</a:t>
            </a:r>
            <a:r>
              <a:rPr lang="en-US" dirty="0" smtClean="0"/>
              <a:t> n </a:t>
            </a:r>
            <a:r>
              <a:rPr lang="en-US" dirty="0" err="1" smtClean="0"/>
              <a:t>của</a:t>
            </a:r>
            <a:r>
              <a:rPr lang="en-US" dirty="0" smtClean="0"/>
              <a:t> </a:t>
            </a:r>
            <a:r>
              <a:rPr lang="en-US" dirty="0" err="1" smtClean="0"/>
              <a:t>nó</a:t>
            </a:r>
            <a:r>
              <a:rPr lang="en-US" dirty="0" smtClean="0"/>
              <a:t> </a:t>
            </a:r>
            <a:r>
              <a:rPr lang="en-US" dirty="0" err="1" smtClean="0"/>
              <a:t>liên</a:t>
            </a:r>
            <a:r>
              <a:rPr lang="en-US" dirty="0" smtClean="0"/>
              <a:t> </a:t>
            </a:r>
            <a:r>
              <a:rPr lang="en-US" dirty="0" err="1" smtClean="0"/>
              <a:t>tục</a:t>
            </a:r>
            <a:r>
              <a:rPr lang="en-US" dirty="0" smtClean="0"/>
              <a:t> </a:t>
            </a:r>
            <a:r>
              <a:rPr lang="en-US" dirty="0" err="1" smtClean="0"/>
              <a:t>trên</a:t>
            </a:r>
            <a:r>
              <a:rPr lang="en-US" dirty="0" smtClean="0"/>
              <a:t> </a:t>
            </a:r>
            <a:r>
              <a:rPr lang="en-US" dirty="0" err="1" smtClean="0"/>
              <a:t>khoảng</a:t>
            </a:r>
            <a:r>
              <a:rPr lang="en-US" dirty="0" smtClean="0"/>
              <a:t> </a:t>
            </a:r>
            <a:r>
              <a:rPr lang="en-US" dirty="0" err="1" smtClean="0"/>
              <a:t>chứa</a:t>
            </a:r>
            <a:r>
              <a:rPr lang="en-US" dirty="0" smtClean="0"/>
              <a:t> a </a:t>
            </a:r>
            <a:r>
              <a:rPr lang="en-US" dirty="0" err="1" smtClean="0"/>
              <a:t>và</a:t>
            </a:r>
            <a:r>
              <a:rPr lang="en-US" dirty="0" smtClean="0"/>
              <a:t> x </a:t>
            </a:r>
            <a:r>
              <a:rPr lang="en-US" dirty="0" err="1" smtClean="0"/>
              <a:t>thì</a:t>
            </a:r>
            <a:r>
              <a:rPr lang="en-US" dirty="0" smtClean="0"/>
              <a:t> </a:t>
            </a:r>
            <a:r>
              <a:rPr lang="en-US" dirty="0" err="1" smtClean="0"/>
              <a:t>giá</a:t>
            </a:r>
            <a:r>
              <a:rPr lang="en-US" dirty="0" smtClean="0"/>
              <a:t> </a:t>
            </a:r>
            <a:r>
              <a:rPr lang="en-US" dirty="0" err="1" smtClean="0"/>
              <a:t>trị</a:t>
            </a:r>
            <a:r>
              <a:rPr lang="en-US" dirty="0" smtClean="0"/>
              <a:t> </a:t>
            </a:r>
            <a:r>
              <a:rPr lang="en-US" dirty="0" err="1" smtClean="0"/>
              <a:t>của</a:t>
            </a:r>
            <a:r>
              <a:rPr lang="en-US" dirty="0" smtClean="0"/>
              <a:t> </a:t>
            </a:r>
            <a:r>
              <a:rPr lang="en-US" dirty="0" err="1" smtClean="0"/>
              <a:t>hàm</a:t>
            </a:r>
            <a:r>
              <a:rPr lang="en-US" dirty="0" smtClean="0"/>
              <a:t> </a:t>
            </a:r>
            <a:r>
              <a:rPr lang="en-US" dirty="0" err="1" smtClean="0"/>
              <a:t>số</a:t>
            </a:r>
            <a:r>
              <a:rPr lang="en-US" dirty="0" smtClean="0"/>
              <a:t> f </a:t>
            </a:r>
            <a:r>
              <a:rPr lang="en-US" dirty="0" err="1" smtClean="0"/>
              <a:t>tại</a:t>
            </a:r>
            <a:r>
              <a:rPr lang="en-US" dirty="0" smtClean="0"/>
              <a:t> x </a:t>
            </a:r>
            <a:r>
              <a:rPr lang="en-US" dirty="0" err="1" smtClean="0"/>
              <a:t>được</a:t>
            </a:r>
            <a:r>
              <a:rPr lang="en-US" dirty="0" smtClean="0"/>
              <a:t> </a:t>
            </a:r>
            <a:r>
              <a:rPr lang="en-US" dirty="0" err="1" smtClean="0"/>
              <a:t>cho</a:t>
            </a:r>
            <a:r>
              <a:rPr lang="en-US" dirty="0" smtClean="0"/>
              <a:t> </a:t>
            </a:r>
            <a:r>
              <a:rPr lang="en-US" dirty="0" err="1" smtClean="0"/>
              <a:t>bởi</a:t>
            </a:r>
            <a:r>
              <a:rPr lang="en-US" dirty="0" smtClean="0"/>
              <a:t> </a:t>
            </a:r>
            <a:r>
              <a:rPr lang="en-US" dirty="0" err="1" smtClean="0"/>
              <a:t>công</a:t>
            </a:r>
            <a:r>
              <a:rPr lang="en-US" dirty="0" smtClean="0"/>
              <a:t> </a:t>
            </a:r>
            <a:r>
              <a:rPr lang="en-US" dirty="0" err="1" smtClean="0"/>
              <a:t>thức</a:t>
            </a:r>
            <a:r>
              <a:rPr lang="en-US" dirty="0" smtClean="0"/>
              <a:t> (</a:t>
            </a:r>
            <a:r>
              <a:rPr lang="en-US" dirty="0" err="1" smtClean="0"/>
              <a:t>được</a:t>
            </a:r>
            <a:r>
              <a:rPr lang="en-US" dirty="0" smtClean="0"/>
              <a:t> </a:t>
            </a:r>
            <a:r>
              <a:rPr lang="en-US" dirty="0" err="1" smtClean="0"/>
              <a:t>gọi</a:t>
            </a:r>
            <a:r>
              <a:rPr lang="en-US" dirty="0" smtClean="0"/>
              <a:t> </a:t>
            </a:r>
            <a:r>
              <a:rPr lang="en-US" dirty="0" err="1" smtClean="0"/>
              <a:t>là</a:t>
            </a:r>
            <a:r>
              <a:rPr lang="en-US" dirty="0" smtClean="0"/>
              <a:t> </a:t>
            </a:r>
            <a:r>
              <a:rPr lang="en-US" dirty="0" err="1" smtClean="0"/>
              <a:t>công</a:t>
            </a:r>
            <a:r>
              <a:rPr lang="en-US" dirty="0" smtClean="0"/>
              <a:t> </a:t>
            </a:r>
            <a:r>
              <a:rPr lang="en-US" dirty="0" err="1" smtClean="0"/>
              <a:t>thức</a:t>
            </a:r>
            <a:r>
              <a:rPr lang="en-US" dirty="0" smtClean="0"/>
              <a:t> Taylor </a:t>
            </a:r>
            <a:r>
              <a:rPr lang="en-US" dirty="0" err="1" smtClean="0"/>
              <a:t>hoặc</a:t>
            </a:r>
            <a:r>
              <a:rPr lang="en-US" dirty="0" smtClean="0"/>
              <a:t> </a:t>
            </a:r>
            <a:r>
              <a:rPr lang="en-US" dirty="0" err="1" smtClean="0"/>
              <a:t>chuỗi</a:t>
            </a:r>
            <a:r>
              <a:rPr lang="en-US" dirty="0" smtClean="0"/>
              <a:t> Taylor)</a:t>
            </a:r>
            <a:endParaRPr lang="en-US" dirty="0" smtClean="0"/>
          </a:p>
          <a:p>
            <a:pPr marL="0" indent="0" algn="just">
              <a:lnSpc>
                <a:spcPct val="150000"/>
              </a:lnSpc>
              <a:buNone/>
            </a:pPr>
            <a:endParaRPr lang="en-US" dirty="0"/>
          </a:p>
          <a:p>
            <a:pPr marL="0" indent="0" algn="just">
              <a:lnSpc>
                <a:spcPct val="150000"/>
              </a:lnSpc>
              <a:buNone/>
            </a:pPr>
            <a:endParaRPr lang="en-US" dirty="0" smtClean="0"/>
          </a:p>
          <a:p>
            <a:pPr marL="0" indent="0" algn="just">
              <a:lnSpc>
                <a:spcPct val="150000"/>
              </a:lnSpc>
              <a:buNone/>
            </a:pPr>
            <a:r>
              <a:rPr lang="en-US" dirty="0" err="1" smtClean="0"/>
              <a:t>Trong</a:t>
            </a:r>
            <a:r>
              <a:rPr lang="en-US" dirty="0" smtClean="0"/>
              <a:t> </a:t>
            </a:r>
            <a:r>
              <a:rPr lang="en-US" dirty="0" err="1" smtClean="0"/>
              <a:t>đó</a:t>
            </a:r>
            <a:r>
              <a:rPr lang="en-US" dirty="0"/>
              <a:t> </a:t>
            </a:r>
            <a:endParaRPr lang="en-US" dirty="0"/>
          </a:p>
        </p:txBody>
      </p:sp>
      <p:graphicFrame>
        <p:nvGraphicFramePr>
          <p:cNvPr id="4" name="Object 3"/>
          <p:cNvGraphicFramePr>
            <a:graphicFrameLocks noChangeAspect="1"/>
          </p:cNvGraphicFramePr>
          <p:nvPr/>
        </p:nvGraphicFramePr>
        <p:xfrm>
          <a:off x="2074998" y="3650494"/>
          <a:ext cx="8445500" cy="865187"/>
        </p:xfrm>
        <a:graphic>
          <a:graphicData uri="http://schemas.openxmlformats.org/presentationml/2006/ole">
            <mc:AlternateContent xmlns:mc="http://schemas.openxmlformats.org/markup-compatibility/2006">
              <mc:Choice xmlns:v="urn:schemas-microsoft-com:vml" Requires="v">
                <p:oleObj spid="_x0000_s11270" name="Equation" r:id="rId1" imgW="121920000" imgH="12496800" progId="Equation.3">
                  <p:embed/>
                </p:oleObj>
              </mc:Choice>
              <mc:Fallback>
                <p:oleObj name="Equation" r:id="rId1" imgW="121920000" imgH="12496800" progId="Equation.3">
                  <p:embed/>
                  <p:pic>
                    <p:nvPicPr>
                      <p:cNvPr id="0" name="Object 3"/>
                      <p:cNvPicPr/>
                      <p:nvPr/>
                    </p:nvPicPr>
                    <p:blipFill>
                      <a:blip r:embed="rId2"/>
                      <a:stretch>
                        <a:fillRect/>
                      </a:stretch>
                    </p:blipFill>
                    <p:spPr>
                      <a:xfrm>
                        <a:off x="2074998" y="3650494"/>
                        <a:ext cx="8445500" cy="865187"/>
                      </a:xfrm>
                      <a:prstGeom prst="rect">
                        <a:avLst/>
                      </a:prstGeom>
                    </p:spPr>
                  </p:pic>
                </p:oleObj>
              </mc:Fallback>
            </mc:AlternateContent>
          </a:graphicData>
        </a:graphic>
      </p:graphicFrame>
      <p:pic>
        <p:nvPicPr>
          <p:cNvPr id="2" name="Picture 1"/>
          <p:cNvPicPr>
            <a:picLocks noChangeAspect="1"/>
          </p:cNvPicPr>
          <p:nvPr/>
        </p:nvPicPr>
        <p:blipFill>
          <a:blip r:embed="rId3"/>
          <a:stretch>
            <a:fillRect/>
          </a:stretch>
        </p:blipFill>
        <p:spPr>
          <a:xfrm>
            <a:off x="4723542" y="5403886"/>
            <a:ext cx="3542307" cy="109728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Nếu</a:t>
            </a:r>
            <a:r>
              <a:rPr lang="en-US" dirty="0" smtClean="0"/>
              <a:t> </a:t>
            </a:r>
            <a:r>
              <a:rPr lang="en-US" dirty="0" err="1" smtClean="0"/>
              <a:t>bỏ</a:t>
            </a:r>
            <a:r>
              <a:rPr lang="en-US" dirty="0" smtClean="0"/>
              <a:t> </a:t>
            </a:r>
            <a:r>
              <a:rPr lang="en-US" dirty="0" err="1" smtClean="0"/>
              <a:t>đi</a:t>
            </a:r>
            <a:r>
              <a:rPr lang="en-US" dirty="0" smtClean="0"/>
              <a:t> </a:t>
            </a:r>
            <a:r>
              <a:rPr lang="en-US" dirty="0" err="1" smtClean="0"/>
              <a:t>phần</a:t>
            </a:r>
            <a:r>
              <a:rPr lang="en-US" dirty="0" smtClean="0"/>
              <a:t> </a:t>
            </a:r>
            <a:r>
              <a:rPr lang="en-US" dirty="0" err="1" smtClean="0"/>
              <a:t>dư</a:t>
            </a:r>
            <a:r>
              <a:rPr lang="en-US" dirty="0" smtClean="0"/>
              <a:t> R</a:t>
            </a:r>
            <a:r>
              <a:rPr lang="en-US" baseline="-25000" dirty="0" smtClean="0"/>
              <a:t>n</a:t>
            </a:r>
            <a:r>
              <a:rPr lang="en-US" dirty="0" smtClean="0"/>
              <a:t> </a:t>
            </a:r>
            <a:r>
              <a:rPr lang="en-US" dirty="0" err="1" smtClean="0"/>
              <a:t>thì</a:t>
            </a:r>
            <a:r>
              <a:rPr lang="en-US" dirty="0" smtClean="0"/>
              <a:t> </a:t>
            </a:r>
            <a:r>
              <a:rPr lang="en-US" dirty="0" err="1" smtClean="0"/>
              <a:t>vế</a:t>
            </a:r>
            <a:r>
              <a:rPr lang="en-US" dirty="0" smtClean="0"/>
              <a:t> </a:t>
            </a:r>
            <a:r>
              <a:rPr lang="en-US" dirty="0" err="1" smtClean="0"/>
              <a:t>phải</a:t>
            </a:r>
            <a:r>
              <a:rPr lang="en-US" dirty="0" smtClean="0"/>
              <a:t> </a:t>
            </a:r>
            <a:r>
              <a:rPr lang="en-US" dirty="0" err="1" smtClean="0"/>
              <a:t>của</a:t>
            </a:r>
            <a:r>
              <a:rPr lang="en-US" dirty="0" smtClean="0"/>
              <a:t> </a:t>
            </a:r>
            <a:r>
              <a:rPr lang="en-US" dirty="0" err="1" smtClean="0"/>
              <a:t>chuỗi</a:t>
            </a:r>
            <a:r>
              <a:rPr lang="en-US" dirty="0" smtClean="0"/>
              <a:t> Taylor </a:t>
            </a:r>
            <a:r>
              <a:rPr lang="en-US" dirty="0" err="1" smtClean="0"/>
              <a:t>được</a:t>
            </a:r>
            <a:r>
              <a:rPr lang="en-US" dirty="0" smtClean="0"/>
              <a:t> </a:t>
            </a:r>
            <a:r>
              <a:rPr lang="en-US" dirty="0" err="1" smtClean="0"/>
              <a:t>gọi</a:t>
            </a:r>
            <a:r>
              <a:rPr lang="en-US" dirty="0" smtClean="0"/>
              <a:t> </a:t>
            </a:r>
            <a:r>
              <a:rPr lang="en-US" dirty="0" err="1" smtClean="0"/>
              <a:t>là</a:t>
            </a:r>
            <a:r>
              <a:rPr lang="en-US" dirty="0" smtClean="0"/>
              <a:t> </a:t>
            </a:r>
            <a:r>
              <a:rPr lang="en-US" dirty="0" err="1" smtClean="0"/>
              <a:t>đa</a:t>
            </a:r>
            <a:r>
              <a:rPr lang="en-US" dirty="0" smtClean="0"/>
              <a:t> </a:t>
            </a:r>
            <a:r>
              <a:rPr lang="en-US" dirty="0" err="1" smtClean="0"/>
              <a:t>thức</a:t>
            </a:r>
            <a:r>
              <a:rPr lang="en-US" dirty="0" smtClean="0"/>
              <a:t> Taylor </a:t>
            </a:r>
            <a:r>
              <a:rPr lang="en-US" dirty="0" err="1" smtClean="0"/>
              <a:t>bậc</a:t>
            </a:r>
            <a:r>
              <a:rPr lang="en-US" dirty="0" smtClean="0"/>
              <a:t> n </a:t>
            </a:r>
            <a:r>
              <a:rPr lang="en-US" dirty="0" err="1" smtClean="0"/>
              <a:t>xấp</a:t>
            </a:r>
            <a:r>
              <a:rPr lang="en-US" dirty="0" smtClean="0"/>
              <a:t> </a:t>
            </a:r>
            <a:r>
              <a:rPr lang="en-US" dirty="0" err="1" smtClean="0"/>
              <a:t>xỉ</a:t>
            </a:r>
            <a:r>
              <a:rPr lang="en-US" dirty="0" smtClean="0"/>
              <a:t> </a:t>
            </a:r>
            <a:r>
              <a:rPr lang="en-US" dirty="0" err="1" smtClean="0"/>
              <a:t>cho</a:t>
            </a:r>
            <a:r>
              <a:rPr lang="en-US" dirty="0" smtClean="0"/>
              <a:t> </a:t>
            </a:r>
            <a:r>
              <a:rPr lang="en-US" dirty="0" err="1" smtClean="0"/>
              <a:t>hàm</a:t>
            </a:r>
            <a:r>
              <a:rPr lang="en-US" dirty="0" smtClean="0"/>
              <a:t> f(x).   </a:t>
            </a:r>
            <a:endParaRPr lang="en-US" dirty="0" smtClean="0"/>
          </a:p>
          <a:p>
            <a:pPr marL="0" indent="0" algn="just">
              <a:lnSpc>
                <a:spcPct val="150000"/>
              </a:lnSpc>
              <a:buNone/>
            </a:pPr>
            <a:r>
              <a:rPr lang="en-US" dirty="0" err="1" smtClean="0"/>
              <a:t>Nếu</a:t>
            </a:r>
            <a:r>
              <a:rPr lang="en-US" dirty="0" smtClean="0"/>
              <a:t> </a:t>
            </a:r>
            <a:r>
              <a:rPr lang="en-US" dirty="0" err="1" smtClean="0"/>
              <a:t>đạo</a:t>
            </a:r>
            <a:r>
              <a:rPr lang="en-US" dirty="0" smtClean="0"/>
              <a:t> </a:t>
            </a:r>
            <a:r>
              <a:rPr lang="en-US" dirty="0" err="1" smtClean="0"/>
              <a:t>hàm</a:t>
            </a:r>
            <a:r>
              <a:rPr lang="en-US" dirty="0" smtClean="0"/>
              <a:t> </a:t>
            </a:r>
            <a:r>
              <a:rPr lang="en-US" dirty="0" err="1" smtClean="0"/>
              <a:t>bậc</a:t>
            </a:r>
            <a:r>
              <a:rPr lang="en-US" dirty="0" smtClean="0"/>
              <a:t> (n + 1) </a:t>
            </a:r>
            <a:r>
              <a:rPr lang="en-US" dirty="0" err="1" smtClean="0"/>
              <a:t>của</a:t>
            </a:r>
            <a:r>
              <a:rPr lang="en-US" dirty="0" smtClean="0"/>
              <a:t> f(x) </a:t>
            </a:r>
            <a:r>
              <a:rPr lang="en-US" dirty="0" err="1" smtClean="0"/>
              <a:t>liên</a:t>
            </a:r>
            <a:r>
              <a:rPr lang="en-US" dirty="0" smtClean="0"/>
              <a:t> </a:t>
            </a:r>
            <a:r>
              <a:rPr lang="en-US" dirty="0" err="1" smtClean="0"/>
              <a:t>tục</a:t>
            </a:r>
            <a:r>
              <a:rPr lang="en-US" dirty="0" smtClean="0"/>
              <a:t> </a:t>
            </a:r>
            <a:r>
              <a:rPr lang="en-US" dirty="0" err="1" smtClean="0"/>
              <a:t>thì</a:t>
            </a:r>
            <a:r>
              <a:rPr lang="en-US" dirty="0" smtClean="0"/>
              <a:t> </a:t>
            </a:r>
            <a:r>
              <a:rPr lang="en-US" dirty="0" err="1" smtClean="0"/>
              <a:t>phần</a:t>
            </a:r>
            <a:r>
              <a:rPr lang="en-US" dirty="0" smtClean="0"/>
              <a:t> </a:t>
            </a:r>
            <a:r>
              <a:rPr lang="en-US" dirty="0" err="1" smtClean="0"/>
              <a:t>dư</a:t>
            </a:r>
            <a:r>
              <a:rPr lang="en-US" dirty="0" smtClean="0"/>
              <a:t> </a:t>
            </a:r>
            <a:r>
              <a:rPr lang="en-US" dirty="0" err="1" smtClean="0"/>
              <a:t>dạng</a:t>
            </a:r>
            <a:r>
              <a:rPr lang="en-US" dirty="0" smtClean="0"/>
              <a:t> </a:t>
            </a:r>
            <a:r>
              <a:rPr lang="en-US" dirty="0" err="1" smtClean="0"/>
              <a:t>tích</a:t>
            </a:r>
            <a:r>
              <a:rPr lang="en-US" dirty="0" smtClean="0"/>
              <a:t> </a:t>
            </a:r>
            <a:r>
              <a:rPr lang="en-US" dirty="0" err="1" smtClean="0"/>
              <a:t>phân</a:t>
            </a:r>
            <a:r>
              <a:rPr lang="en-US" dirty="0" smtClean="0"/>
              <a:t> </a:t>
            </a:r>
            <a:r>
              <a:rPr lang="en-US" dirty="0" err="1" smtClean="0"/>
              <a:t>có</a:t>
            </a:r>
            <a:r>
              <a:rPr lang="en-US" dirty="0" smtClean="0"/>
              <a:t> </a:t>
            </a:r>
            <a:r>
              <a:rPr lang="en-US" dirty="0" err="1" smtClean="0"/>
              <a:t>thể</a:t>
            </a:r>
            <a:r>
              <a:rPr lang="en-US" dirty="0" smtClean="0"/>
              <a:t> </a:t>
            </a:r>
            <a:r>
              <a:rPr lang="en-US" dirty="0" err="1" smtClean="0"/>
              <a:t>được</a:t>
            </a:r>
            <a:r>
              <a:rPr lang="en-US" dirty="0" smtClean="0"/>
              <a:t> </a:t>
            </a:r>
            <a:r>
              <a:rPr lang="en-US" dirty="0" err="1" smtClean="0"/>
              <a:t>viết</a:t>
            </a:r>
            <a:r>
              <a:rPr lang="en-US" dirty="0" smtClean="0"/>
              <a:t> </a:t>
            </a:r>
            <a:r>
              <a:rPr lang="en-US" dirty="0" err="1" smtClean="0"/>
              <a:t>thành</a:t>
            </a:r>
            <a:r>
              <a:rPr lang="en-US" dirty="0" smtClean="0"/>
              <a:t> </a:t>
            </a:r>
            <a:r>
              <a:rPr lang="en-US" dirty="0" err="1" smtClean="0"/>
              <a:t>phần</a:t>
            </a:r>
            <a:r>
              <a:rPr lang="en-US" dirty="0" smtClean="0"/>
              <a:t> </a:t>
            </a:r>
            <a:r>
              <a:rPr lang="en-US" dirty="0" err="1" smtClean="0"/>
              <a:t>dư</a:t>
            </a:r>
            <a:r>
              <a:rPr lang="en-US" dirty="0" smtClean="0"/>
              <a:t> </a:t>
            </a:r>
            <a:r>
              <a:rPr lang="en-US" dirty="0" err="1" smtClean="0"/>
              <a:t>dạng</a:t>
            </a:r>
            <a:r>
              <a:rPr lang="en-US" dirty="0" smtClean="0"/>
              <a:t> Lagrange </a:t>
            </a:r>
            <a:r>
              <a:rPr lang="en-US" dirty="0" err="1" smtClean="0"/>
              <a:t>như</a:t>
            </a:r>
            <a:r>
              <a:rPr lang="en-US" dirty="0" smtClean="0"/>
              <a:t> </a:t>
            </a:r>
            <a:r>
              <a:rPr lang="en-US" dirty="0" err="1" smtClean="0"/>
              <a:t>sau</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định</a:t>
            </a:r>
            <a:r>
              <a:rPr lang="en-US" dirty="0" smtClean="0"/>
              <a:t> </a:t>
            </a:r>
            <a:r>
              <a:rPr lang="en-US" dirty="0" err="1" smtClean="0"/>
              <a:t>lý</a:t>
            </a:r>
            <a:r>
              <a:rPr lang="en-US" dirty="0" smtClean="0"/>
              <a:t> </a:t>
            </a:r>
            <a:r>
              <a:rPr lang="en-US" dirty="0" err="1" smtClean="0"/>
              <a:t>giá</a:t>
            </a:r>
            <a:r>
              <a:rPr lang="en-US" dirty="0" smtClean="0"/>
              <a:t> </a:t>
            </a:r>
            <a:r>
              <a:rPr lang="en-US" dirty="0" err="1" smtClean="0"/>
              <a:t>trị</a:t>
            </a:r>
            <a:r>
              <a:rPr lang="en-US" dirty="0" smtClean="0"/>
              <a:t> </a:t>
            </a:r>
            <a:r>
              <a:rPr lang="en-US" dirty="0" err="1" smtClean="0"/>
              <a:t>trung</a:t>
            </a:r>
            <a:r>
              <a:rPr lang="en-US" dirty="0" smtClean="0"/>
              <a:t> </a:t>
            </a:r>
            <a:r>
              <a:rPr lang="en-US" dirty="0" err="1" smtClean="0"/>
              <a:t>bình</a:t>
            </a:r>
            <a:r>
              <a:rPr lang="en-US" dirty="0" smtClean="0"/>
              <a:t> </a:t>
            </a:r>
            <a:r>
              <a:rPr lang="en-US" dirty="0" err="1" smtClean="0"/>
              <a:t>thứ</a:t>
            </a:r>
            <a:r>
              <a:rPr lang="en-US" dirty="0" smtClean="0"/>
              <a:t> 2 </a:t>
            </a:r>
            <a:r>
              <a:rPr lang="en-US" dirty="0" err="1" smtClean="0"/>
              <a:t>cho</a:t>
            </a:r>
            <a:r>
              <a:rPr lang="en-US" dirty="0" smtClean="0"/>
              <a:t> </a:t>
            </a:r>
            <a:r>
              <a:rPr lang="en-US" dirty="0" err="1" smtClean="0"/>
              <a:t>tích</a:t>
            </a:r>
            <a:r>
              <a:rPr lang="en-US" dirty="0" smtClean="0"/>
              <a:t> </a:t>
            </a:r>
            <a:r>
              <a:rPr lang="en-US" dirty="0" err="1" smtClean="0"/>
              <a:t>phân</a:t>
            </a:r>
            <a:r>
              <a:rPr lang="en-US" dirty="0" smtClean="0"/>
              <a:t>)</a:t>
            </a:r>
            <a:endParaRPr lang="en-US" dirty="0"/>
          </a:p>
        </p:txBody>
      </p:sp>
      <p:pic>
        <p:nvPicPr>
          <p:cNvPr id="2" name="Picture 1"/>
          <p:cNvPicPr>
            <a:picLocks noChangeAspect="1"/>
          </p:cNvPicPr>
          <p:nvPr/>
        </p:nvPicPr>
        <p:blipFill>
          <a:blip r:embed="rId1"/>
          <a:stretch>
            <a:fillRect/>
          </a:stretch>
        </p:blipFill>
        <p:spPr>
          <a:xfrm>
            <a:off x="4777713" y="4792117"/>
            <a:ext cx="3175062" cy="100584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Nếu</a:t>
            </a:r>
            <a:r>
              <a:rPr lang="en-US" dirty="0" smtClean="0"/>
              <a:t> </a:t>
            </a:r>
            <a:r>
              <a:rPr lang="en-US" dirty="0" err="1" smtClean="0"/>
              <a:t>đã</a:t>
            </a:r>
            <a:r>
              <a:rPr lang="en-US" dirty="0" smtClean="0"/>
              <a:t> </a:t>
            </a:r>
            <a:r>
              <a:rPr lang="en-US" dirty="0" err="1" smtClean="0"/>
              <a:t>biết</a:t>
            </a:r>
            <a:r>
              <a:rPr lang="en-US" dirty="0" smtClean="0"/>
              <a:t> </a:t>
            </a:r>
            <a:r>
              <a:rPr lang="en-US" dirty="0" err="1" smtClean="0"/>
              <a:t>các</a:t>
            </a:r>
            <a:r>
              <a:rPr lang="en-US" dirty="0" smtClean="0"/>
              <a:t> </a:t>
            </a:r>
            <a:r>
              <a:rPr lang="en-US" dirty="0" err="1" smtClean="0"/>
              <a:t>giá</a:t>
            </a:r>
            <a:r>
              <a:rPr lang="en-US" dirty="0" smtClean="0"/>
              <a:t> </a:t>
            </a:r>
            <a:r>
              <a:rPr lang="en-US" dirty="0" err="1" smtClean="0"/>
              <a:t>trị</a:t>
            </a:r>
            <a:r>
              <a:rPr lang="en-US" dirty="0" smtClean="0"/>
              <a:t> </a:t>
            </a:r>
            <a:r>
              <a:rPr lang="en-US" dirty="0" err="1" smtClean="0"/>
              <a:t>của</a:t>
            </a:r>
            <a:r>
              <a:rPr lang="en-US" dirty="0" smtClean="0"/>
              <a:t> </a:t>
            </a:r>
            <a:r>
              <a:rPr lang="en-US" dirty="0" err="1" smtClean="0"/>
              <a:t>hàm</a:t>
            </a:r>
            <a:r>
              <a:rPr lang="en-US" dirty="0" smtClean="0"/>
              <a:t> f(x) </a:t>
            </a:r>
            <a:r>
              <a:rPr lang="en-US" dirty="0" err="1" smtClean="0"/>
              <a:t>và</a:t>
            </a:r>
            <a:r>
              <a:rPr lang="en-US" dirty="0" smtClean="0"/>
              <a:t> </a:t>
            </a:r>
            <a:r>
              <a:rPr lang="en-US" dirty="0" err="1" smtClean="0"/>
              <a:t>các</a:t>
            </a:r>
            <a:r>
              <a:rPr lang="en-US" dirty="0" smtClean="0"/>
              <a:t> </a:t>
            </a:r>
            <a:r>
              <a:rPr lang="en-US" dirty="0" err="1" smtClean="0"/>
              <a:t>đạo</a:t>
            </a:r>
            <a:r>
              <a:rPr lang="en-US" dirty="0" smtClean="0"/>
              <a:t> </a:t>
            </a:r>
            <a:r>
              <a:rPr lang="en-US" dirty="0" err="1" smtClean="0"/>
              <a:t>hàm</a:t>
            </a:r>
            <a:r>
              <a:rPr lang="en-US" dirty="0" smtClean="0"/>
              <a:t> </a:t>
            </a:r>
            <a:r>
              <a:rPr lang="en-US" dirty="0" err="1" smtClean="0"/>
              <a:t>của</a:t>
            </a:r>
            <a:r>
              <a:rPr lang="en-US" dirty="0" smtClean="0"/>
              <a:t> </a:t>
            </a:r>
            <a:r>
              <a:rPr lang="en-US" dirty="0" err="1" smtClean="0"/>
              <a:t>nó</a:t>
            </a:r>
            <a:r>
              <a:rPr lang="en-US" dirty="0" smtClean="0"/>
              <a:t> </a:t>
            </a:r>
            <a:r>
              <a:rPr lang="en-US" dirty="0" err="1" smtClean="0"/>
              <a:t>tại</a:t>
            </a:r>
            <a:r>
              <a:rPr lang="en-US" dirty="0" smtClean="0"/>
              <a:t> x</a:t>
            </a:r>
            <a:r>
              <a:rPr lang="en-US" baseline="-25000" dirty="0" smtClean="0"/>
              <a:t>i</a:t>
            </a:r>
            <a:r>
              <a:rPr lang="en-US" dirty="0" smtClean="0"/>
              <a:t> ta </a:t>
            </a:r>
            <a:r>
              <a:rPr lang="en-US" dirty="0" err="1" smtClean="0"/>
              <a:t>tính</a:t>
            </a:r>
            <a:r>
              <a:rPr lang="en-US" dirty="0" smtClean="0"/>
              <a:t> </a:t>
            </a:r>
            <a:r>
              <a:rPr lang="en-US" dirty="0" err="1" smtClean="0"/>
              <a:t>được</a:t>
            </a:r>
            <a:r>
              <a:rPr lang="en-US" dirty="0" smtClean="0"/>
              <a:t> </a:t>
            </a:r>
            <a:r>
              <a:rPr lang="en-US" dirty="0" err="1" smtClean="0"/>
              <a:t>giá</a:t>
            </a:r>
            <a:r>
              <a:rPr lang="en-US" dirty="0" smtClean="0"/>
              <a:t> </a:t>
            </a:r>
            <a:r>
              <a:rPr lang="en-US" dirty="0" err="1" smtClean="0"/>
              <a:t>trị</a:t>
            </a:r>
            <a:r>
              <a:rPr lang="en-US" dirty="0" smtClean="0"/>
              <a:t> </a:t>
            </a:r>
            <a:r>
              <a:rPr lang="en-US" dirty="0" err="1" smtClean="0"/>
              <a:t>của</a:t>
            </a:r>
            <a:r>
              <a:rPr lang="en-US" dirty="0" smtClean="0"/>
              <a:t> f </a:t>
            </a:r>
            <a:r>
              <a:rPr lang="en-US" dirty="0" err="1" smtClean="0"/>
              <a:t>tại</a:t>
            </a:r>
            <a:r>
              <a:rPr lang="en-US" dirty="0" smtClean="0"/>
              <a:t> x</a:t>
            </a:r>
            <a:r>
              <a:rPr lang="en-US" baseline="-25000" dirty="0" smtClean="0"/>
              <a:t>i + 1</a:t>
            </a:r>
            <a:r>
              <a:rPr lang="en-US" dirty="0" smtClean="0"/>
              <a:t> </a:t>
            </a:r>
            <a:r>
              <a:rPr lang="en-US" dirty="0" err="1" smtClean="0"/>
              <a:t>theo</a:t>
            </a:r>
            <a:r>
              <a:rPr lang="en-US" dirty="0" smtClean="0"/>
              <a:t> </a:t>
            </a:r>
            <a:r>
              <a:rPr lang="en-US" dirty="0" err="1" smtClean="0"/>
              <a:t>công</a:t>
            </a:r>
            <a:r>
              <a:rPr lang="en-US" dirty="0" smtClean="0"/>
              <a:t> </a:t>
            </a:r>
            <a:r>
              <a:rPr lang="en-US" dirty="0" err="1" smtClean="0"/>
              <a:t>thức</a:t>
            </a:r>
            <a:r>
              <a:rPr lang="en-US" dirty="0" smtClean="0"/>
              <a:t> Taylor</a:t>
            </a:r>
            <a:endParaRPr lang="en-US" dirty="0" smtClean="0"/>
          </a:p>
          <a:p>
            <a:pPr marL="0" indent="0" algn="just">
              <a:lnSpc>
                <a:spcPct val="150000"/>
              </a:lnSpc>
              <a:buNone/>
            </a:pPr>
            <a:endParaRPr lang="en-US" dirty="0"/>
          </a:p>
        </p:txBody>
      </p:sp>
      <p:pic>
        <p:nvPicPr>
          <p:cNvPr id="2" name="Picture 1"/>
          <p:cNvPicPr>
            <a:picLocks noChangeAspect="1"/>
          </p:cNvPicPr>
          <p:nvPr/>
        </p:nvPicPr>
        <p:blipFill>
          <a:blip r:embed="rId1"/>
          <a:stretch>
            <a:fillRect/>
          </a:stretch>
        </p:blipFill>
        <p:spPr>
          <a:xfrm>
            <a:off x="1975554" y="2589078"/>
            <a:ext cx="8240892" cy="1828800"/>
          </a:xfrm>
          <a:prstGeom prst="rect">
            <a:avLst/>
          </a:prstGeom>
        </p:spPr>
      </p:pic>
      <p:pic>
        <p:nvPicPr>
          <p:cNvPr id="4" name="Picture 3"/>
          <p:cNvPicPr>
            <a:picLocks noChangeAspect="1"/>
          </p:cNvPicPr>
          <p:nvPr/>
        </p:nvPicPr>
        <p:blipFill>
          <a:blip r:embed="rId2"/>
          <a:stretch>
            <a:fillRect/>
          </a:stretch>
        </p:blipFill>
        <p:spPr>
          <a:xfrm>
            <a:off x="1975552" y="4622641"/>
            <a:ext cx="3959750" cy="1097280"/>
          </a:xfrm>
          <a:prstGeom prst="rect">
            <a:avLst/>
          </a:prstGeom>
        </p:spPr>
      </p:pic>
      <p:sp>
        <p:nvSpPr>
          <p:cNvPr id="5" name="TextBox 4"/>
          <p:cNvSpPr txBox="1"/>
          <p:nvPr/>
        </p:nvSpPr>
        <p:spPr>
          <a:xfrm>
            <a:off x="5935302" y="4745490"/>
            <a:ext cx="5805268" cy="1318181"/>
          </a:xfrm>
          <a:prstGeom prst="rect">
            <a:avLst/>
          </a:prstGeom>
          <a:noFill/>
        </p:spPr>
        <p:txBody>
          <a:bodyPr wrap="square" rtlCol="0">
            <a:spAutoFit/>
          </a:bodyPr>
          <a:lstStyle/>
          <a:p>
            <a:pPr>
              <a:lnSpc>
                <a:spcPct val="150000"/>
              </a:lnSpc>
            </a:pPr>
            <a:r>
              <a:rPr lang="en-US" sz="2800" dirty="0" err="1" smtClean="0"/>
              <a:t>với</a:t>
            </a:r>
            <a:r>
              <a:rPr lang="en-US" sz="2800" dirty="0" smtClean="0"/>
              <a:t> </a:t>
            </a:r>
            <a:r>
              <a:rPr lang="el-GR" sz="2800" dirty="0" smtClean="0"/>
              <a:t>ξ</a:t>
            </a:r>
            <a:r>
              <a:rPr lang="en-US" sz="2800" dirty="0" smtClean="0"/>
              <a:t> </a:t>
            </a:r>
            <a:r>
              <a:rPr lang="en-US" sz="2800" dirty="0" err="1" smtClean="0"/>
              <a:t>là</a:t>
            </a:r>
            <a:r>
              <a:rPr lang="en-US" sz="2800" dirty="0" smtClean="0"/>
              <a:t> </a:t>
            </a:r>
            <a:r>
              <a:rPr lang="en-US" sz="2800" dirty="0" err="1" smtClean="0"/>
              <a:t>một</a:t>
            </a:r>
            <a:r>
              <a:rPr lang="en-US" sz="2800" dirty="0" smtClean="0"/>
              <a:t> </a:t>
            </a:r>
            <a:r>
              <a:rPr lang="en-US" sz="2800" dirty="0" err="1" smtClean="0"/>
              <a:t>giá</a:t>
            </a:r>
            <a:r>
              <a:rPr lang="en-US" sz="2800" dirty="0" smtClean="0"/>
              <a:t> </a:t>
            </a:r>
            <a:r>
              <a:rPr lang="en-US" sz="2800" dirty="0" err="1" smtClean="0"/>
              <a:t>trị</a:t>
            </a:r>
            <a:r>
              <a:rPr lang="en-US" sz="2800" dirty="0" smtClean="0"/>
              <a:t> </a:t>
            </a:r>
            <a:r>
              <a:rPr lang="en-US" sz="2800" dirty="0" err="1" smtClean="0"/>
              <a:t>nào</a:t>
            </a:r>
            <a:r>
              <a:rPr lang="en-US" sz="2800" dirty="0" smtClean="0"/>
              <a:t> </a:t>
            </a:r>
            <a:r>
              <a:rPr lang="en-US" sz="2800" dirty="0" err="1" smtClean="0"/>
              <a:t>đó</a:t>
            </a:r>
            <a:r>
              <a:rPr lang="en-US" sz="2800" dirty="0" smtClean="0"/>
              <a:t> </a:t>
            </a:r>
            <a:r>
              <a:rPr lang="en-US" sz="2800" dirty="0" err="1" smtClean="0"/>
              <a:t>nằm</a:t>
            </a:r>
            <a:r>
              <a:rPr lang="en-US" sz="2800" dirty="0" smtClean="0"/>
              <a:t> </a:t>
            </a:r>
            <a:r>
              <a:rPr lang="en-US" sz="2800" dirty="0" err="1" smtClean="0"/>
              <a:t>giữa</a:t>
            </a:r>
            <a:r>
              <a:rPr lang="en-US" sz="2800" dirty="0"/>
              <a:t> x</a:t>
            </a:r>
            <a:r>
              <a:rPr lang="en-US" sz="2800" baseline="-25000" dirty="0"/>
              <a:t>i</a:t>
            </a:r>
            <a:r>
              <a:rPr lang="en-US" sz="2800" dirty="0" smtClean="0"/>
              <a:t> </a:t>
            </a:r>
            <a:r>
              <a:rPr lang="en-US" sz="2800" dirty="0" err="1" smtClean="0"/>
              <a:t>và</a:t>
            </a:r>
            <a:r>
              <a:rPr lang="en-US" sz="2800" dirty="0" smtClean="0"/>
              <a:t> </a:t>
            </a:r>
            <a:r>
              <a:rPr lang="en-US" sz="2800" dirty="0"/>
              <a:t>x</a:t>
            </a:r>
            <a:r>
              <a:rPr lang="en-US" sz="2800" baseline="-25000" dirty="0"/>
              <a:t>i + 1</a:t>
            </a:r>
            <a:r>
              <a:rPr lang="en-US" sz="2800" dirty="0" smtClean="0"/>
              <a:t> </a:t>
            </a:r>
            <a:endParaRPr 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Đặt</a:t>
            </a:r>
            <a:r>
              <a:rPr lang="en-US" dirty="0" smtClean="0"/>
              <a:t> h = </a:t>
            </a:r>
            <a:r>
              <a:rPr lang="en-US" dirty="0"/>
              <a:t>x</a:t>
            </a:r>
            <a:r>
              <a:rPr lang="en-US" baseline="-25000" dirty="0"/>
              <a:t>i + 1</a:t>
            </a:r>
            <a:r>
              <a:rPr lang="en-US" dirty="0" smtClean="0"/>
              <a:t> – </a:t>
            </a:r>
            <a:r>
              <a:rPr lang="en-US" dirty="0"/>
              <a:t>x</a:t>
            </a:r>
            <a:r>
              <a:rPr lang="en-US" baseline="-25000" dirty="0"/>
              <a:t>i </a:t>
            </a:r>
            <a:r>
              <a:rPr lang="en-US" dirty="0" smtClean="0"/>
              <a:t>(h </a:t>
            </a:r>
            <a:r>
              <a:rPr lang="en-US" dirty="0" err="1" smtClean="0"/>
              <a:t>được</a:t>
            </a:r>
            <a:r>
              <a:rPr lang="en-US" dirty="0" smtClean="0"/>
              <a:t> </a:t>
            </a:r>
            <a:r>
              <a:rPr lang="en-US" dirty="0" err="1" smtClean="0"/>
              <a:t>gọi</a:t>
            </a:r>
            <a:r>
              <a:rPr lang="en-US" dirty="0" smtClean="0"/>
              <a:t> </a:t>
            </a:r>
            <a:r>
              <a:rPr lang="en-US" dirty="0" err="1" smtClean="0"/>
              <a:t>là</a:t>
            </a:r>
            <a:r>
              <a:rPr lang="en-US" dirty="0" smtClean="0"/>
              <a:t> </a:t>
            </a:r>
            <a:r>
              <a:rPr lang="en-US" dirty="0" err="1" smtClean="0"/>
              <a:t>bước</a:t>
            </a:r>
            <a:r>
              <a:rPr lang="en-US" dirty="0" smtClean="0"/>
              <a:t> </a:t>
            </a:r>
            <a:r>
              <a:rPr lang="en-US" dirty="0" err="1" smtClean="0"/>
              <a:t>nhảy</a:t>
            </a:r>
            <a:r>
              <a:rPr lang="en-US" dirty="0" smtClean="0"/>
              <a:t> </a:t>
            </a:r>
            <a:r>
              <a:rPr lang="en-US" dirty="0" err="1" smtClean="0"/>
              <a:t>hoặc</a:t>
            </a:r>
            <a:r>
              <a:rPr lang="en-US" dirty="0" smtClean="0"/>
              <a:t> </a:t>
            </a:r>
            <a:r>
              <a:rPr lang="en-US" dirty="0" err="1" smtClean="0"/>
              <a:t>bước</a:t>
            </a:r>
            <a:r>
              <a:rPr lang="en-US" dirty="0" smtClean="0"/>
              <a:t> </a:t>
            </a:r>
            <a:r>
              <a:rPr lang="en-US" dirty="0" err="1" smtClean="0"/>
              <a:t>lưới</a:t>
            </a:r>
            <a:r>
              <a:rPr lang="en-US" dirty="0" smtClean="0"/>
              <a:t>). </a:t>
            </a:r>
            <a:r>
              <a:rPr lang="en-US" dirty="0" err="1" smtClean="0"/>
              <a:t>Khi</a:t>
            </a:r>
            <a:r>
              <a:rPr lang="en-US" dirty="0" smtClean="0"/>
              <a:t> </a:t>
            </a:r>
            <a:r>
              <a:rPr lang="en-US" dirty="0" err="1" smtClean="0"/>
              <a:t>đó</a:t>
            </a:r>
            <a:r>
              <a:rPr lang="en-US" dirty="0" smtClean="0"/>
              <a:t> </a:t>
            </a:r>
            <a:r>
              <a:rPr lang="en-US" dirty="0" err="1" smtClean="0"/>
              <a:t>công</a:t>
            </a:r>
            <a:r>
              <a:rPr lang="en-US" dirty="0" smtClean="0"/>
              <a:t> </a:t>
            </a:r>
            <a:r>
              <a:rPr lang="en-US" dirty="0" err="1" smtClean="0"/>
              <a:t>thức</a:t>
            </a:r>
            <a:r>
              <a:rPr lang="en-US" dirty="0" smtClean="0"/>
              <a:t> Taylor </a:t>
            </a:r>
            <a:r>
              <a:rPr lang="en-US" dirty="0" err="1" smtClean="0"/>
              <a:t>tính</a:t>
            </a:r>
            <a:r>
              <a:rPr lang="en-US" dirty="0" smtClean="0"/>
              <a:t> </a:t>
            </a:r>
            <a:r>
              <a:rPr lang="en-US" dirty="0" err="1" smtClean="0"/>
              <a:t>giá</a:t>
            </a:r>
            <a:r>
              <a:rPr lang="en-US" dirty="0" smtClean="0"/>
              <a:t> </a:t>
            </a:r>
            <a:r>
              <a:rPr lang="en-US" dirty="0" err="1" smtClean="0"/>
              <a:t>trị</a:t>
            </a:r>
            <a:r>
              <a:rPr lang="en-US" dirty="0" smtClean="0"/>
              <a:t> </a:t>
            </a:r>
            <a:r>
              <a:rPr lang="en-US" dirty="0" err="1" smtClean="0"/>
              <a:t>của</a:t>
            </a:r>
            <a:r>
              <a:rPr lang="en-US" dirty="0" smtClean="0"/>
              <a:t> f </a:t>
            </a:r>
            <a:r>
              <a:rPr lang="en-US" dirty="0" err="1" smtClean="0"/>
              <a:t>tại</a:t>
            </a:r>
            <a:r>
              <a:rPr lang="en-US" dirty="0" smtClean="0"/>
              <a:t> </a:t>
            </a:r>
            <a:r>
              <a:rPr lang="en-US" dirty="0"/>
              <a:t>x</a:t>
            </a:r>
            <a:r>
              <a:rPr lang="en-US" baseline="-25000" dirty="0"/>
              <a:t>i + 1</a:t>
            </a:r>
            <a:r>
              <a:rPr lang="en-US" dirty="0"/>
              <a:t> </a:t>
            </a:r>
            <a:r>
              <a:rPr lang="en-US" dirty="0" err="1" smtClean="0"/>
              <a:t>được</a:t>
            </a:r>
            <a:r>
              <a:rPr lang="en-US" dirty="0" smtClean="0"/>
              <a:t> </a:t>
            </a:r>
            <a:r>
              <a:rPr lang="en-US" dirty="0" err="1" smtClean="0"/>
              <a:t>viết</a:t>
            </a:r>
            <a:r>
              <a:rPr lang="en-US" dirty="0" smtClean="0"/>
              <a:t> </a:t>
            </a:r>
            <a:r>
              <a:rPr lang="en-US" dirty="0" err="1" smtClean="0"/>
              <a:t>thành</a:t>
            </a:r>
            <a:endParaRPr lang="en-US" dirty="0"/>
          </a:p>
        </p:txBody>
      </p:sp>
      <p:pic>
        <p:nvPicPr>
          <p:cNvPr id="2" name="Picture 1"/>
          <p:cNvPicPr>
            <a:picLocks noChangeAspect="1"/>
          </p:cNvPicPr>
          <p:nvPr/>
        </p:nvPicPr>
        <p:blipFill>
          <a:blip r:embed="rId1"/>
          <a:stretch>
            <a:fillRect/>
          </a:stretch>
        </p:blipFill>
        <p:spPr>
          <a:xfrm>
            <a:off x="1245256" y="2497638"/>
            <a:ext cx="9701488" cy="1005840"/>
          </a:xfrm>
          <a:prstGeom prst="rect">
            <a:avLst/>
          </a:prstGeom>
        </p:spPr>
      </p:pic>
      <p:pic>
        <p:nvPicPr>
          <p:cNvPr id="4" name="Picture 3"/>
          <p:cNvPicPr>
            <a:picLocks noChangeAspect="1"/>
          </p:cNvPicPr>
          <p:nvPr/>
        </p:nvPicPr>
        <p:blipFill>
          <a:blip r:embed="rId2"/>
          <a:stretch>
            <a:fillRect/>
          </a:stretch>
        </p:blipFill>
        <p:spPr>
          <a:xfrm>
            <a:off x="4416598" y="3980331"/>
            <a:ext cx="2861706" cy="109728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i="1" dirty="0" err="1" smtClean="0"/>
              <a:t>Câu</a:t>
            </a:r>
            <a:r>
              <a:rPr lang="en-US" b="1" i="1" dirty="0" smtClean="0"/>
              <a:t> </a:t>
            </a:r>
            <a:r>
              <a:rPr lang="en-US" b="1" i="1" dirty="0" err="1" smtClean="0"/>
              <a:t>hỏi</a:t>
            </a:r>
            <a:r>
              <a:rPr lang="en-US" b="1" i="1" dirty="0" smtClean="0"/>
              <a:t>: </a:t>
            </a:r>
            <a:r>
              <a:rPr lang="en-US" dirty="0" err="1" smtClean="0"/>
              <a:t>Khai</a:t>
            </a:r>
            <a:r>
              <a:rPr lang="en-US" dirty="0" smtClean="0"/>
              <a:t> </a:t>
            </a:r>
            <a:r>
              <a:rPr lang="en-US" dirty="0" err="1" smtClean="0"/>
              <a:t>triển</a:t>
            </a:r>
            <a:r>
              <a:rPr lang="en-US" dirty="0" smtClean="0"/>
              <a:t> </a:t>
            </a:r>
            <a:r>
              <a:rPr lang="en-US" dirty="0" err="1" smtClean="0"/>
              <a:t>chuỗi</a:t>
            </a:r>
            <a:r>
              <a:rPr lang="en-US" dirty="0" smtClean="0"/>
              <a:t> Taylor </a:t>
            </a:r>
            <a:r>
              <a:rPr lang="en-US" dirty="0" err="1" smtClean="0"/>
              <a:t>bậc</a:t>
            </a:r>
            <a:r>
              <a:rPr lang="en-US" dirty="0" smtClean="0"/>
              <a:t> n </a:t>
            </a:r>
            <a:r>
              <a:rPr lang="en-US" dirty="0" err="1" smtClean="0"/>
              <a:t>cho</a:t>
            </a:r>
            <a:r>
              <a:rPr lang="en-US" dirty="0" smtClean="0"/>
              <a:t> </a:t>
            </a:r>
            <a:r>
              <a:rPr lang="en-US" dirty="0" err="1" smtClean="0"/>
              <a:t>kết</a:t>
            </a:r>
            <a:r>
              <a:rPr lang="en-US" dirty="0" smtClean="0"/>
              <a:t> </a:t>
            </a:r>
            <a:r>
              <a:rPr lang="en-US" dirty="0" err="1" smtClean="0"/>
              <a:t>quả</a:t>
            </a:r>
            <a:r>
              <a:rPr lang="en-US" dirty="0" smtClean="0"/>
              <a:t> </a:t>
            </a:r>
            <a:r>
              <a:rPr lang="en-US" dirty="0" err="1" smtClean="0"/>
              <a:t>chính</a:t>
            </a:r>
            <a:r>
              <a:rPr lang="en-US" dirty="0" smtClean="0"/>
              <a:t> </a:t>
            </a:r>
            <a:r>
              <a:rPr lang="en-US" dirty="0" err="1" smtClean="0"/>
              <a:t>xác</a:t>
            </a:r>
            <a:r>
              <a:rPr lang="en-US" dirty="0" smtClean="0"/>
              <a:t> </a:t>
            </a:r>
            <a:r>
              <a:rPr lang="en-US" dirty="0" err="1" smtClean="0"/>
              <a:t>đối</a:t>
            </a:r>
            <a:r>
              <a:rPr lang="en-US" dirty="0" smtClean="0"/>
              <a:t> </a:t>
            </a:r>
            <a:r>
              <a:rPr lang="en-US" dirty="0" err="1" smtClean="0"/>
              <a:t>với</a:t>
            </a:r>
            <a:r>
              <a:rPr lang="en-US" dirty="0" smtClean="0"/>
              <a:t> </a:t>
            </a:r>
            <a:r>
              <a:rPr lang="en-US" dirty="0" err="1" smtClean="0"/>
              <a:t>hàm</a:t>
            </a:r>
            <a:r>
              <a:rPr lang="en-US" dirty="0" smtClean="0"/>
              <a:t> </a:t>
            </a:r>
            <a:r>
              <a:rPr lang="en-US" dirty="0" err="1" smtClean="0"/>
              <a:t>số</a:t>
            </a:r>
            <a:r>
              <a:rPr lang="en-US" dirty="0" smtClean="0"/>
              <a:t> f(x) </a:t>
            </a:r>
            <a:r>
              <a:rPr lang="en-US" dirty="0" err="1" smtClean="0"/>
              <a:t>có</a:t>
            </a:r>
            <a:r>
              <a:rPr lang="en-US" dirty="0" smtClean="0"/>
              <a:t> </a:t>
            </a:r>
            <a:r>
              <a:rPr lang="en-US" dirty="0" err="1" smtClean="0"/>
              <a:t>dạng</a:t>
            </a:r>
            <a:r>
              <a:rPr lang="en-US" dirty="0" smtClean="0"/>
              <a:t> </a:t>
            </a:r>
            <a:r>
              <a:rPr lang="en-US" dirty="0" err="1" smtClean="0"/>
              <a:t>như</a:t>
            </a:r>
            <a:r>
              <a:rPr lang="en-US" dirty="0" smtClean="0"/>
              <a:t> </a:t>
            </a:r>
            <a:r>
              <a:rPr lang="en-US" dirty="0" err="1" smtClean="0"/>
              <a:t>thế</a:t>
            </a:r>
            <a:r>
              <a:rPr lang="en-US" dirty="0" smtClean="0"/>
              <a:t> </a:t>
            </a:r>
            <a:r>
              <a:rPr lang="en-US" dirty="0" err="1" smtClean="0"/>
              <a:t>nào</a:t>
            </a:r>
            <a:r>
              <a:rPr lang="en-US" dirty="0" smtClean="0"/>
              <a:t>?</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Công</a:t>
            </a:r>
            <a:r>
              <a:rPr lang="en-US" dirty="0" smtClean="0"/>
              <a:t> </a:t>
            </a:r>
            <a:r>
              <a:rPr lang="en-US" dirty="0" err="1" smtClean="0"/>
              <a:t>thức</a:t>
            </a:r>
            <a:r>
              <a:rPr lang="en-US" dirty="0" smtClean="0"/>
              <a:t> </a:t>
            </a:r>
            <a:r>
              <a:rPr lang="en-US" dirty="0" err="1" smtClean="0"/>
              <a:t>phần</a:t>
            </a:r>
            <a:r>
              <a:rPr lang="en-US" dirty="0" smtClean="0"/>
              <a:t> </a:t>
            </a:r>
            <a:r>
              <a:rPr lang="en-US" dirty="0" err="1" smtClean="0"/>
              <a:t>dư</a:t>
            </a:r>
            <a:r>
              <a:rPr lang="en-US" dirty="0" smtClean="0"/>
              <a:t> </a:t>
            </a:r>
            <a:r>
              <a:rPr lang="en-US" dirty="0" err="1" smtClean="0"/>
              <a:t>dạng</a:t>
            </a:r>
            <a:r>
              <a:rPr lang="en-US" dirty="0" smtClean="0"/>
              <a:t> Lagrange </a:t>
            </a:r>
            <a:r>
              <a:rPr lang="en-US" dirty="0" err="1" smtClean="0"/>
              <a:t>có</a:t>
            </a:r>
            <a:r>
              <a:rPr lang="en-US" dirty="0" smtClean="0"/>
              <a:t> 2 </a:t>
            </a:r>
            <a:r>
              <a:rPr lang="en-US" dirty="0" err="1" smtClean="0"/>
              <a:t>điểm</a:t>
            </a:r>
            <a:r>
              <a:rPr lang="en-US" dirty="0" smtClean="0"/>
              <a:t> </a:t>
            </a:r>
            <a:r>
              <a:rPr lang="en-US" dirty="0" err="1" smtClean="0"/>
              <a:t>bất</a:t>
            </a:r>
            <a:r>
              <a:rPr lang="en-US" dirty="0" smtClean="0"/>
              <a:t> </a:t>
            </a:r>
            <a:r>
              <a:rPr lang="en-US" dirty="0" err="1" smtClean="0"/>
              <a:t>lợi</a:t>
            </a:r>
            <a:endParaRPr lang="en-US" dirty="0" smtClean="0"/>
          </a:p>
          <a:p>
            <a:pPr algn="just">
              <a:lnSpc>
                <a:spcPct val="150000"/>
              </a:lnSpc>
              <a:buFontTx/>
              <a:buChar char="-"/>
            </a:pPr>
            <a:r>
              <a:rPr lang="en-US" dirty="0" smtClean="0"/>
              <a:t>không </a:t>
            </a:r>
            <a:r>
              <a:rPr lang="en-US" dirty="0" err="1" smtClean="0"/>
              <a:t>biết</a:t>
            </a:r>
            <a:r>
              <a:rPr lang="en-US" dirty="0" smtClean="0"/>
              <a:t> </a:t>
            </a:r>
            <a:r>
              <a:rPr lang="el-GR" dirty="0" smtClean="0">
                <a:sym typeface="+mn-ea"/>
              </a:rPr>
              <a:t>ξ</a:t>
            </a:r>
            <a:r>
              <a:rPr lang="en-US" altLang="el-GR" dirty="0" smtClean="0">
                <a:sym typeface="+mn-ea"/>
              </a:rPr>
              <a:t> </a:t>
            </a:r>
            <a:r>
              <a:rPr lang="en-US" dirty="0" err="1" smtClean="0"/>
              <a:t>chính</a:t>
            </a:r>
            <a:r>
              <a:rPr lang="en-US" dirty="0" smtClean="0"/>
              <a:t> </a:t>
            </a:r>
            <a:r>
              <a:rPr lang="en-US" dirty="0" err="1" smtClean="0"/>
              <a:t>xác</a:t>
            </a:r>
            <a:r>
              <a:rPr lang="en-US" dirty="0" smtClean="0"/>
              <a:t> </a:t>
            </a:r>
            <a:r>
              <a:rPr lang="en-US" dirty="0" err="1" smtClean="0"/>
              <a:t>là</a:t>
            </a:r>
            <a:r>
              <a:rPr lang="en-US" dirty="0" smtClean="0"/>
              <a:t> </a:t>
            </a:r>
            <a:r>
              <a:rPr lang="en-US" dirty="0" err="1" smtClean="0"/>
              <a:t>bao</a:t>
            </a:r>
            <a:r>
              <a:rPr lang="en-US" dirty="0" smtClean="0"/>
              <a:t> </a:t>
            </a:r>
            <a:r>
              <a:rPr lang="en-US" dirty="0" err="1" smtClean="0"/>
              <a:t>nhiêu</a:t>
            </a:r>
            <a:r>
              <a:rPr lang="en-US" dirty="0" smtClean="0"/>
              <a:t>?</a:t>
            </a:r>
            <a:endParaRPr lang="en-US" dirty="0" smtClean="0"/>
          </a:p>
          <a:p>
            <a:pPr algn="just">
              <a:lnSpc>
                <a:spcPct val="150000"/>
              </a:lnSpc>
              <a:buFontTx/>
              <a:buChar char="-"/>
            </a:pPr>
            <a:r>
              <a:rPr lang="en-US" dirty="0" err="1" smtClean="0"/>
              <a:t>Cần</a:t>
            </a:r>
            <a:r>
              <a:rPr lang="en-US" dirty="0" smtClean="0"/>
              <a:t> </a:t>
            </a:r>
            <a:r>
              <a:rPr lang="en-US" dirty="0" err="1" smtClean="0"/>
              <a:t>có</a:t>
            </a:r>
            <a:r>
              <a:rPr lang="en-US" dirty="0" smtClean="0"/>
              <a:t> </a:t>
            </a:r>
            <a:r>
              <a:rPr lang="en-US" dirty="0" err="1" smtClean="0"/>
              <a:t>đạo</a:t>
            </a:r>
            <a:r>
              <a:rPr lang="en-US" dirty="0" smtClean="0"/>
              <a:t> </a:t>
            </a:r>
            <a:r>
              <a:rPr lang="en-US" dirty="0" err="1" smtClean="0"/>
              <a:t>hàm</a:t>
            </a:r>
            <a:r>
              <a:rPr lang="en-US" dirty="0" smtClean="0"/>
              <a:t> </a:t>
            </a:r>
            <a:r>
              <a:rPr lang="en-US" dirty="0" err="1" smtClean="0"/>
              <a:t>bậc</a:t>
            </a:r>
            <a:r>
              <a:rPr lang="en-US" dirty="0" smtClean="0"/>
              <a:t> n + 1 </a:t>
            </a:r>
            <a:r>
              <a:rPr lang="en-US" dirty="0" err="1" smtClean="0"/>
              <a:t>của</a:t>
            </a:r>
            <a:r>
              <a:rPr lang="en-US" dirty="0" smtClean="0"/>
              <a:t> f, do </a:t>
            </a:r>
            <a:r>
              <a:rPr lang="en-US" dirty="0" err="1" smtClean="0"/>
              <a:t>đó</a:t>
            </a:r>
            <a:r>
              <a:rPr lang="en-US" dirty="0" smtClean="0"/>
              <a:t> </a:t>
            </a:r>
            <a:r>
              <a:rPr lang="en-US" dirty="0" err="1" smtClean="0"/>
              <a:t>cần</a:t>
            </a:r>
            <a:r>
              <a:rPr lang="en-US" dirty="0" smtClean="0"/>
              <a:t> </a:t>
            </a:r>
            <a:r>
              <a:rPr lang="en-US" dirty="0" err="1" smtClean="0"/>
              <a:t>biết</a:t>
            </a:r>
            <a:r>
              <a:rPr lang="en-US" dirty="0" smtClean="0"/>
              <a:t> f.</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Tuy</a:t>
            </a:r>
            <a:r>
              <a:rPr lang="en-US" dirty="0" smtClean="0"/>
              <a:t> </a:t>
            </a:r>
            <a:r>
              <a:rPr lang="en-US" dirty="0" err="1" smtClean="0"/>
              <a:t>nhiên</a:t>
            </a:r>
            <a:r>
              <a:rPr lang="en-US" dirty="0" smtClean="0"/>
              <a:t> </a:t>
            </a:r>
            <a:r>
              <a:rPr lang="en-US" dirty="0" err="1" smtClean="0"/>
              <a:t>phần</a:t>
            </a:r>
            <a:r>
              <a:rPr lang="en-US" dirty="0" smtClean="0"/>
              <a:t> </a:t>
            </a:r>
            <a:r>
              <a:rPr lang="en-US" dirty="0" err="1" smtClean="0"/>
              <a:t>dư</a:t>
            </a:r>
            <a:r>
              <a:rPr lang="en-US" dirty="0" smtClean="0"/>
              <a:t> </a:t>
            </a:r>
            <a:r>
              <a:rPr lang="en-US" dirty="0" err="1" smtClean="0"/>
              <a:t>này</a:t>
            </a:r>
            <a:r>
              <a:rPr lang="en-US" dirty="0" smtClean="0"/>
              <a:t> </a:t>
            </a:r>
            <a:r>
              <a:rPr lang="en-US" dirty="0" err="1" smtClean="0"/>
              <a:t>vẫn</a:t>
            </a:r>
            <a:r>
              <a:rPr lang="en-US" dirty="0" smtClean="0"/>
              <a:t> </a:t>
            </a:r>
            <a:r>
              <a:rPr lang="en-US" dirty="0" err="1" smtClean="0"/>
              <a:t>hữu</a:t>
            </a:r>
            <a:r>
              <a:rPr lang="en-US" dirty="0" smtClean="0"/>
              <a:t> </a:t>
            </a:r>
            <a:r>
              <a:rPr lang="en-US" dirty="0" err="1" smtClean="0"/>
              <a:t>ích</a:t>
            </a:r>
            <a:r>
              <a:rPr lang="en-US" dirty="0" smtClean="0"/>
              <a:t> </a:t>
            </a:r>
            <a:r>
              <a:rPr lang="en-US" dirty="0" err="1" smtClean="0"/>
              <a:t>trong</a:t>
            </a:r>
            <a:r>
              <a:rPr lang="en-US" dirty="0" smtClean="0"/>
              <a:t> </a:t>
            </a:r>
            <a:r>
              <a:rPr lang="en-US" dirty="0" err="1" smtClean="0"/>
              <a:t>việc</a:t>
            </a:r>
            <a:r>
              <a:rPr lang="en-US" dirty="0" smtClean="0"/>
              <a:t> </a:t>
            </a:r>
            <a:r>
              <a:rPr lang="en-US" dirty="0" err="1" smtClean="0"/>
              <a:t>giúp</a:t>
            </a:r>
            <a:r>
              <a:rPr lang="en-US" dirty="0" smtClean="0"/>
              <a:t> </a:t>
            </a:r>
            <a:r>
              <a:rPr lang="en-US" dirty="0" err="1" smtClean="0"/>
              <a:t>hiểu</a:t>
            </a:r>
            <a:r>
              <a:rPr lang="en-US" dirty="0" smtClean="0"/>
              <a:t> </a:t>
            </a:r>
            <a:r>
              <a:rPr lang="en-US" dirty="0" err="1" smtClean="0"/>
              <a:t>rõ</a:t>
            </a:r>
            <a:r>
              <a:rPr lang="en-US" dirty="0" smtClean="0"/>
              <a:t> </a:t>
            </a:r>
            <a:r>
              <a:rPr lang="en-US" dirty="0" err="1" smtClean="0"/>
              <a:t>về</a:t>
            </a:r>
            <a:r>
              <a:rPr lang="en-US" dirty="0" smtClean="0"/>
              <a:t> </a:t>
            </a:r>
            <a:r>
              <a:rPr lang="en-US" dirty="0" err="1" smtClean="0"/>
              <a:t>sai</a:t>
            </a:r>
            <a:r>
              <a:rPr lang="en-US" dirty="0" smtClean="0"/>
              <a:t> </a:t>
            </a:r>
            <a:r>
              <a:rPr lang="en-US" dirty="0" err="1" smtClean="0"/>
              <a:t>số</a:t>
            </a:r>
            <a:r>
              <a:rPr lang="en-US" dirty="0" smtClean="0"/>
              <a:t> </a:t>
            </a:r>
            <a:r>
              <a:rPr lang="en-US" dirty="0" err="1" smtClean="0"/>
              <a:t>cắt</a:t>
            </a:r>
            <a:r>
              <a:rPr lang="en-US" dirty="0" smtClean="0"/>
              <a:t> </a:t>
            </a:r>
            <a:r>
              <a:rPr lang="en-US" dirty="0" err="1" smtClean="0"/>
              <a:t>cụt</a:t>
            </a:r>
            <a:r>
              <a:rPr lang="en-US" dirty="0" smtClean="0"/>
              <a:t> do ta </a:t>
            </a:r>
            <a:r>
              <a:rPr lang="en-US" dirty="0" err="1" smtClean="0"/>
              <a:t>có</a:t>
            </a:r>
            <a:r>
              <a:rPr lang="en-US" dirty="0" smtClean="0"/>
              <a:t> </a:t>
            </a:r>
            <a:r>
              <a:rPr lang="en-US" dirty="0" err="1" smtClean="0"/>
              <a:t>quyền</a:t>
            </a:r>
            <a:r>
              <a:rPr lang="en-US" dirty="0" smtClean="0"/>
              <a:t> </a:t>
            </a:r>
            <a:r>
              <a:rPr lang="en-US" dirty="0" err="1" smtClean="0"/>
              <a:t>kiểm</a:t>
            </a:r>
            <a:r>
              <a:rPr lang="en-US" dirty="0" smtClean="0"/>
              <a:t> </a:t>
            </a:r>
            <a:r>
              <a:rPr lang="en-US" dirty="0" err="1" smtClean="0"/>
              <a:t>soát</a:t>
            </a:r>
            <a:r>
              <a:rPr lang="en-US" dirty="0" smtClean="0"/>
              <a:t> </a:t>
            </a:r>
            <a:r>
              <a:rPr lang="en-US" dirty="0" err="1" smtClean="0"/>
              <a:t>bước</a:t>
            </a:r>
            <a:r>
              <a:rPr lang="en-US" dirty="0" smtClean="0"/>
              <a:t> </a:t>
            </a:r>
            <a:r>
              <a:rPr lang="en-US" dirty="0" err="1" smtClean="0"/>
              <a:t>lưới</a:t>
            </a:r>
            <a:r>
              <a:rPr lang="en-US" dirty="0" smtClean="0"/>
              <a:t> h </a:t>
            </a:r>
            <a:r>
              <a:rPr lang="en-US" dirty="0" err="1" smtClean="0"/>
              <a:t>và</a:t>
            </a:r>
            <a:r>
              <a:rPr lang="en-US" dirty="0" smtClean="0"/>
              <a:t> </a:t>
            </a:r>
            <a:r>
              <a:rPr lang="en-US" dirty="0" err="1" smtClean="0"/>
              <a:t>số</a:t>
            </a:r>
            <a:r>
              <a:rPr lang="en-US" dirty="0" smtClean="0"/>
              <a:t> </a:t>
            </a:r>
            <a:r>
              <a:rPr lang="en-US" dirty="0" err="1" smtClean="0"/>
              <a:t>lượng</a:t>
            </a:r>
            <a:r>
              <a:rPr lang="en-US" dirty="0" smtClean="0"/>
              <a:t> </a:t>
            </a:r>
            <a:r>
              <a:rPr lang="en-US" dirty="0" err="1" smtClean="0"/>
              <a:t>các</a:t>
            </a:r>
            <a:r>
              <a:rPr lang="en-US" dirty="0" smtClean="0"/>
              <a:t> </a:t>
            </a:r>
            <a:r>
              <a:rPr lang="en-US" dirty="0" err="1" smtClean="0"/>
              <a:t>số</a:t>
            </a:r>
            <a:r>
              <a:rPr lang="en-US" dirty="0" smtClean="0"/>
              <a:t> </a:t>
            </a:r>
            <a:r>
              <a:rPr lang="en-US" dirty="0" err="1" smtClean="0"/>
              <a:t>hạng</a:t>
            </a:r>
            <a:r>
              <a:rPr lang="en-US" dirty="0" smtClean="0"/>
              <a:t> </a:t>
            </a:r>
            <a:r>
              <a:rPr lang="en-US" dirty="0" err="1" smtClean="0"/>
              <a:t>sẽ</a:t>
            </a:r>
            <a:r>
              <a:rPr lang="en-US" dirty="0" smtClean="0"/>
              <a:t> </a:t>
            </a:r>
            <a:r>
              <a:rPr lang="en-US" dirty="0" err="1" smtClean="0"/>
              <a:t>được</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trong</a:t>
            </a:r>
            <a:r>
              <a:rPr lang="en-US" dirty="0" smtClean="0"/>
              <a:t> </a:t>
            </a:r>
            <a:r>
              <a:rPr lang="en-US" dirty="0" err="1" smtClean="0"/>
              <a:t>khai</a:t>
            </a:r>
            <a:r>
              <a:rPr lang="en-US" dirty="0" smtClean="0"/>
              <a:t> </a:t>
            </a:r>
            <a:r>
              <a:rPr lang="en-US" dirty="0" err="1" smtClean="0"/>
              <a:t>triển</a:t>
            </a:r>
            <a:r>
              <a:rPr lang="en-US" dirty="0" smtClean="0"/>
              <a:t>. </a:t>
            </a:r>
            <a:r>
              <a:rPr lang="en-US" dirty="0" err="1" smtClean="0"/>
              <a:t>Hệ</a:t>
            </a:r>
            <a:r>
              <a:rPr lang="en-US" dirty="0" smtClean="0"/>
              <a:t> </a:t>
            </a:r>
            <a:r>
              <a:rPr lang="en-US" dirty="0" err="1" smtClean="0"/>
              <a:t>quả</a:t>
            </a:r>
            <a:r>
              <a:rPr lang="en-US" dirty="0" smtClean="0"/>
              <a:t> </a:t>
            </a:r>
            <a:r>
              <a:rPr lang="en-US" dirty="0" err="1" smtClean="0"/>
              <a:t>là</a:t>
            </a:r>
            <a:r>
              <a:rPr lang="en-US" dirty="0" smtClean="0"/>
              <a:t> </a:t>
            </a:r>
            <a:r>
              <a:rPr lang="en-US" dirty="0" err="1" smtClean="0"/>
              <a:t>phần</a:t>
            </a:r>
            <a:r>
              <a:rPr lang="en-US" dirty="0" smtClean="0"/>
              <a:t> </a:t>
            </a:r>
            <a:r>
              <a:rPr lang="en-US" dirty="0" err="1" smtClean="0"/>
              <a:t>dư</a:t>
            </a:r>
            <a:r>
              <a:rPr lang="en-US" dirty="0" smtClean="0"/>
              <a:t> </a:t>
            </a:r>
            <a:r>
              <a:rPr lang="en-US" dirty="0" err="1" smtClean="0"/>
              <a:t>này</a:t>
            </a:r>
            <a:r>
              <a:rPr lang="en-US" dirty="0" smtClean="0"/>
              <a:t> </a:t>
            </a:r>
            <a:r>
              <a:rPr lang="en-US" dirty="0" err="1" smtClean="0"/>
              <a:t>thường</a:t>
            </a:r>
            <a:r>
              <a:rPr lang="en-US" dirty="0" smtClean="0"/>
              <a:t> </a:t>
            </a:r>
            <a:r>
              <a:rPr lang="en-US" dirty="0" err="1" smtClean="0"/>
              <a:t>sẽ</a:t>
            </a:r>
            <a:r>
              <a:rPr lang="en-US" dirty="0" smtClean="0"/>
              <a:t> </a:t>
            </a:r>
            <a:r>
              <a:rPr lang="en-US" dirty="0" err="1" smtClean="0"/>
              <a:t>được</a:t>
            </a:r>
            <a:r>
              <a:rPr lang="en-US" dirty="0" smtClean="0"/>
              <a:t> </a:t>
            </a:r>
            <a:r>
              <a:rPr lang="en-US" dirty="0" err="1" smtClean="0"/>
              <a:t>viết</a:t>
            </a:r>
            <a:r>
              <a:rPr lang="en-US" dirty="0" smtClean="0"/>
              <a:t> </a:t>
            </a:r>
            <a:r>
              <a:rPr lang="en-US" dirty="0" err="1" smtClean="0"/>
              <a:t>về</a:t>
            </a:r>
            <a:r>
              <a:rPr lang="en-US" dirty="0" smtClean="0"/>
              <a:t> </a:t>
            </a:r>
            <a:r>
              <a:rPr lang="en-US" dirty="0" err="1" smtClean="0"/>
              <a:t>dạng</a:t>
            </a:r>
            <a:endParaRPr lang="en-US" dirty="0" smtClean="0"/>
          </a:p>
          <a:p>
            <a:pPr marL="0" indent="0" algn="just">
              <a:lnSpc>
                <a:spcPct val="150000"/>
              </a:lnSpc>
              <a:buNone/>
            </a:pPr>
            <a:endParaRPr lang="en-US" dirty="0"/>
          </a:p>
          <a:p>
            <a:pPr marL="0" indent="0" algn="just">
              <a:lnSpc>
                <a:spcPct val="150000"/>
              </a:lnSpc>
              <a:buNone/>
            </a:pPr>
            <a:r>
              <a:rPr lang="en-US" dirty="0" err="1" smtClean="0"/>
              <a:t>Nghĩa</a:t>
            </a:r>
            <a:r>
              <a:rPr lang="en-US" dirty="0" smtClean="0"/>
              <a:t> </a:t>
            </a:r>
            <a:r>
              <a:rPr lang="en-US" dirty="0" err="1" smtClean="0"/>
              <a:t>là</a:t>
            </a:r>
            <a:r>
              <a:rPr lang="en-US" dirty="0" smtClean="0"/>
              <a:t> </a:t>
            </a:r>
            <a:r>
              <a:rPr lang="en-US" dirty="0" err="1" smtClean="0"/>
              <a:t>sai</a:t>
            </a:r>
            <a:r>
              <a:rPr lang="en-US" dirty="0" smtClean="0"/>
              <a:t> </a:t>
            </a:r>
            <a:r>
              <a:rPr lang="en-US" dirty="0" err="1" smtClean="0"/>
              <a:t>số</a:t>
            </a:r>
            <a:r>
              <a:rPr lang="en-US" dirty="0" smtClean="0"/>
              <a:t> </a:t>
            </a:r>
            <a:r>
              <a:rPr lang="en-US" dirty="0" err="1" smtClean="0"/>
              <a:t>cắt</a:t>
            </a:r>
            <a:r>
              <a:rPr lang="en-US" dirty="0" smtClean="0"/>
              <a:t> </a:t>
            </a:r>
            <a:r>
              <a:rPr lang="en-US" dirty="0" err="1" smtClean="0"/>
              <a:t>cụt</a:t>
            </a:r>
            <a:r>
              <a:rPr lang="en-US" dirty="0" smtClean="0"/>
              <a:t> </a:t>
            </a:r>
            <a:r>
              <a:rPr lang="en-US" dirty="0" err="1" smtClean="0"/>
              <a:t>có</a:t>
            </a:r>
            <a:r>
              <a:rPr lang="en-US" dirty="0" smtClean="0"/>
              <a:t> </a:t>
            </a:r>
            <a:r>
              <a:rPr lang="en-US" dirty="0" err="1" smtClean="0"/>
              <a:t>bậc</a:t>
            </a:r>
            <a:r>
              <a:rPr lang="en-US" dirty="0" smtClean="0"/>
              <a:t> </a:t>
            </a:r>
            <a:r>
              <a:rPr lang="en-US" dirty="0" err="1" smtClean="0"/>
              <a:t>là</a:t>
            </a:r>
            <a:r>
              <a:rPr lang="en-US" dirty="0" smtClean="0"/>
              <a:t> n + 1.</a:t>
            </a:r>
            <a:endParaRPr lang="en-US" dirty="0"/>
          </a:p>
        </p:txBody>
      </p:sp>
      <p:graphicFrame>
        <p:nvGraphicFramePr>
          <p:cNvPr id="2" name="Object 1"/>
          <p:cNvGraphicFramePr>
            <a:graphicFrameLocks noChangeAspect="1"/>
          </p:cNvGraphicFramePr>
          <p:nvPr/>
        </p:nvGraphicFramePr>
        <p:xfrm>
          <a:off x="5142411" y="3503478"/>
          <a:ext cx="1907178" cy="548640"/>
        </p:xfrm>
        <a:graphic>
          <a:graphicData uri="http://schemas.openxmlformats.org/presentationml/2006/ole">
            <mc:AlternateContent xmlns:mc="http://schemas.openxmlformats.org/markup-compatibility/2006">
              <mc:Choice xmlns:v="urn:schemas-microsoft-com:vml" Requires="v">
                <p:oleObj spid="_x0000_s12293" name="Equation" r:id="rId1" imgW="22250400" imgH="6400800" progId="Equation.3">
                  <p:embed/>
                </p:oleObj>
              </mc:Choice>
              <mc:Fallback>
                <p:oleObj name="Equation" r:id="rId1" imgW="22250400" imgH="6400800" progId="Equation.3">
                  <p:embed/>
                  <p:pic>
                    <p:nvPicPr>
                      <p:cNvPr id="0" name="Picture 12292"/>
                      <p:cNvPicPr/>
                      <p:nvPr/>
                    </p:nvPicPr>
                    <p:blipFill>
                      <a:blip r:embed="rId2"/>
                      <a:stretch>
                        <a:fillRect/>
                      </a:stretch>
                    </p:blipFill>
                    <p:spPr>
                      <a:xfrm>
                        <a:off x="5142411" y="3503478"/>
                        <a:ext cx="1907178" cy="54864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2370"/>
            <a:ext cx="10515600" cy="5684594"/>
          </a:xfrm>
        </p:spPr>
        <p:txBody>
          <a:bodyPr/>
          <a:lstStyle/>
          <a:p>
            <a:pPr marL="0" indent="0" algn="just">
              <a:lnSpc>
                <a:spcPct val="150000"/>
              </a:lnSpc>
              <a:buNone/>
            </a:pPr>
            <a:r>
              <a:rPr lang="en-US" b="1" dirty="0" err="1" smtClean="0"/>
              <a:t>Bài</a:t>
            </a:r>
            <a:r>
              <a:rPr lang="en-US" b="1" dirty="0" smtClean="0"/>
              <a:t> </a:t>
            </a:r>
            <a:r>
              <a:rPr lang="en-US" b="1" dirty="0" err="1" smtClean="0"/>
              <a:t>thực</a:t>
            </a:r>
            <a:r>
              <a:rPr lang="en-US" b="1" dirty="0" smtClean="0"/>
              <a:t> </a:t>
            </a:r>
            <a:r>
              <a:rPr lang="en-US" b="1" dirty="0" err="1" smtClean="0"/>
              <a:t>hành</a:t>
            </a:r>
            <a:r>
              <a:rPr lang="en-US" b="1" dirty="0" smtClean="0"/>
              <a:t> 1</a:t>
            </a:r>
            <a:endParaRPr lang="en-US" b="1" dirty="0" smtClean="0"/>
          </a:p>
          <a:p>
            <a:pPr marL="0" indent="0" algn="just">
              <a:lnSpc>
                <a:spcPct val="150000"/>
              </a:lnSpc>
              <a:buNone/>
            </a:pPr>
            <a:r>
              <a:rPr lang="en-US" dirty="0" err="1" smtClean="0"/>
              <a:t>Sử</a:t>
            </a:r>
            <a:r>
              <a:rPr lang="en-US" dirty="0" smtClean="0"/>
              <a:t> </a:t>
            </a:r>
            <a:r>
              <a:rPr lang="en-US" dirty="0" err="1" smtClean="0"/>
              <a:t>dụng</a:t>
            </a:r>
            <a:r>
              <a:rPr lang="en-US" dirty="0" smtClean="0"/>
              <a:t> </a:t>
            </a:r>
            <a:r>
              <a:rPr lang="en-US" dirty="0" err="1" smtClean="0"/>
              <a:t>khai</a:t>
            </a:r>
            <a:r>
              <a:rPr lang="en-US" dirty="0" smtClean="0"/>
              <a:t> </a:t>
            </a:r>
            <a:r>
              <a:rPr lang="en-US" dirty="0" err="1" smtClean="0"/>
              <a:t>triển</a:t>
            </a:r>
            <a:r>
              <a:rPr lang="en-US" dirty="0" smtClean="0"/>
              <a:t> </a:t>
            </a:r>
            <a:r>
              <a:rPr lang="en-US" dirty="0" err="1" smtClean="0"/>
              <a:t>chuỗi</a:t>
            </a:r>
            <a:r>
              <a:rPr lang="en-US" dirty="0" smtClean="0"/>
              <a:t> Taylor </a:t>
            </a:r>
            <a:r>
              <a:rPr lang="en-US" dirty="0" err="1" smtClean="0"/>
              <a:t>tại</a:t>
            </a:r>
            <a:r>
              <a:rPr lang="en-US" dirty="0" smtClean="0"/>
              <a:t> x</a:t>
            </a:r>
            <a:r>
              <a:rPr lang="en-US" baseline="-25000" dirty="0" smtClean="0"/>
              <a:t>0</a:t>
            </a:r>
            <a:r>
              <a:rPr lang="en-US" dirty="0" smtClean="0"/>
              <a:t> = </a:t>
            </a:r>
            <a:r>
              <a:rPr lang="el-GR" dirty="0"/>
              <a:t>π</a:t>
            </a:r>
            <a:r>
              <a:rPr lang="en-US" dirty="0" smtClean="0"/>
              <a:t>/4 </a:t>
            </a:r>
            <a:r>
              <a:rPr lang="en-US" dirty="0" err="1" smtClean="0"/>
              <a:t>với</a:t>
            </a:r>
            <a:r>
              <a:rPr lang="en-US" dirty="0" smtClean="0"/>
              <a:t> n </a:t>
            </a:r>
            <a:r>
              <a:rPr lang="en-US" dirty="0" err="1" smtClean="0"/>
              <a:t>từ</a:t>
            </a:r>
            <a:r>
              <a:rPr lang="en-US" dirty="0" smtClean="0"/>
              <a:t> 0 </a:t>
            </a:r>
            <a:r>
              <a:rPr lang="en-US" dirty="0" err="1" smtClean="0"/>
              <a:t>tới</a:t>
            </a:r>
            <a:r>
              <a:rPr lang="en-US" dirty="0" smtClean="0"/>
              <a:t> 6 </a:t>
            </a:r>
            <a:r>
              <a:rPr lang="en-US" dirty="0" err="1" smtClean="0"/>
              <a:t>để</a:t>
            </a:r>
            <a:r>
              <a:rPr lang="en-US" dirty="0" smtClean="0"/>
              <a:t> </a:t>
            </a:r>
            <a:r>
              <a:rPr lang="en-US" dirty="0" err="1" smtClean="0"/>
              <a:t>tính</a:t>
            </a:r>
            <a:r>
              <a:rPr lang="en-US" dirty="0" smtClean="0"/>
              <a:t> </a:t>
            </a:r>
            <a:r>
              <a:rPr lang="en-US" dirty="0" err="1" smtClean="0"/>
              <a:t>xấp</a:t>
            </a:r>
            <a:r>
              <a:rPr lang="en-US" dirty="0" smtClean="0"/>
              <a:t> </a:t>
            </a:r>
            <a:r>
              <a:rPr lang="en-US" dirty="0" err="1" smtClean="0"/>
              <a:t>xỉ</a:t>
            </a:r>
            <a:r>
              <a:rPr lang="en-US" dirty="0" smtClean="0"/>
              <a:t> f(x) = cos x </a:t>
            </a:r>
            <a:r>
              <a:rPr lang="en-US" dirty="0" err="1" smtClean="0"/>
              <a:t>tại</a:t>
            </a:r>
            <a:r>
              <a:rPr lang="en-US" dirty="0" smtClean="0"/>
              <a:t> x = </a:t>
            </a:r>
            <a:r>
              <a:rPr lang="el-GR" dirty="0" smtClean="0"/>
              <a:t>π</a:t>
            </a:r>
            <a:r>
              <a:rPr lang="en-US" dirty="0" smtClean="0"/>
              <a:t>/3. Cho </a:t>
            </a:r>
            <a:r>
              <a:rPr lang="en-US" dirty="0" err="1" smtClean="0"/>
              <a:t>biết</a:t>
            </a:r>
            <a:r>
              <a:rPr lang="en-US" dirty="0" smtClean="0"/>
              <a:t> </a:t>
            </a:r>
            <a:r>
              <a:rPr lang="en-US" dirty="0" err="1" smtClean="0"/>
              <a:t>giá</a:t>
            </a:r>
            <a:r>
              <a:rPr lang="en-US" dirty="0" smtClean="0"/>
              <a:t> </a:t>
            </a:r>
            <a:r>
              <a:rPr lang="en-US" dirty="0" err="1" smtClean="0"/>
              <a:t>trị</a:t>
            </a:r>
            <a:r>
              <a:rPr lang="en-US" dirty="0" smtClean="0"/>
              <a:t> </a:t>
            </a:r>
            <a:r>
              <a:rPr lang="en-US" dirty="0" err="1" smtClean="0"/>
              <a:t>thực</a:t>
            </a:r>
            <a:r>
              <a:rPr lang="en-US" dirty="0" smtClean="0"/>
              <a:t> </a:t>
            </a:r>
            <a:r>
              <a:rPr lang="en-US" dirty="0" err="1" smtClean="0"/>
              <a:t>của</a:t>
            </a:r>
            <a:r>
              <a:rPr lang="en-US" dirty="0" smtClean="0"/>
              <a:t> f(</a:t>
            </a:r>
            <a:r>
              <a:rPr lang="el-GR" dirty="0"/>
              <a:t>π</a:t>
            </a:r>
            <a:r>
              <a:rPr lang="en-US" dirty="0" smtClean="0"/>
              <a:t>/3) </a:t>
            </a:r>
            <a:r>
              <a:rPr lang="en-US" dirty="0" err="1" smtClean="0"/>
              <a:t>là</a:t>
            </a:r>
            <a:r>
              <a:rPr lang="en-US" dirty="0" smtClean="0"/>
              <a:t> 0.5 </a:t>
            </a:r>
            <a:r>
              <a:rPr lang="en-US" dirty="0" err="1" smtClean="0"/>
              <a:t>hãy</a:t>
            </a:r>
            <a:r>
              <a:rPr lang="en-US" dirty="0" smtClean="0"/>
              <a:t> </a:t>
            </a:r>
            <a:r>
              <a:rPr lang="en-US" dirty="0" err="1" smtClean="0"/>
              <a:t>tính</a:t>
            </a:r>
            <a:r>
              <a:rPr lang="en-US" dirty="0" smtClean="0"/>
              <a:t> </a:t>
            </a:r>
            <a:r>
              <a:rPr lang="en-US" dirty="0" err="1" smtClean="0"/>
              <a:t>các</a:t>
            </a:r>
            <a:r>
              <a:rPr lang="en-US" dirty="0" smtClean="0"/>
              <a:t> </a:t>
            </a:r>
            <a:r>
              <a:rPr lang="en-US" dirty="0" err="1" smtClean="0"/>
              <a:t>sai</a:t>
            </a:r>
            <a:r>
              <a:rPr lang="en-US" dirty="0" smtClean="0"/>
              <a:t> </a:t>
            </a:r>
            <a:r>
              <a:rPr lang="en-US" dirty="0" err="1" smtClean="0"/>
              <a:t>số</a:t>
            </a:r>
            <a:r>
              <a:rPr lang="en-US" dirty="0" smtClean="0"/>
              <a:t> </a:t>
            </a:r>
            <a:r>
              <a:rPr lang="en-US" dirty="0" err="1" smtClean="0"/>
              <a:t>tương</a:t>
            </a:r>
            <a:r>
              <a:rPr lang="en-US" dirty="0" smtClean="0"/>
              <a:t> </a:t>
            </a:r>
            <a:r>
              <a:rPr lang="en-US" dirty="0" err="1" smtClean="0"/>
              <a:t>đối</a:t>
            </a:r>
            <a:r>
              <a:rPr lang="en-US" dirty="0" smtClean="0"/>
              <a:t> </a:t>
            </a:r>
            <a:r>
              <a:rPr lang="en-US" dirty="0" err="1" smtClean="0"/>
              <a:t>thực</a:t>
            </a:r>
            <a:r>
              <a:rPr lang="en-US" dirty="0" smtClean="0"/>
              <a:t>. </a:t>
            </a:r>
            <a:r>
              <a:rPr lang="en-US" dirty="0" err="1" smtClean="0"/>
              <a:t>Các</a:t>
            </a:r>
            <a:r>
              <a:rPr lang="en-US" dirty="0" smtClean="0"/>
              <a:t> </a:t>
            </a:r>
            <a:r>
              <a:rPr lang="en-US" dirty="0" err="1" smtClean="0"/>
              <a:t>kết</a:t>
            </a:r>
            <a:r>
              <a:rPr lang="en-US" dirty="0" smtClean="0"/>
              <a:t> </a:t>
            </a:r>
            <a:r>
              <a:rPr lang="en-US" dirty="0" err="1" smtClean="0"/>
              <a:t>quả</a:t>
            </a:r>
            <a:r>
              <a:rPr lang="en-US" dirty="0" smtClean="0"/>
              <a:t> </a:t>
            </a:r>
            <a:r>
              <a:rPr lang="en-US" dirty="0" err="1" smtClean="0"/>
              <a:t>biểu</a:t>
            </a:r>
            <a:r>
              <a:rPr lang="en-US" dirty="0" smtClean="0"/>
              <a:t> </a:t>
            </a:r>
            <a:r>
              <a:rPr lang="en-US" dirty="0" err="1" smtClean="0"/>
              <a:t>diễn</a:t>
            </a:r>
            <a:r>
              <a:rPr lang="en-US" dirty="0" smtClean="0"/>
              <a:t> </a:t>
            </a:r>
            <a:r>
              <a:rPr lang="en-US" dirty="0" err="1" smtClean="0"/>
              <a:t>dạng</a:t>
            </a:r>
            <a:r>
              <a:rPr lang="en-US" dirty="0" smtClean="0"/>
              <a:t> </a:t>
            </a:r>
            <a:r>
              <a:rPr lang="en-US" dirty="0" err="1" smtClean="0"/>
              <a:t>bảng</a:t>
            </a:r>
            <a:r>
              <a:rPr lang="en-US" dirty="0" smtClean="0"/>
              <a:t> </a:t>
            </a:r>
            <a:r>
              <a:rPr lang="en-US" dirty="0" err="1" smtClean="0"/>
              <a:t>như</a:t>
            </a:r>
            <a:r>
              <a:rPr lang="en-US" dirty="0" smtClean="0"/>
              <a:t> </a:t>
            </a:r>
            <a:r>
              <a:rPr lang="en-US" dirty="0" err="1" smtClean="0"/>
              <a:t>sau</a:t>
            </a:r>
            <a:r>
              <a:rPr lang="en-US" dirty="0" smtClean="0"/>
              <a:t>  </a:t>
            </a:r>
            <a:endParaRPr lang="en-US" dirty="0"/>
          </a:p>
        </p:txBody>
      </p:sp>
      <p:pic>
        <p:nvPicPr>
          <p:cNvPr id="2" name="Picture 1"/>
          <p:cNvPicPr>
            <a:picLocks noChangeAspect="1"/>
          </p:cNvPicPr>
          <p:nvPr/>
        </p:nvPicPr>
        <p:blipFill>
          <a:blip r:embed="rId1"/>
          <a:stretch>
            <a:fillRect/>
          </a:stretch>
        </p:blipFill>
        <p:spPr>
          <a:xfrm>
            <a:off x="1296726" y="3663586"/>
            <a:ext cx="9345329" cy="240063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endParaRPr lang="en-US" dirty="0"/>
          </a:p>
        </p:txBody>
      </p:sp>
      <p:pic>
        <p:nvPicPr>
          <p:cNvPr id="4" name="Picture 3"/>
          <p:cNvPicPr>
            <a:picLocks noChangeAspect="1"/>
          </p:cNvPicPr>
          <p:nvPr/>
        </p:nvPicPr>
        <p:blipFill>
          <a:blip r:embed="rId1"/>
          <a:stretch>
            <a:fillRect/>
          </a:stretch>
        </p:blipFill>
        <p:spPr>
          <a:xfrm>
            <a:off x="838200" y="829993"/>
            <a:ext cx="10300151" cy="475488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endParaRPr lang="en-US" dirty="0"/>
          </a:p>
        </p:txBody>
      </p:sp>
      <p:pic>
        <p:nvPicPr>
          <p:cNvPr id="2" name="Picture 1"/>
          <p:cNvPicPr>
            <a:picLocks noChangeAspect="1"/>
          </p:cNvPicPr>
          <p:nvPr/>
        </p:nvPicPr>
        <p:blipFill>
          <a:blip r:embed="rId1"/>
          <a:stretch>
            <a:fillRect/>
          </a:stretch>
        </p:blipFill>
        <p:spPr>
          <a:xfrm>
            <a:off x="2890345" y="1348183"/>
            <a:ext cx="6411309" cy="22860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II. </a:t>
            </a:r>
            <a:r>
              <a:rPr lang="en-US" b="1" dirty="0" err="1" smtClean="0">
                <a:solidFill>
                  <a:srgbClr val="FF0000"/>
                </a:solidFill>
              </a:rPr>
              <a:t>Tổng</a:t>
            </a:r>
            <a:r>
              <a:rPr lang="en-US" b="1" dirty="0" smtClean="0">
                <a:solidFill>
                  <a:srgbClr val="FF0000"/>
                </a:solidFill>
              </a:rPr>
              <a:t> </a:t>
            </a:r>
            <a:r>
              <a:rPr lang="en-US" b="1" dirty="0" err="1" smtClean="0">
                <a:solidFill>
                  <a:srgbClr val="FF0000"/>
                </a:solidFill>
              </a:rPr>
              <a:t>sai</a:t>
            </a:r>
            <a:r>
              <a:rPr lang="en-US" b="1" dirty="0" smtClean="0">
                <a:solidFill>
                  <a:srgbClr val="FF0000"/>
                </a:solidFill>
              </a:rPr>
              <a:t> </a:t>
            </a:r>
            <a:r>
              <a:rPr lang="en-US" b="1" dirty="0" err="1" smtClean="0">
                <a:solidFill>
                  <a:srgbClr val="FF0000"/>
                </a:solidFill>
              </a:rPr>
              <a:t>số</a:t>
            </a:r>
            <a:endParaRPr lang="en-US" b="1" dirty="0" err="1" smtClean="0">
              <a:solidFill>
                <a:srgbClr val="FF0000"/>
              </a:solidFill>
            </a:endParaRPr>
          </a:p>
        </p:txBody>
      </p:sp>
      <p:sp>
        <p:nvSpPr>
          <p:cNvPr id="3" name="Content Placeholder 2"/>
          <p:cNvSpPr>
            <a:spLocks noGrp="1"/>
          </p:cNvSpPr>
          <p:nvPr>
            <p:ph idx="1"/>
          </p:nvPr>
        </p:nvSpPr>
        <p:spPr/>
        <p:txBody>
          <a:bodyPr/>
          <a:lstStyle/>
          <a:p>
            <a:pPr marL="0" indent="0" algn="ctr">
              <a:lnSpc>
                <a:spcPct val="150000"/>
              </a:lnSpc>
              <a:buNone/>
            </a:pPr>
            <a:r>
              <a:rPr lang="en-US" dirty="0" smtClean="0"/>
              <a:t>Sai </a:t>
            </a:r>
            <a:r>
              <a:rPr lang="en-US" dirty="0" err="1" smtClean="0"/>
              <a:t>số</a:t>
            </a:r>
            <a:r>
              <a:rPr lang="en-US" dirty="0" smtClean="0"/>
              <a:t> = </a:t>
            </a:r>
            <a:r>
              <a:rPr lang="en-US" dirty="0" err="1" smtClean="0"/>
              <a:t>sai</a:t>
            </a:r>
            <a:r>
              <a:rPr lang="en-US" dirty="0" smtClean="0"/>
              <a:t> </a:t>
            </a:r>
            <a:r>
              <a:rPr lang="en-US" dirty="0" err="1" smtClean="0"/>
              <a:t>số</a:t>
            </a:r>
            <a:r>
              <a:rPr lang="en-US" dirty="0" smtClean="0"/>
              <a:t> </a:t>
            </a:r>
            <a:r>
              <a:rPr lang="en-US" dirty="0" err="1" smtClean="0"/>
              <a:t>cắt</a:t>
            </a:r>
            <a:r>
              <a:rPr lang="en-US" dirty="0" smtClean="0"/>
              <a:t> </a:t>
            </a:r>
            <a:r>
              <a:rPr lang="en-US" dirty="0" err="1" smtClean="0"/>
              <a:t>cụt</a:t>
            </a:r>
            <a:r>
              <a:rPr lang="en-US" dirty="0" smtClean="0"/>
              <a:t> + </a:t>
            </a:r>
            <a:r>
              <a:rPr lang="en-US" dirty="0" err="1" smtClean="0"/>
              <a:t>sai</a:t>
            </a:r>
            <a:r>
              <a:rPr lang="en-US" dirty="0" smtClean="0"/>
              <a:t> </a:t>
            </a:r>
            <a:r>
              <a:rPr lang="en-US" dirty="0" err="1" smtClean="0"/>
              <a:t>số</a:t>
            </a:r>
            <a:r>
              <a:rPr lang="en-US" dirty="0" smtClean="0"/>
              <a:t> </a:t>
            </a:r>
            <a:r>
              <a:rPr lang="en-US" dirty="0" err="1" smtClean="0"/>
              <a:t>làm</a:t>
            </a:r>
            <a:r>
              <a:rPr lang="en-US" dirty="0" smtClean="0"/>
              <a:t> </a:t>
            </a:r>
            <a:r>
              <a:rPr lang="en-US" dirty="0" err="1" smtClean="0"/>
              <a:t>tròn</a:t>
            </a:r>
            <a:endParaRPr lang="en-US" dirty="0" smtClean="0"/>
          </a:p>
          <a:p>
            <a:pPr marL="0" indent="0" algn="just">
              <a:lnSpc>
                <a:spcPct val="150000"/>
              </a:lnSpc>
              <a:buNone/>
            </a:pP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algn="just">
              <a:lnSpc>
                <a:spcPct val="150000"/>
              </a:lnSpc>
              <a:buFontTx/>
              <a:buChar char="-"/>
            </a:pPr>
            <a:r>
              <a:rPr lang="en-US" dirty="0" smtClean="0"/>
              <a:t>Sai </a:t>
            </a:r>
            <a:r>
              <a:rPr lang="en-US" dirty="0" err="1" smtClean="0"/>
              <a:t>số</a:t>
            </a:r>
            <a:r>
              <a:rPr lang="en-US" dirty="0" smtClean="0"/>
              <a:t> </a:t>
            </a:r>
            <a:r>
              <a:rPr lang="en-US" dirty="0" err="1" smtClean="0"/>
              <a:t>làm</a:t>
            </a:r>
            <a:r>
              <a:rPr lang="en-US" dirty="0" smtClean="0"/>
              <a:t> </a:t>
            </a:r>
            <a:r>
              <a:rPr lang="en-US" dirty="0" err="1" smtClean="0"/>
              <a:t>tròn</a:t>
            </a:r>
            <a:r>
              <a:rPr lang="en-US" dirty="0" smtClean="0"/>
              <a:t>: </a:t>
            </a:r>
            <a:endParaRPr lang="en-US" dirty="0"/>
          </a:p>
          <a:p>
            <a:pPr marL="0" indent="0" algn="just">
              <a:lnSpc>
                <a:spcPct val="150000"/>
              </a:lnSpc>
              <a:buNone/>
            </a:pPr>
            <a:r>
              <a:rPr lang="en-US" dirty="0"/>
              <a:t>	</a:t>
            </a:r>
            <a:r>
              <a:rPr lang="en-US" dirty="0" smtClean="0"/>
              <a:t>- </a:t>
            </a:r>
            <a:r>
              <a:rPr lang="en-US" dirty="0" err="1" smtClean="0"/>
              <a:t>Giảm</a:t>
            </a:r>
            <a:r>
              <a:rPr lang="en-US" dirty="0" smtClean="0"/>
              <a:t> </a:t>
            </a:r>
            <a:r>
              <a:rPr lang="en-US" dirty="0" err="1" smtClean="0"/>
              <a:t>khi</a:t>
            </a:r>
            <a:r>
              <a:rPr lang="en-US" dirty="0" smtClean="0"/>
              <a:t> </a:t>
            </a:r>
            <a:r>
              <a:rPr lang="en-US" dirty="0" err="1" smtClean="0"/>
              <a:t>tăng</a:t>
            </a:r>
            <a:r>
              <a:rPr lang="en-US" dirty="0" smtClean="0"/>
              <a:t> </a:t>
            </a:r>
            <a:r>
              <a:rPr lang="en-US" dirty="0" err="1" smtClean="0"/>
              <a:t>số</a:t>
            </a:r>
            <a:r>
              <a:rPr lang="en-US" dirty="0" smtClean="0"/>
              <a:t> </a:t>
            </a:r>
            <a:r>
              <a:rPr lang="en-US" dirty="0" err="1" smtClean="0"/>
              <a:t>lượng</a:t>
            </a:r>
            <a:r>
              <a:rPr lang="en-US" dirty="0" smtClean="0"/>
              <a:t> </a:t>
            </a:r>
            <a:r>
              <a:rPr lang="en-US" dirty="0" err="1" smtClean="0"/>
              <a:t>chữ</a:t>
            </a:r>
            <a:r>
              <a:rPr lang="en-US" dirty="0" smtClean="0"/>
              <a:t> </a:t>
            </a:r>
            <a:r>
              <a:rPr lang="en-US" dirty="0" err="1" smtClean="0"/>
              <a:t>số</a:t>
            </a:r>
            <a:r>
              <a:rPr lang="en-US" dirty="0" smtClean="0"/>
              <a:t> </a:t>
            </a:r>
            <a:r>
              <a:rPr lang="en-US" dirty="0" err="1" smtClean="0"/>
              <a:t>có</a:t>
            </a:r>
            <a:r>
              <a:rPr lang="en-US" dirty="0" smtClean="0"/>
              <a:t> </a:t>
            </a:r>
            <a:r>
              <a:rPr lang="en-US" dirty="0" err="1" smtClean="0"/>
              <a:t>nghĩa</a:t>
            </a:r>
            <a:r>
              <a:rPr lang="en-US" dirty="0" smtClean="0"/>
              <a:t> </a:t>
            </a:r>
            <a:r>
              <a:rPr lang="en-US" dirty="0" err="1" smtClean="0"/>
              <a:t>để</a:t>
            </a:r>
            <a:r>
              <a:rPr lang="en-US" dirty="0" smtClean="0"/>
              <a:t> </a:t>
            </a:r>
            <a:r>
              <a:rPr lang="en-US" dirty="0" err="1" smtClean="0"/>
              <a:t>biểu</a:t>
            </a:r>
            <a:r>
              <a:rPr lang="en-US" dirty="0" smtClean="0"/>
              <a:t> </a:t>
            </a:r>
            <a:r>
              <a:rPr lang="en-US" dirty="0" err="1" smtClean="0"/>
              <a:t>diễn</a:t>
            </a:r>
            <a:r>
              <a:rPr lang="en-US" dirty="0" smtClean="0"/>
              <a:t> </a:t>
            </a:r>
            <a:r>
              <a:rPr lang="en-US" dirty="0" err="1" smtClean="0"/>
              <a:t>số</a:t>
            </a:r>
            <a:endParaRPr lang="en-US" dirty="0" smtClean="0"/>
          </a:p>
          <a:p>
            <a:pPr marL="0" indent="0" algn="just">
              <a:lnSpc>
                <a:spcPct val="150000"/>
              </a:lnSpc>
              <a:buNone/>
            </a:pPr>
            <a:r>
              <a:rPr lang="en-US" dirty="0"/>
              <a:t>	</a:t>
            </a:r>
            <a:r>
              <a:rPr lang="en-US" dirty="0" smtClean="0"/>
              <a:t>- </a:t>
            </a:r>
            <a:r>
              <a:rPr lang="en-US" dirty="0" err="1" smtClean="0"/>
              <a:t>Tăng</a:t>
            </a:r>
            <a:r>
              <a:rPr lang="en-US" dirty="0" smtClean="0"/>
              <a:t> </a:t>
            </a:r>
            <a:r>
              <a:rPr lang="en-US" dirty="0" err="1" smtClean="0"/>
              <a:t>khi</a:t>
            </a:r>
            <a:r>
              <a:rPr lang="en-US" dirty="0" smtClean="0"/>
              <a:t> </a:t>
            </a:r>
            <a:r>
              <a:rPr lang="en-US" dirty="0" err="1" smtClean="0"/>
              <a:t>có</a:t>
            </a:r>
            <a:r>
              <a:rPr lang="en-US" dirty="0" smtClean="0"/>
              <a:t> </a:t>
            </a:r>
            <a:r>
              <a:rPr lang="en-US" dirty="0" err="1" smtClean="0"/>
              <a:t>phép</a:t>
            </a:r>
            <a:r>
              <a:rPr lang="en-US" dirty="0" smtClean="0"/>
              <a:t> </a:t>
            </a:r>
            <a:r>
              <a:rPr lang="en-US" dirty="0" err="1" smtClean="0"/>
              <a:t>trừ</a:t>
            </a:r>
            <a:r>
              <a:rPr lang="en-US" dirty="0" smtClean="0"/>
              <a:t> </a:t>
            </a:r>
            <a:r>
              <a:rPr lang="en-US" dirty="0" err="1" smtClean="0"/>
              <a:t>hai</a:t>
            </a:r>
            <a:r>
              <a:rPr lang="en-US" dirty="0" smtClean="0"/>
              <a:t> </a:t>
            </a:r>
            <a:r>
              <a:rPr lang="en-US" dirty="0" err="1" smtClean="0"/>
              <a:t>số</a:t>
            </a:r>
            <a:r>
              <a:rPr lang="en-US" dirty="0" smtClean="0"/>
              <a:t> </a:t>
            </a:r>
            <a:r>
              <a:rPr lang="en-US" dirty="0" err="1" smtClean="0"/>
              <a:t>gần</a:t>
            </a:r>
            <a:r>
              <a:rPr lang="en-US" dirty="0" smtClean="0"/>
              <a:t> </a:t>
            </a:r>
            <a:r>
              <a:rPr lang="en-US" dirty="0" err="1" smtClean="0"/>
              <a:t>như</a:t>
            </a:r>
            <a:r>
              <a:rPr lang="en-US" dirty="0" smtClean="0"/>
              <a:t> </a:t>
            </a:r>
            <a:r>
              <a:rPr lang="en-US" dirty="0" err="1" smtClean="0"/>
              <a:t>nhau</a:t>
            </a:r>
            <a:endParaRPr lang="en-US" dirty="0" smtClean="0"/>
          </a:p>
          <a:p>
            <a:pPr marL="0" indent="0" algn="just">
              <a:lnSpc>
                <a:spcPct val="150000"/>
              </a:lnSpc>
              <a:buNone/>
            </a:pPr>
            <a:r>
              <a:rPr lang="en-US" dirty="0"/>
              <a:t>	</a:t>
            </a:r>
            <a:r>
              <a:rPr lang="en-US" dirty="0" smtClean="0"/>
              <a:t>- </a:t>
            </a:r>
            <a:r>
              <a:rPr lang="en-US" dirty="0" err="1" smtClean="0"/>
              <a:t>Tăng</a:t>
            </a:r>
            <a:r>
              <a:rPr lang="en-US" dirty="0" smtClean="0"/>
              <a:t> </a:t>
            </a:r>
            <a:r>
              <a:rPr lang="en-US" dirty="0" err="1" smtClean="0"/>
              <a:t>khi</a:t>
            </a:r>
            <a:r>
              <a:rPr lang="en-US" dirty="0" smtClean="0"/>
              <a:t> </a:t>
            </a:r>
            <a:r>
              <a:rPr lang="en-US" dirty="0" err="1" smtClean="0"/>
              <a:t>số</a:t>
            </a:r>
            <a:r>
              <a:rPr lang="en-US" dirty="0" smtClean="0"/>
              <a:t> </a:t>
            </a:r>
            <a:r>
              <a:rPr lang="en-US" dirty="0" err="1" smtClean="0"/>
              <a:t>lượng</a:t>
            </a:r>
            <a:r>
              <a:rPr lang="en-US" dirty="0" smtClean="0"/>
              <a:t> </a:t>
            </a:r>
            <a:r>
              <a:rPr lang="en-US" dirty="0" err="1" smtClean="0"/>
              <a:t>các</a:t>
            </a:r>
            <a:r>
              <a:rPr lang="en-US" dirty="0" smtClean="0"/>
              <a:t> </a:t>
            </a:r>
            <a:r>
              <a:rPr lang="en-US" dirty="0" err="1" smtClean="0"/>
              <a:t>phép</a:t>
            </a:r>
            <a:r>
              <a:rPr lang="en-US" dirty="0" smtClean="0"/>
              <a:t> </a:t>
            </a:r>
            <a:r>
              <a:rPr lang="en-US" dirty="0" err="1" smtClean="0"/>
              <a:t>tính</a:t>
            </a:r>
            <a:r>
              <a:rPr lang="en-US" dirty="0" smtClean="0"/>
              <a:t> </a:t>
            </a:r>
            <a:r>
              <a:rPr lang="en-US" dirty="0" err="1" smtClean="0"/>
              <a:t>toán</a:t>
            </a:r>
            <a:r>
              <a:rPr lang="en-US" dirty="0" smtClean="0"/>
              <a:t> </a:t>
            </a:r>
            <a:r>
              <a:rPr lang="en-US" dirty="0" err="1" smtClean="0"/>
              <a:t>tăng</a:t>
            </a:r>
            <a:endParaRPr lang="en-US" dirty="0"/>
          </a:p>
          <a:p>
            <a:pPr marL="0" indent="0" algn="just">
              <a:lnSpc>
                <a:spcPct val="150000"/>
              </a:lnSpc>
              <a:buNone/>
            </a:pPr>
            <a:r>
              <a:rPr lang="en-US" dirty="0" smtClean="0"/>
              <a:t>- Sai </a:t>
            </a:r>
            <a:r>
              <a:rPr lang="en-US" dirty="0" err="1" smtClean="0"/>
              <a:t>số</a:t>
            </a:r>
            <a:r>
              <a:rPr lang="en-US" dirty="0" smtClean="0"/>
              <a:t> </a:t>
            </a:r>
            <a:r>
              <a:rPr lang="en-US" dirty="0" err="1" smtClean="0"/>
              <a:t>cắt</a:t>
            </a:r>
            <a:r>
              <a:rPr lang="en-US" dirty="0" smtClean="0"/>
              <a:t> </a:t>
            </a:r>
            <a:r>
              <a:rPr lang="en-US" dirty="0" err="1" smtClean="0"/>
              <a:t>cụt</a:t>
            </a:r>
            <a:r>
              <a:rPr lang="en-US" dirty="0" smtClean="0"/>
              <a:t>:</a:t>
            </a:r>
            <a:endParaRPr lang="en-US" dirty="0" smtClean="0"/>
          </a:p>
          <a:p>
            <a:pPr marL="0" indent="0" algn="just">
              <a:lnSpc>
                <a:spcPct val="150000"/>
              </a:lnSpc>
              <a:buNone/>
            </a:pPr>
            <a:r>
              <a:rPr lang="en-US" dirty="0" smtClean="0"/>
              <a:t>	- </a:t>
            </a:r>
            <a:r>
              <a:rPr lang="en-US" dirty="0" err="1" smtClean="0"/>
              <a:t>Giảm</a:t>
            </a:r>
            <a:r>
              <a:rPr lang="en-US" dirty="0" smtClean="0"/>
              <a:t> </a:t>
            </a:r>
            <a:r>
              <a:rPr lang="en-US" dirty="0" err="1" smtClean="0"/>
              <a:t>khi</a:t>
            </a:r>
            <a:r>
              <a:rPr lang="en-US" dirty="0" smtClean="0"/>
              <a:t> </a:t>
            </a:r>
            <a:r>
              <a:rPr lang="en-US" dirty="0" err="1" smtClean="0"/>
              <a:t>bước</a:t>
            </a:r>
            <a:r>
              <a:rPr lang="en-US" dirty="0" smtClean="0"/>
              <a:t> </a:t>
            </a:r>
            <a:r>
              <a:rPr lang="en-US" dirty="0" err="1" smtClean="0"/>
              <a:t>nhảy</a:t>
            </a:r>
            <a:r>
              <a:rPr lang="en-US" dirty="0" smtClean="0"/>
              <a:t> </a:t>
            </a:r>
            <a:r>
              <a:rPr lang="en-US" dirty="0" err="1" smtClean="0"/>
              <a:t>giảm</a:t>
            </a:r>
            <a:endParaRPr lang="en-US"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Việc</a:t>
            </a:r>
            <a:r>
              <a:rPr lang="en-US" dirty="0" smtClean="0"/>
              <a:t> </a:t>
            </a:r>
            <a:r>
              <a:rPr lang="en-US" dirty="0" err="1" smtClean="0"/>
              <a:t>giảm</a:t>
            </a:r>
            <a:r>
              <a:rPr lang="en-US" dirty="0" smtClean="0"/>
              <a:t> </a:t>
            </a:r>
            <a:r>
              <a:rPr lang="en-US" dirty="0" err="1" smtClean="0"/>
              <a:t>bước</a:t>
            </a:r>
            <a:r>
              <a:rPr lang="en-US" dirty="0" smtClean="0"/>
              <a:t> </a:t>
            </a:r>
            <a:r>
              <a:rPr lang="en-US" dirty="0" err="1" smtClean="0"/>
              <a:t>nhảy</a:t>
            </a:r>
            <a:r>
              <a:rPr lang="en-US" dirty="0" smtClean="0"/>
              <a:t> </a:t>
            </a:r>
            <a:r>
              <a:rPr lang="en-US" dirty="0" err="1" smtClean="0"/>
              <a:t>có</a:t>
            </a:r>
            <a:r>
              <a:rPr lang="en-US" dirty="0" smtClean="0"/>
              <a:t> </a:t>
            </a:r>
            <a:r>
              <a:rPr lang="en-US" dirty="0" err="1" smtClean="0"/>
              <a:t>thể</a:t>
            </a:r>
            <a:r>
              <a:rPr lang="en-US" dirty="0" smtClean="0"/>
              <a:t> </a:t>
            </a:r>
            <a:r>
              <a:rPr lang="en-US" dirty="0" err="1" smtClean="0"/>
              <a:t>dẫn</a:t>
            </a:r>
            <a:r>
              <a:rPr lang="en-US" dirty="0" smtClean="0"/>
              <a:t> </a:t>
            </a:r>
            <a:r>
              <a:rPr lang="en-US" dirty="0" err="1" smtClean="0"/>
              <a:t>tới</a:t>
            </a:r>
            <a:r>
              <a:rPr lang="en-US" dirty="0" smtClean="0"/>
              <a:t> </a:t>
            </a:r>
            <a:r>
              <a:rPr lang="en-US" dirty="0" err="1" smtClean="0"/>
              <a:t>việc</a:t>
            </a:r>
            <a:r>
              <a:rPr lang="en-US" dirty="0" smtClean="0"/>
              <a:t> </a:t>
            </a:r>
            <a:r>
              <a:rPr lang="en-US" dirty="0" err="1" smtClean="0"/>
              <a:t>trừ</a:t>
            </a:r>
            <a:r>
              <a:rPr lang="en-US" dirty="0" smtClean="0"/>
              <a:t> </a:t>
            </a:r>
            <a:r>
              <a:rPr lang="en-US" dirty="0" err="1" smtClean="0"/>
              <a:t>hai</a:t>
            </a:r>
            <a:r>
              <a:rPr lang="en-US" dirty="0" smtClean="0"/>
              <a:t> </a:t>
            </a:r>
            <a:r>
              <a:rPr lang="en-US" dirty="0" err="1" smtClean="0"/>
              <a:t>số</a:t>
            </a:r>
            <a:r>
              <a:rPr lang="en-US" dirty="0" smtClean="0"/>
              <a:t> </a:t>
            </a:r>
            <a:r>
              <a:rPr lang="en-US" dirty="0" err="1" smtClean="0"/>
              <a:t>gần</a:t>
            </a:r>
            <a:r>
              <a:rPr lang="en-US" dirty="0" smtClean="0"/>
              <a:t> </a:t>
            </a:r>
            <a:r>
              <a:rPr lang="en-US" dirty="0" err="1" smtClean="0"/>
              <a:t>nhau</a:t>
            </a:r>
            <a:r>
              <a:rPr lang="en-US" dirty="0" smtClean="0"/>
              <a:t> (</a:t>
            </a:r>
            <a:r>
              <a:rPr lang="en-US" dirty="0" err="1" smtClean="0"/>
              <a:t>vì</a:t>
            </a:r>
            <a:r>
              <a:rPr lang="en-US" dirty="0" smtClean="0"/>
              <a:t> </a:t>
            </a:r>
            <a:r>
              <a:rPr lang="en-US" dirty="0" err="1" smtClean="0"/>
              <a:t>khi</a:t>
            </a:r>
            <a:r>
              <a:rPr lang="en-US" dirty="0" smtClean="0"/>
              <a:t> </a:t>
            </a:r>
            <a:r>
              <a:rPr lang="en-US" dirty="0" err="1" smtClean="0"/>
              <a:t>đó</a:t>
            </a:r>
            <a:r>
              <a:rPr lang="en-US" dirty="0" smtClean="0"/>
              <a:t> x – x</a:t>
            </a:r>
            <a:r>
              <a:rPr lang="en-US" baseline="-25000" dirty="0" smtClean="0"/>
              <a:t>0</a:t>
            </a:r>
            <a:r>
              <a:rPr lang="en-US" dirty="0" smtClean="0"/>
              <a:t> </a:t>
            </a:r>
            <a:r>
              <a:rPr lang="en-US" dirty="0" err="1" smtClean="0"/>
              <a:t>là</a:t>
            </a:r>
            <a:r>
              <a:rPr lang="en-US" dirty="0" smtClean="0"/>
              <a:t> </a:t>
            </a:r>
            <a:r>
              <a:rPr lang="en-US" dirty="0" err="1" smtClean="0"/>
              <a:t>nhỏ</a:t>
            </a:r>
            <a:r>
              <a:rPr lang="en-US" dirty="0" smtClean="0"/>
              <a:t> </a:t>
            </a:r>
            <a:r>
              <a:rPr lang="en-US" dirty="0" err="1" smtClean="0"/>
              <a:t>dần</a:t>
            </a:r>
            <a:r>
              <a:rPr lang="en-US" dirty="0" smtClean="0"/>
              <a:t>) </a:t>
            </a:r>
            <a:r>
              <a:rPr lang="en-US" dirty="0" err="1" smtClean="0"/>
              <a:t>hoặc</a:t>
            </a:r>
            <a:r>
              <a:rPr lang="en-US" dirty="0" smtClean="0"/>
              <a:t> </a:t>
            </a:r>
            <a:r>
              <a:rPr lang="en-US" dirty="0" err="1" smtClean="0"/>
              <a:t>làm</a:t>
            </a:r>
            <a:r>
              <a:rPr lang="en-US" dirty="0" smtClean="0"/>
              <a:t> </a:t>
            </a:r>
            <a:r>
              <a:rPr lang="en-US" dirty="0" err="1" smtClean="0"/>
              <a:t>tăng</a:t>
            </a:r>
            <a:r>
              <a:rPr lang="en-US" dirty="0" smtClean="0"/>
              <a:t> </a:t>
            </a:r>
            <a:r>
              <a:rPr lang="en-US" dirty="0" err="1" smtClean="0"/>
              <a:t>số</a:t>
            </a:r>
            <a:r>
              <a:rPr lang="en-US" dirty="0" smtClean="0"/>
              <a:t> </a:t>
            </a:r>
            <a:r>
              <a:rPr lang="en-US" dirty="0" err="1" smtClean="0"/>
              <a:t>lượng</a:t>
            </a:r>
            <a:r>
              <a:rPr lang="en-US" dirty="0" smtClean="0"/>
              <a:t> </a:t>
            </a:r>
            <a:r>
              <a:rPr lang="en-US" dirty="0" err="1" smtClean="0"/>
              <a:t>các</a:t>
            </a:r>
            <a:r>
              <a:rPr lang="en-US" dirty="0" smtClean="0"/>
              <a:t> </a:t>
            </a:r>
            <a:r>
              <a:rPr lang="en-US" dirty="0" err="1" smtClean="0"/>
              <a:t>phép</a:t>
            </a:r>
            <a:r>
              <a:rPr lang="en-US" dirty="0" smtClean="0"/>
              <a:t> </a:t>
            </a:r>
            <a:r>
              <a:rPr lang="en-US" dirty="0" err="1" smtClean="0"/>
              <a:t>tính</a:t>
            </a:r>
            <a:r>
              <a:rPr lang="en-US" dirty="0" smtClean="0"/>
              <a:t> </a:t>
            </a:r>
            <a:r>
              <a:rPr lang="en-US" dirty="0" err="1" smtClean="0"/>
              <a:t>toán</a:t>
            </a:r>
            <a:endParaRPr lang="en-US" dirty="0"/>
          </a:p>
        </p:txBody>
      </p:sp>
      <p:pic>
        <p:nvPicPr>
          <p:cNvPr id="2" name="Picture 1"/>
          <p:cNvPicPr>
            <a:picLocks noChangeAspect="1"/>
          </p:cNvPicPr>
          <p:nvPr/>
        </p:nvPicPr>
        <p:blipFill>
          <a:blip r:embed="rId1"/>
          <a:stretch>
            <a:fillRect/>
          </a:stretch>
        </p:blipFill>
        <p:spPr>
          <a:xfrm>
            <a:off x="4012057" y="2633424"/>
            <a:ext cx="4477375" cy="3419952"/>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Bài</a:t>
            </a:r>
            <a:r>
              <a:rPr lang="en-US" dirty="0" smtClean="0"/>
              <a:t> </a:t>
            </a:r>
            <a:r>
              <a:rPr lang="en-US" dirty="0" err="1" smtClean="0"/>
              <a:t>tập</a:t>
            </a:r>
            <a:r>
              <a:rPr lang="en-US" dirty="0" smtClean="0"/>
              <a:t> </a:t>
            </a:r>
            <a:r>
              <a:rPr lang="en-US" dirty="0" err="1" smtClean="0"/>
              <a:t>trang</a:t>
            </a:r>
            <a:r>
              <a:rPr lang="en-US" dirty="0" smtClean="0"/>
              <a:t> 110</a:t>
            </a:r>
            <a:endParaRPr lang="en-US" dirty="0" smtClean="0"/>
          </a:p>
          <a:p>
            <a:pPr marL="0" indent="0" algn="just">
              <a:lnSpc>
                <a:spcPct val="150000"/>
              </a:lnSpc>
              <a:buNone/>
            </a:pPr>
            <a:r>
              <a:rPr lang="en-US" smtClean="0"/>
              <a:t>4.2 – 4.5</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2744</Words>
  <Application>WPS Presentation</Application>
  <PresentationFormat>Widescreen</PresentationFormat>
  <Paragraphs>64</Paragraphs>
  <Slides>19</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4</vt:i4>
      </vt:variant>
      <vt:variant>
        <vt:lpstr>幻灯片标题</vt:lpstr>
      </vt:variant>
      <vt:variant>
        <vt:i4>19</vt:i4>
      </vt:variant>
    </vt:vector>
  </HeadingPairs>
  <TitlesOfParts>
    <vt:vector size="31" baseType="lpstr">
      <vt:lpstr>Arial</vt:lpstr>
      <vt:lpstr>SimSun</vt:lpstr>
      <vt:lpstr>Wingdings</vt:lpstr>
      <vt:lpstr>Calibri Light</vt:lpstr>
      <vt:lpstr>Calibri</vt:lpstr>
      <vt:lpstr>Microsoft YaHei</vt:lpstr>
      <vt:lpstr>Arial Unicode MS</vt:lpstr>
      <vt:lpstr>Office Theme</vt:lpstr>
      <vt:lpstr>Equation.3</vt:lpstr>
      <vt:lpstr>Equation.3</vt:lpstr>
      <vt:lpstr>Equation.3</vt:lpstr>
      <vt:lpstr>Equation.3</vt:lpstr>
      <vt:lpstr>Chương 2. Sai số cắt cụt và chuỗi Taylor</vt:lpstr>
      <vt:lpstr>I. Chuỗi Taylor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II. Tổng sai số</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1. Xấp xỉ và sai số làm tròn</dc:title>
  <dc:creator>Admin</dc:creator>
  <cp:lastModifiedBy>HP</cp:lastModifiedBy>
  <cp:revision>63</cp:revision>
  <dcterms:created xsi:type="dcterms:W3CDTF">2026-01-18T01:55:00Z</dcterms:created>
  <dcterms:modified xsi:type="dcterms:W3CDTF">2026-02-16T03:09:31Z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448878A706DF4894A222ABE30807F993_12</vt:lpwstr>
  </property>
  <property fmtid="{D5CDD505-2E9C-101B-9397-08002B2CF9AE}" pid="3" name="KSOProductBuildVer">
    <vt:lpwstr>1033-12.2.0.23196</vt:lpwstr>
  </property>
</Properties>
</file>