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1"/>
  </p:sldMasterIdLst>
  <p:notesMasterIdLst>
    <p:notesMasterId r:id="rId20"/>
  </p:notesMasterIdLst>
  <p:handoutMasterIdLst>
    <p:handoutMasterId r:id="rId21"/>
  </p:handoutMasterIdLst>
  <p:sldIdLst>
    <p:sldId id="366" r:id="rId2"/>
    <p:sldId id="347" r:id="rId3"/>
    <p:sldId id="356" r:id="rId4"/>
    <p:sldId id="348" r:id="rId5"/>
    <p:sldId id="352" r:id="rId6"/>
    <p:sldId id="349" r:id="rId7"/>
    <p:sldId id="350" r:id="rId8"/>
    <p:sldId id="351" r:id="rId9"/>
    <p:sldId id="354" r:id="rId10"/>
    <p:sldId id="355" r:id="rId11"/>
    <p:sldId id="357" r:id="rId12"/>
    <p:sldId id="360" r:id="rId13"/>
    <p:sldId id="358" r:id="rId14"/>
    <p:sldId id="362" r:id="rId15"/>
    <p:sldId id="361" r:id="rId16"/>
    <p:sldId id="363" r:id="rId17"/>
    <p:sldId id="365" r:id="rId18"/>
    <p:sldId id="3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 Bao Thang 20153544" initials="TBT2" lastIdx="1" clrIdx="0">
    <p:extLst>
      <p:ext uri="{19B8F6BF-5375-455C-9EA6-DF929625EA0E}">
        <p15:presenceInfo xmlns:p15="http://schemas.microsoft.com/office/powerpoint/2012/main" userId="S::thang.tb153544@sis.hust.edu.vn::57ac4cd6-18a7-4d0b-8102-cb185825031d" providerId="AD"/>
      </p:ext>
    </p:extLst>
  </p:cmAuthor>
  <p:cmAuthor id="2" name="ThanhPD" initials="PDT" lastIdx="1" clrIdx="1">
    <p:extLst>
      <p:ext uri="{19B8F6BF-5375-455C-9EA6-DF929625EA0E}">
        <p15:presenceInfo xmlns:p15="http://schemas.microsoft.com/office/powerpoint/2012/main" userId="ThanhP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CD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65" autoAdjust="0"/>
    <p:restoredTop sz="94365" autoAdjust="0"/>
  </p:normalViewPr>
  <p:slideViewPr>
    <p:cSldViewPr>
      <p:cViewPr varScale="1">
        <p:scale>
          <a:sx n="66" d="100"/>
          <a:sy n="66" d="100"/>
        </p:scale>
        <p:origin x="142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2648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59BFBA9-6EF8-47C1-8445-6A59FA7B6B8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FFC399-4D7C-45DB-9515-4819A73E161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A37B0-BA64-483E-A49A-D370E7C80F8B}" type="datetimeFigureOut">
              <a:rPr lang="en-US" smtClean="0">
                <a:latin typeface="Times New Roman" panose="02020603050405020304" pitchFamily="18" charset="0"/>
              </a:rPr>
              <a:t>19/10/2023</a:t>
            </a:fld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31D4D8-10D8-4B89-A2E4-8D6B115480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E36E34-CA92-4C30-AF2F-A2D9405C022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96363B-D3BA-469A-910C-8EBE4A3B97A7}" type="slidenum">
              <a:rPr lang="en-US" smtClean="0">
                <a:latin typeface="Times New Roman" panose="02020603050405020304" pitchFamily="18" charset="0"/>
              </a:rPr>
              <a:t>‹#›</a:t>
            </a:fld>
            <a:endParaRPr 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5681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04D52306-4636-4C1F-B8AF-38536649C551}" type="datetimeFigureOut">
              <a:rPr lang="en-US" smtClean="0"/>
              <a:pPr/>
              <a:t>19/10/2023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7CED8C81-1226-48E6-93B5-22D3E200B2D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314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46842"/>
            <a:ext cx="86868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93851"/>
            <a:ext cx="7886700" cy="44831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57950" y="6141245"/>
            <a:ext cx="20574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05/09/2020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2350" y="6413501"/>
            <a:ext cx="1143000" cy="365125"/>
          </a:xfrm>
        </p:spPr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918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23966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3227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ED9CA-ECCA-4B2B-B103-F4D4326D19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428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62877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62877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ED9CA-ECCA-4B2B-B103-F4D4326D19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22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ED9CA-ECCA-4B2B-B103-F4D4326D19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311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ED9CA-ECCA-4B2B-B103-F4D4326D19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811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457200"/>
            <a:ext cx="462915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ED9CA-ECCA-4B2B-B103-F4D4326D19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67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457200"/>
            <a:ext cx="4629150" cy="540385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ED9CA-ECCA-4B2B-B103-F4D4326D19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87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ED9CA-ECCA-4B2B-B103-F4D4326D19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9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ED9CA-ECCA-4B2B-B103-F4D4326D19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982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55576"/>
            <a:ext cx="8610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625600"/>
            <a:ext cx="7886700" cy="4460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97750" y="6121400"/>
            <a:ext cx="1117600" cy="2762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87850" y="6432550"/>
            <a:ext cx="3009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en-US" dirty="0" err="1"/>
              <a:t>Huỳnh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Thanh </a:t>
            </a:r>
            <a:r>
              <a:rPr lang="en-US" dirty="0" err="1"/>
              <a:t>Bình</a:t>
            </a: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97750" y="6432551"/>
            <a:ext cx="1117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623ED9CA-ECCA-4B2B-B103-F4D4326D192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47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6" r:id="rId6"/>
    <p:sldLayoutId id="2147483757" r:id="rId7"/>
    <p:sldLayoutId id="2147483758" r:id="rId8"/>
    <p:sldLayoutId id="214748375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NUL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Minh </a:t>
            </a:r>
            <a:r>
              <a:rPr lang="en-US" dirty="0" err="1" smtClean="0"/>
              <a:t>hoạ</a:t>
            </a:r>
            <a:r>
              <a:rPr lang="en-US" dirty="0" smtClean="0"/>
              <a:t> GA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TSP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038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1E0236-40DC-43A6-B565-9E50C49D69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3400" y="1600200"/>
                <a:ext cx="8153400" cy="5257800"/>
              </a:xfrm>
            </p:spPr>
            <p:txBody>
              <a:bodyPr>
                <a:normAutofit lnSpcReduction="10000"/>
              </a:bodyPr>
              <a:lstStyle/>
              <a:p>
                <a:pPr algn="just">
                  <a:spcAft>
                    <a:spcPts val="300"/>
                  </a:spcAft>
                </a:pPr>
                <a:r>
                  <a:rPr lang="en-US" altLang="en-US" b="1" dirty="0" err="1" smtClean="0"/>
                  <a:t>Đầu</a:t>
                </a:r>
                <a:r>
                  <a:rPr lang="en-US" altLang="en-US" b="1" dirty="0" smtClean="0"/>
                  <a:t> </a:t>
                </a:r>
                <a:r>
                  <a:rPr lang="en-US" altLang="en-US" b="1" dirty="0" err="1"/>
                  <a:t>vào</a:t>
                </a:r>
                <a:r>
                  <a:rPr lang="en-US" altLang="en-US" dirty="0"/>
                  <a:t>: </a:t>
                </a:r>
              </a:p>
              <a:p>
                <a:pPr lvl="1" algn="just">
                  <a:spcAft>
                    <a:spcPts val="300"/>
                  </a:spcAft>
                </a:pPr>
                <a:r>
                  <a:rPr lang="en-US" sz="2600" dirty="0" err="1"/>
                  <a:t>Đồ</a:t>
                </a:r>
                <a:r>
                  <a:rPr lang="en-US" sz="2600" dirty="0"/>
                  <a:t> </a:t>
                </a:r>
                <a:r>
                  <a:rPr lang="en-US" sz="2600" dirty="0" err="1"/>
                  <a:t>thị</a:t>
                </a:r>
                <a:r>
                  <a:rPr lang="en-US" sz="2600" dirty="0"/>
                  <a:t> </a:t>
                </a:r>
                <a:r>
                  <a:rPr lang="en-US" sz="2600" dirty="0" err="1"/>
                  <a:t>đầy</a:t>
                </a:r>
                <a:r>
                  <a:rPr lang="en-US" sz="2600" dirty="0"/>
                  <a:t> </a:t>
                </a:r>
                <a:r>
                  <a:rPr lang="en-US" sz="2600" dirty="0" err="1"/>
                  <a:t>đủ</a:t>
                </a:r>
                <a:r>
                  <a:rPr lang="vi-VN" sz="2600" dirty="0"/>
                  <a:t> </a:t>
                </a:r>
                <a14:m>
                  <m:oMath xmlns:m="http://schemas.openxmlformats.org/officeDocument/2006/math">
                    <m:r>
                      <a:rPr lang="vi-VN" sz="2600">
                        <a:latin typeface="Cambria Math" panose="02040503050406030204" pitchFamily="18" charset="0"/>
                      </a:rPr>
                      <m:t>𝐺</m:t>
                    </m:r>
                    <m:r>
                      <a:rPr lang="vi-VN" sz="2600">
                        <a:latin typeface="Cambria Math" panose="02040503050406030204" pitchFamily="18" charset="0"/>
                      </a:rPr>
                      <m:t>=(</m:t>
                    </m:r>
                    <m:r>
                      <a:rPr lang="vi-VN" sz="2600">
                        <a:latin typeface="Cambria Math" panose="02040503050406030204" pitchFamily="18" charset="0"/>
                      </a:rPr>
                      <m:t>𝑉</m:t>
                    </m:r>
                    <m:r>
                      <a:rPr lang="vi-VN" sz="2600"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600">
                        <a:latin typeface="Cambria Math" panose="02040503050406030204" pitchFamily="18" charset="0"/>
                      </a:rPr>
                      <m:t>𝐸</m:t>
                    </m:r>
                    <m:r>
                      <a:rPr lang="vi-VN" sz="26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/>
                  <a:t>, </a:t>
                </a:r>
                <a:r>
                  <a:rPr lang="en-US" sz="2600" dirty="0" err="1"/>
                  <a:t>trong</a:t>
                </a:r>
                <a:r>
                  <a:rPr lang="en-US" sz="2600" dirty="0"/>
                  <a:t> </a:t>
                </a:r>
                <a:r>
                  <a:rPr lang="en-US" sz="2600" dirty="0" err="1"/>
                  <a:t>đó</a:t>
                </a:r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r>
                      <a:rPr lang="vi-VN" sz="260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600" dirty="0"/>
                  <a:t> </a:t>
                </a:r>
                <a:r>
                  <a:rPr lang="en-US" sz="2600" dirty="0" err="1"/>
                  <a:t>là</a:t>
                </a:r>
                <a:r>
                  <a:rPr lang="en-US" sz="2600" dirty="0"/>
                  <a:t> </a:t>
                </a:r>
                <a:r>
                  <a:rPr lang="en-US" sz="2600" dirty="0" err="1"/>
                  <a:t>tập</a:t>
                </a:r>
                <a:r>
                  <a:rPr lang="en-US" sz="2600" dirty="0"/>
                  <a:t> </a:t>
                </a:r>
                <a:r>
                  <a:rPr lang="en-US" sz="2600" dirty="0" err="1"/>
                  <a:t>gồm</a:t>
                </a:r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r>
                      <a:rPr lang="vi-VN" sz="260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600" dirty="0"/>
                  <a:t> </a:t>
                </a:r>
                <a:r>
                  <a:rPr lang="en-US" sz="2600" dirty="0" err="1"/>
                  <a:t>đỉnh</a:t>
                </a:r>
                <a:r>
                  <a:rPr lang="en-US" sz="2600" dirty="0"/>
                  <a:t> </a:t>
                </a:r>
                <a:r>
                  <a:rPr lang="en-US" sz="2600" dirty="0" err="1"/>
                  <a:t>tương</a:t>
                </a:r>
                <a:r>
                  <a:rPr lang="en-US" sz="2600" dirty="0"/>
                  <a:t> </a:t>
                </a:r>
                <a:r>
                  <a:rPr lang="en-US" sz="2600" dirty="0" err="1"/>
                  <a:t>ứng</a:t>
                </a:r>
                <a:r>
                  <a:rPr lang="en-US" sz="2600" dirty="0"/>
                  <a:t> </a:t>
                </a:r>
                <a:r>
                  <a:rPr lang="en-US" sz="2600" dirty="0" err="1"/>
                  <a:t>với</a:t>
                </a:r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r>
                      <a:rPr lang="vi-VN" sz="260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600" dirty="0"/>
                  <a:t> </a:t>
                </a:r>
                <a:r>
                  <a:rPr lang="en-US" sz="2600" dirty="0" err="1"/>
                  <a:t>thành</a:t>
                </a:r>
                <a:r>
                  <a:rPr lang="en-US" sz="2600" dirty="0"/>
                  <a:t> </a:t>
                </a:r>
                <a:r>
                  <a:rPr lang="en-US" sz="2600" dirty="0" err="1"/>
                  <a:t>phố</a:t>
                </a:r>
                <a:r>
                  <a:rPr lang="en-US" sz="2600" dirty="0"/>
                  <a:t>, </a:t>
                </a:r>
                <a14:m>
                  <m:oMath xmlns:m="http://schemas.openxmlformats.org/officeDocument/2006/math">
                    <m:r>
                      <a:rPr lang="vi-VN" sz="260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600" dirty="0"/>
                  <a:t> </a:t>
                </a:r>
                <a:r>
                  <a:rPr lang="en-US" sz="2600" dirty="0" err="1"/>
                  <a:t>là</a:t>
                </a:r>
                <a:r>
                  <a:rPr lang="en-US" sz="2600" dirty="0"/>
                  <a:t> </a:t>
                </a:r>
                <a:r>
                  <a:rPr lang="en-US" sz="2600" dirty="0" err="1"/>
                  <a:t>tập</a:t>
                </a:r>
                <a:r>
                  <a:rPr lang="en-US" sz="2600" dirty="0"/>
                  <a:t> </a:t>
                </a:r>
                <a:r>
                  <a:rPr lang="en-US" sz="2600" dirty="0" err="1"/>
                  <a:t>cạnh</a:t>
                </a:r>
                <a:r>
                  <a:rPr lang="en-US" sz="2600" dirty="0"/>
                  <a:t> </a:t>
                </a:r>
                <a:r>
                  <a:rPr lang="en-US" sz="2600" dirty="0" err="1"/>
                  <a:t>các</a:t>
                </a:r>
                <a:r>
                  <a:rPr lang="en-US" sz="2600" dirty="0"/>
                  <a:t> </a:t>
                </a:r>
                <a:r>
                  <a:rPr lang="en-US" sz="2600" dirty="0" err="1"/>
                  <a:t>kết</a:t>
                </a:r>
                <a:r>
                  <a:rPr lang="en-US" sz="2600" dirty="0"/>
                  <a:t> </a:t>
                </a:r>
                <a:r>
                  <a:rPr lang="en-US" sz="2600" dirty="0" err="1"/>
                  <a:t>nối</a:t>
                </a:r>
                <a:r>
                  <a:rPr lang="en-US" sz="2600" dirty="0"/>
                  <a:t> </a:t>
                </a:r>
                <a:r>
                  <a:rPr lang="en-US" sz="2600" dirty="0" err="1"/>
                  <a:t>giữa</a:t>
                </a:r>
                <a:r>
                  <a:rPr lang="en-US" sz="2600" dirty="0"/>
                  <a:t> </a:t>
                </a:r>
                <a:r>
                  <a:rPr lang="en-US" sz="2600" dirty="0" err="1"/>
                  <a:t>các</a:t>
                </a:r>
                <a:r>
                  <a:rPr lang="en-US" sz="2600" dirty="0"/>
                  <a:t> </a:t>
                </a:r>
                <a:r>
                  <a:rPr lang="en-US" sz="2600" dirty="0" err="1"/>
                  <a:t>thành</a:t>
                </a:r>
                <a:r>
                  <a:rPr lang="en-US" sz="2600" dirty="0"/>
                  <a:t> </a:t>
                </a:r>
                <a:r>
                  <a:rPr lang="en-US" sz="2600" dirty="0" err="1"/>
                  <a:t>phố</a:t>
                </a:r>
                <a:r>
                  <a:rPr lang="en-US" sz="2600" dirty="0"/>
                  <a:t>.</a:t>
                </a:r>
              </a:p>
              <a:p>
                <a:pPr lvl="1" algn="just">
                  <a:spcAft>
                    <a:spcPts val="300"/>
                  </a:spcAft>
                </a:pPr>
                <a:r>
                  <a:rPr lang="en-US" sz="2600" dirty="0"/>
                  <a:t>Ma </a:t>
                </a:r>
                <a:r>
                  <a:rPr lang="en-US" sz="2600" dirty="0" err="1"/>
                  <a:t>trận</a:t>
                </a:r>
                <a:r>
                  <a:rPr lang="en-US" sz="2600" dirty="0"/>
                  <a:t> chi </a:t>
                </a:r>
                <a:r>
                  <a:rPr lang="en-US" sz="2600" dirty="0" err="1"/>
                  <a:t>phí</a:t>
                </a:r>
                <a:r>
                  <a:rPr lang="vi-VN" sz="2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60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vi-VN" sz="260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vi-VN" sz="260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vi-VN" sz="260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vi-VN" sz="260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600" dirty="0"/>
                  <a:t>, </a:t>
                </a:r>
                <a:r>
                  <a:rPr lang="en-US" sz="2600" dirty="0" err="1"/>
                  <a:t>trong</a:t>
                </a:r>
                <a:r>
                  <a:rPr lang="en-US" sz="2600" dirty="0"/>
                  <a:t> </a:t>
                </a:r>
                <a:r>
                  <a:rPr lang="en-US" sz="2600" dirty="0" err="1"/>
                  <a:t>đó</a:t>
                </a:r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60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vi-VN" sz="260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600" dirty="0"/>
                  <a:t> </a:t>
                </a:r>
                <a:r>
                  <a:rPr lang="en-US" sz="2600" dirty="0" err="1"/>
                  <a:t>là</a:t>
                </a:r>
                <a:r>
                  <a:rPr lang="en-US" sz="2600" dirty="0"/>
                  <a:t> chi </a:t>
                </a:r>
                <a:r>
                  <a:rPr lang="en-US" sz="2600" dirty="0" err="1"/>
                  <a:t>phí</a:t>
                </a:r>
                <a:r>
                  <a:rPr lang="en-US" sz="2600" dirty="0"/>
                  <a:t> </a:t>
                </a:r>
                <a:r>
                  <a:rPr lang="en-US" sz="2600" dirty="0" err="1"/>
                  <a:t>đi</a:t>
                </a:r>
                <a:r>
                  <a:rPr lang="en-US" sz="2600" dirty="0"/>
                  <a:t> </a:t>
                </a:r>
                <a:r>
                  <a:rPr lang="en-US" sz="2600" dirty="0" err="1"/>
                  <a:t>từ</a:t>
                </a:r>
                <a:r>
                  <a:rPr lang="en-US" sz="2600" dirty="0"/>
                  <a:t> </a:t>
                </a:r>
                <a:r>
                  <a:rPr lang="en-US" sz="2600" dirty="0" err="1"/>
                  <a:t>thành</a:t>
                </a:r>
                <a:r>
                  <a:rPr lang="en-US" sz="2600" dirty="0"/>
                  <a:t> </a:t>
                </a:r>
                <a:r>
                  <a:rPr lang="en-US" sz="2600" dirty="0" err="1"/>
                  <a:t>phố</a:t>
                </a:r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r>
                      <a:rPr lang="vi-VN" sz="260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600" dirty="0"/>
                  <a:t> </a:t>
                </a:r>
                <a:r>
                  <a:rPr lang="en-US" sz="2600" dirty="0" err="1"/>
                  <a:t>tới</a:t>
                </a:r>
                <a:r>
                  <a:rPr lang="en-US" sz="2600" dirty="0"/>
                  <a:t> </a:t>
                </a:r>
                <a:r>
                  <a:rPr lang="en-US" sz="2600" dirty="0" err="1"/>
                  <a:t>thành</a:t>
                </a:r>
                <a:r>
                  <a:rPr lang="en-US" sz="2600" dirty="0"/>
                  <a:t> </a:t>
                </a:r>
                <a:r>
                  <a:rPr lang="en-US" sz="2600" dirty="0" err="1"/>
                  <a:t>phố</a:t>
                </a:r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r>
                      <a:rPr lang="vi-VN" sz="260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600" dirty="0"/>
                  <a:t> (</a:t>
                </a:r>
                <a14:m>
                  <m:oMath xmlns:m="http://schemas.openxmlformats.org/officeDocument/2006/math">
                    <m:r>
                      <a:rPr lang="vi-VN" sz="26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vi-VN" sz="260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600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vi-VN" sz="2600" dirty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vi-VN" sz="2600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600" dirty="0"/>
                  <a:t>).</a:t>
                </a:r>
              </a:p>
              <a:p>
                <a:pPr algn="just">
                  <a:spcAft>
                    <a:spcPts val="300"/>
                  </a:spcAft>
                </a:pPr>
                <a:r>
                  <a:rPr lang="en-US" altLang="en-US" b="1" dirty="0" err="1"/>
                  <a:t>Đầu</a:t>
                </a:r>
                <a:r>
                  <a:rPr lang="en-US" altLang="en-US" b="1" dirty="0"/>
                  <a:t> ra</a:t>
                </a:r>
                <a:r>
                  <a:rPr lang="en-US" altLang="en-US" dirty="0"/>
                  <a:t>: </a:t>
                </a:r>
                <a:r>
                  <a:rPr lang="en-US" dirty="0"/>
                  <a:t>Chu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vi-VN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dài</a:t>
                </a:r>
                <a:r>
                  <a:rPr lang="vi-VN" dirty="0"/>
                  <a:t> </a:t>
                </a:r>
                <a14:m>
                  <m:oMath xmlns:m="http://schemas.openxmlformats.org/officeDocument/2006/math">
                    <m:r>
                      <a:rPr lang="vi-VN">
                        <a:latin typeface="Cambria Math" panose="02040503050406030204" pitchFamily="18" charset="0"/>
                      </a:rPr>
                      <m:t>𝑛</m:t>
                    </m:r>
                    <m:r>
                      <a:rPr lang="vi-VN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đường</a:t>
                </a:r>
                <a:r>
                  <a:rPr lang="en-US" dirty="0"/>
                  <a:t> </a:t>
                </a:r>
                <a:r>
                  <a:rPr lang="en-US" dirty="0" err="1"/>
                  <a:t>đi</a:t>
                </a:r>
                <a:r>
                  <a:rPr lang="en-US" dirty="0"/>
                  <a:t> qua </a:t>
                </a:r>
                <a:r>
                  <a:rPr lang="en-US" dirty="0" err="1"/>
                  <a:t>tất</a:t>
                </a:r>
                <a:r>
                  <a:rPr lang="en-US" dirty="0"/>
                  <a:t> </a:t>
                </a:r>
                <a:r>
                  <a:rPr lang="en-US" dirty="0" err="1"/>
                  <a:t>cả</a:t>
                </a:r>
                <a:r>
                  <a:rPr lang="en-US" dirty="0"/>
                  <a:t> n </a:t>
                </a:r>
                <a:r>
                  <a:rPr lang="en-US" dirty="0" err="1"/>
                  <a:t>thành</a:t>
                </a:r>
                <a:r>
                  <a:rPr lang="en-US" dirty="0"/>
                  <a:t> </a:t>
                </a:r>
                <a:r>
                  <a:rPr lang="en-US" dirty="0" err="1"/>
                  <a:t>phố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quay </a:t>
                </a:r>
                <a:r>
                  <a:rPr lang="en-US" dirty="0" err="1"/>
                  <a:t>lại</a:t>
                </a:r>
                <a:r>
                  <a:rPr lang="en-US" dirty="0"/>
                  <a:t> </a:t>
                </a:r>
                <a:r>
                  <a:rPr lang="en-US" dirty="0" err="1"/>
                  <a:t>đỉnh</a:t>
                </a:r>
                <a:r>
                  <a:rPr lang="en-US" dirty="0"/>
                  <a:t> </a:t>
                </a:r>
                <a:r>
                  <a:rPr lang="en-US" dirty="0" err="1"/>
                  <a:t>xuất</a:t>
                </a:r>
                <a:r>
                  <a:rPr lang="en-US" dirty="0"/>
                  <a:t> </a:t>
                </a:r>
                <a:r>
                  <a:rPr lang="en-US" dirty="0" err="1"/>
                  <a:t>phát</a:t>
                </a:r>
                <a:endParaRPr lang="en-US" altLang="en-US" dirty="0"/>
              </a:p>
              <a:p>
                <a:pPr algn="just">
                  <a:spcAft>
                    <a:spcPts val="300"/>
                  </a:spcAft>
                </a:pPr>
                <a:r>
                  <a:rPr lang="en-US" altLang="en-US" b="1" dirty="0" err="1"/>
                  <a:t>Ràng</a:t>
                </a:r>
                <a:r>
                  <a:rPr lang="en-US" altLang="en-US" b="1" dirty="0"/>
                  <a:t> </a:t>
                </a:r>
                <a:r>
                  <a:rPr lang="en-US" altLang="en-US" b="1" dirty="0" err="1"/>
                  <a:t>buộc</a:t>
                </a:r>
                <a:r>
                  <a:rPr lang="en-US" altLang="en-US" dirty="0"/>
                  <a:t>: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thành</a:t>
                </a:r>
                <a:r>
                  <a:rPr lang="en-US" dirty="0"/>
                  <a:t> </a:t>
                </a:r>
                <a:r>
                  <a:rPr lang="en-US" dirty="0" err="1"/>
                  <a:t>phố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đến</a:t>
                </a:r>
                <a:r>
                  <a:rPr lang="en-US" dirty="0"/>
                  <a:t> </a:t>
                </a:r>
                <a:r>
                  <a:rPr lang="en-US" dirty="0" err="1"/>
                  <a:t>thăm</a:t>
                </a:r>
                <a:r>
                  <a:rPr lang="en-US" dirty="0"/>
                  <a:t> </a:t>
                </a:r>
                <a:r>
                  <a:rPr lang="en-US" dirty="0" err="1"/>
                  <a:t>quá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lần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chu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đường</a:t>
                </a:r>
                <a:r>
                  <a:rPr lang="en-US" dirty="0"/>
                  <a:t> </a:t>
                </a:r>
                <a:r>
                  <a:rPr lang="en-US" dirty="0" err="1"/>
                  <a:t>đi</a:t>
                </a:r>
                <a:r>
                  <a:rPr lang="en-US" dirty="0"/>
                  <a:t>.</a:t>
                </a:r>
                <a:endParaRPr lang="en-US" altLang="en-US" dirty="0"/>
              </a:p>
              <a:p>
                <a:pPr algn="just">
                  <a:spcAft>
                    <a:spcPts val="300"/>
                  </a:spcAft>
                </a:pPr>
                <a:r>
                  <a:rPr lang="vi-VN" altLang="en-US" b="1" dirty="0"/>
                  <a:t>M</a:t>
                </a:r>
                <a:r>
                  <a:rPr lang="en-US" altLang="en-US" b="1" dirty="0" err="1"/>
                  <a:t>ục</a:t>
                </a:r>
                <a:r>
                  <a:rPr lang="en-US" altLang="en-US" b="1" dirty="0"/>
                  <a:t> </a:t>
                </a:r>
                <a:r>
                  <a:rPr lang="en-US" altLang="en-US" b="1" dirty="0" err="1"/>
                  <a:t>tiêu</a:t>
                </a:r>
                <a:r>
                  <a:rPr lang="en-US" altLang="en-US" dirty="0"/>
                  <a:t>: </a:t>
                </a:r>
                <a:r>
                  <a:rPr lang="en-US" dirty="0" err="1"/>
                  <a:t>Tổng</a:t>
                </a:r>
                <a:r>
                  <a:rPr lang="en-US" dirty="0"/>
                  <a:t> chi </a:t>
                </a:r>
                <a:r>
                  <a:rPr lang="en-US" dirty="0" err="1"/>
                  <a:t>phí</a:t>
                </a:r>
                <a:r>
                  <a:rPr lang="en-US" dirty="0"/>
                  <a:t> </a:t>
                </a:r>
                <a:r>
                  <a:rPr lang="en-US" dirty="0" err="1"/>
                  <a:t>đi</a:t>
                </a:r>
                <a:r>
                  <a:rPr lang="en-US" dirty="0"/>
                  <a:t> </a:t>
                </a:r>
                <a:r>
                  <a:rPr lang="en-US" dirty="0" err="1"/>
                  <a:t>lại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chu </a:t>
                </a:r>
                <a:r>
                  <a:rPr lang="en-US" dirty="0" err="1"/>
                  <a:t>trình</a:t>
                </a:r>
                <a:r>
                  <a:rPr lang="vi-VN" dirty="0"/>
                  <a:t> </a:t>
                </a:r>
                <a14:m>
                  <m:oMath xmlns:m="http://schemas.openxmlformats.org/officeDocument/2006/math">
                    <m:r>
                      <a:rPr lang="vi-VN">
                        <a:latin typeface="Cambria Math" panose="02040503050406030204" pitchFamily="18" charset="0"/>
                      </a:rPr>
                      <m:t>𝑇</m:t>
                    </m:r>
                    <m:r>
                      <a:rPr lang="vi-VN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nhỏ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.</a:t>
                </a:r>
              </a:p>
              <a:p>
                <a:pPr lvl="1" algn="just">
                  <a:spcBef>
                    <a:spcPts val="300"/>
                  </a:spcBef>
                  <a:spcAft>
                    <a:spcPts val="300"/>
                  </a:spcAft>
                  <a:buClr>
                    <a:srgbClr val="FF0000"/>
                  </a:buClr>
                  <a:buFont typeface="Wingdings" panose="05000000000000000000" pitchFamily="2" charset="2"/>
                  <a:buChar char="§"/>
                </a:pPr>
                <a:endParaRPr lang="en-US" altLang="en-US" dirty="0"/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endParaRPr lang="en-US" altLang="en-US" dirty="0"/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endParaRPr lang="en-US" altLang="en-US" dirty="0"/>
              </a:p>
              <a:p>
                <a:pPr marL="0" indent="0" algn="just"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en-US" altLang="en-US" sz="2800" dirty="0"/>
              </a:p>
              <a:p>
                <a:pPr marL="0" indent="0" algn="just"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en-US" altLang="en-US" sz="2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1E0236-40DC-43A6-B565-9E50C49D69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1600200"/>
                <a:ext cx="8153400" cy="5257800"/>
              </a:xfrm>
              <a:blipFill>
                <a:blip r:embed="rId2"/>
                <a:stretch>
                  <a:fillRect l="-1346" t="-2900" r="-1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 err="1" smtClean="0"/>
              <a:t>Bài</a:t>
            </a:r>
            <a:r>
              <a:rPr lang="en-US" altLang="en-US" sz="3200" dirty="0" smtClean="0"/>
              <a:t> </a:t>
            </a:r>
            <a:r>
              <a:rPr lang="en-US" altLang="en-US" sz="3200" dirty="0" err="1" smtClean="0"/>
              <a:t>toán</a:t>
            </a:r>
            <a:r>
              <a:rPr lang="en-US" altLang="en-US" sz="3200" dirty="0" smtClean="0"/>
              <a:t> TSP</a:t>
            </a:r>
            <a:r>
              <a:rPr lang="en-US" altLang="en-US" sz="3200" dirty="0"/>
              <a:t/>
            </a:r>
            <a:br>
              <a:rPr lang="en-US" altLang="en-US" sz="3200" dirty="0"/>
            </a:br>
            <a:endParaRPr lang="en-US" sz="3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174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1E0236-40DC-43A6-B565-9E50C49D69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1600200"/>
                <a:ext cx="8458200" cy="5257800"/>
              </a:xfrm>
            </p:spPr>
            <p:txBody>
              <a:bodyPr>
                <a:normAutofit/>
              </a:bodyPr>
              <a:lstStyle/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800" dirty="0"/>
                  <a:t>Bài </a:t>
                </a:r>
                <a:r>
                  <a:rPr lang="en-US" altLang="en-US" sz="2800" dirty="0" err="1"/>
                  <a:t>toán</a:t>
                </a:r>
                <a:r>
                  <a:rPr lang="en-US" altLang="en-US" sz="2800" dirty="0"/>
                  <a:t> TSP 9 </a:t>
                </a:r>
                <a:r>
                  <a:rPr lang="en-US" altLang="en-US" sz="2800" dirty="0" err="1"/>
                  <a:t>thành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phố</a:t>
                </a:r>
                <a:r>
                  <a:rPr lang="en-US" altLang="en-US" sz="2800" dirty="0"/>
                  <a:t>:</a:t>
                </a:r>
              </a:p>
              <a:p>
                <a:pPr lvl="1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400" dirty="0" err="1"/>
                  <a:t>Đồ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thị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đầy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đủ</a:t>
                </a: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𝐺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𝑉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,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𝐸</m:t>
                        </m:r>
                      </m:e>
                    </m:d>
                    <m:r>
                      <a:rPr lang="en-US" altLang="en-US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𝑉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1, 2, 3, 4, 5, 6, 7, 8, 9</m:t>
                        </m:r>
                      </m:e>
                    </m:d>
                  </m:oMath>
                </a14:m>
                <a:endParaRPr lang="en-US" altLang="en-US" sz="2400" b="0" dirty="0"/>
              </a:p>
              <a:p>
                <a:pPr lvl="1"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400" dirty="0"/>
                  <a:t>Ma </a:t>
                </a:r>
                <a:r>
                  <a:rPr lang="en-US" altLang="en-US" sz="2400" dirty="0" err="1"/>
                  <a:t>trận</a:t>
                </a:r>
                <a:r>
                  <a:rPr lang="en-US" altLang="en-US" sz="2400" dirty="0"/>
                  <a:t> chi </a:t>
                </a:r>
                <a:r>
                  <a:rPr lang="en-US" altLang="en-US" sz="2400" dirty="0" err="1"/>
                  <a:t>phí</a:t>
                </a: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</m:e>
                      <m:sub>
                        <m:r>
                          <a:rPr lang="en-US" altLang="en-US" sz="2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9×9</m:t>
                        </m:r>
                      </m:sub>
                    </m:sSub>
                  </m:oMath>
                </a14:m>
                <a:r>
                  <a:rPr lang="en-US" altLang="en-US" sz="2400" dirty="0"/>
                  <a:t> (</a:t>
                </a:r>
                <a:r>
                  <a:rPr lang="en-US" altLang="en-US" sz="2400" dirty="0" err="1"/>
                  <a:t>coi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chỉ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số</a:t>
                </a:r>
                <a:r>
                  <a:rPr lang="en-US" altLang="en-US" sz="2400" dirty="0"/>
                  <a:t> ma </a:t>
                </a:r>
                <a:r>
                  <a:rPr lang="en-US" altLang="en-US" sz="2400" dirty="0" err="1"/>
                  <a:t>trận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bắt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đầu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từ</a:t>
                </a:r>
                <a:r>
                  <a:rPr lang="en-US" altLang="en-US" sz="2400" dirty="0"/>
                  <a:t> 1).</a:t>
                </a:r>
              </a:p>
              <a:p>
                <a:pPr lvl="1"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400" dirty="0" err="1"/>
                  <a:t>Tìm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chu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trình</a:t>
                </a:r>
                <a:r>
                  <a:rPr lang="en-US" altLang="en-US" sz="2400" dirty="0"/>
                  <a:t> T </a:t>
                </a:r>
                <a:r>
                  <a:rPr lang="en-US" altLang="en-US" sz="2400" dirty="0" err="1"/>
                  <a:t>đi</a:t>
                </a:r>
                <a:r>
                  <a:rPr lang="en-US" altLang="en-US" sz="2400" dirty="0"/>
                  <a:t> qua </a:t>
                </a:r>
                <a:r>
                  <a:rPr lang="en-US" altLang="en-US" sz="2400" dirty="0" err="1"/>
                  <a:t>tất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cả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các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thành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phố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sao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cho</a:t>
                </a:r>
                <a:r>
                  <a:rPr lang="en-US" altLang="en-US" sz="2400" dirty="0"/>
                  <a:t> chi </a:t>
                </a:r>
                <a:r>
                  <a:rPr lang="en-US" altLang="en-US" sz="2400" dirty="0" err="1"/>
                  <a:t>phí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đi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lại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là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nhỏ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nhất</a:t>
                </a:r>
                <a:r>
                  <a:rPr lang="en-US" altLang="en-US" sz="2400" dirty="0"/>
                  <a:t>.</a:t>
                </a:r>
              </a:p>
              <a:p>
                <a:pPr marL="365760" lvl="1" indent="0" algn="just"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lang="en-US" altLang="en-US" sz="2400" dirty="0">
                    <a:sym typeface="Wingdings" panose="05000000000000000000" pitchFamily="2" charset="2"/>
                  </a:rPr>
                  <a:t> </a:t>
                </a:r>
                <a:r>
                  <a:rPr lang="en-US" altLang="en-US" sz="2400" dirty="0" err="1">
                    <a:sym typeface="Wingdings" panose="05000000000000000000" pitchFamily="2" charset="2"/>
                  </a:rPr>
                  <a:t>Sử</a:t>
                </a:r>
                <a:r>
                  <a:rPr lang="en-US" altLang="en-US" sz="2400" dirty="0">
                    <a:sym typeface="Wingdings" panose="05000000000000000000" pitchFamily="2" charset="2"/>
                  </a:rPr>
                  <a:t> </a:t>
                </a:r>
                <a:r>
                  <a:rPr lang="en-US" altLang="en-US" sz="2400" dirty="0" err="1">
                    <a:sym typeface="Wingdings" panose="05000000000000000000" pitchFamily="2" charset="2"/>
                  </a:rPr>
                  <a:t>dụng</a:t>
                </a:r>
                <a:r>
                  <a:rPr lang="en-US" altLang="en-US" sz="2400" dirty="0">
                    <a:sym typeface="Wingdings" panose="05000000000000000000" pitchFamily="2" charset="2"/>
                  </a:rPr>
                  <a:t> </a:t>
                </a:r>
                <a:r>
                  <a:rPr lang="en-US" altLang="en-US" sz="2400" dirty="0" err="1">
                    <a:sym typeface="Wingdings" panose="05000000000000000000" pitchFamily="2" charset="2"/>
                  </a:rPr>
                  <a:t>giải</a:t>
                </a:r>
                <a:r>
                  <a:rPr lang="en-US" altLang="en-US" sz="2400" dirty="0">
                    <a:sym typeface="Wingdings" panose="05000000000000000000" pitchFamily="2" charset="2"/>
                  </a:rPr>
                  <a:t> </a:t>
                </a:r>
                <a:r>
                  <a:rPr lang="en-US" altLang="en-US" sz="2400" dirty="0" err="1">
                    <a:sym typeface="Wingdings" panose="05000000000000000000" pitchFamily="2" charset="2"/>
                  </a:rPr>
                  <a:t>thuật</a:t>
                </a:r>
                <a:r>
                  <a:rPr lang="en-US" altLang="en-US" sz="2400" dirty="0">
                    <a:sym typeface="Wingdings" panose="05000000000000000000" pitchFamily="2" charset="2"/>
                  </a:rPr>
                  <a:t> GA </a:t>
                </a:r>
                <a:r>
                  <a:rPr lang="en-US" altLang="en-US" sz="2400" dirty="0" err="1">
                    <a:sym typeface="Wingdings" panose="05000000000000000000" pitchFamily="2" charset="2"/>
                  </a:rPr>
                  <a:t>để</a:t>
                </a:r>
                <a:r>
                  <a:rPr lang="en-US" altLang="en-US" sz="2400" dirty="0">
                    <a:sym typeface="Wingdings" panose="05000000000000000000" pitchFamily="2" charset="2"/>
                  </a:rPr>
                  <a:t> </a:t>
                </a:r>
                <a:r>
                  <a:rPr lang="en-US" altLang="en-US" sz="2400" dirty="0" err="1">
                    <a:sym typeface="Wingdings" panose="05000000000000000000" pitchFamily="2" charset="2"/>
                  </a:rPr>
                  <a:t>giải</a:t>
                </a:r>
                <a:endParaRPr lang="en-US" altLang="en-US" sz="2400" dirty="0"/>
              </a:p>
              <a:p>
                <a:pPr marL="365760" lvl="1" indent="0" algn="just"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en-US" altLang="en-US" sz="2400" dirty="0"/>
              </a:p>
              <a:p>
                <a:pPr marL="365760" lvl="1" indent="0" algn="just"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en-US" altLang="en-US" sz="2400" dirty="0"/>
              </a:p>
              <a:p>
                <a:pPr marL="365760" lvl="1" indent="0" algn="ctr">
                  <a:spcBef>
                    <a:spcPts val="300"/>
                  </a:spcBef>
                  <a:spcAft>
                    <a:spcPts val="3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</m:e>
                      <m:sub>
                        <m:r>
                          <a:rPr lang="en-US" altLang="en-US" sz="2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9×9</m:t>
                        </m:r>
                      </m:sub>
                    </m:sSub>
                  </m:oMath>
                </a14:m>
                <a:r>
                  <a:rPr lang="en-US" altLang="en-US" sz="2400" dirty="0"/>
                  <a:t> = </a:t>
                </a:r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endParaRPr lang="en-US" sz="2400" dirty="0"/>
              </a:p>
              <a:p>
                <a:pPr lvl="1" algn="just">
                  <a:spcBef>
                    <a:spcPts val="300"/>
                  </a:spcBef>
                  <a:spcAft>
                    <a:spcPts val="300"/>
                  </a:spcAft>
                  <a:buClr>
                    <a:srgbClr val="FF0000"/>
                  </a:buClr>
                  <a:buFont typeface="Wingdings" panose="05000000000000000000" pitchFamily="2" charset="2"/>
                  <a:buChar char="§"/>
                </a:pPr>
                <a:endParaRPr lang="en-US" altLang="en-US" dirty="0"/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endParaRPr lang="en-US" altLang="en-US" dirty="0"/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endParaRPr lang="en-US" altLang="en-US" dirty="0"/>
              </a:p>
              <a:p>
                <a:pPr marL="0" indent="0" algn="just"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en-US" altLang="en-US" sz="2800" dirty="0"/>
              </a:p>
              <a:p>
                <a:pPr marL="0" indent="0" algn="just"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en-US" alt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1E0236-40DC-43A6-B565-9E50C49D69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600200"/>
                <a:ext cx="8458200" cy="5257800"/>
              </a:xfrm>
              <a:blipFill>
                <a:blip r:embed="rId2"/>
                <a:stretch>
                  <a:fillRect l="-1298" t="-2088" r="-1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23438"/>
              </p:ext>
            </p:extLst>
          </p:nvPr>
        </p:nvGraphicFramePr>
        <p:xfrm>
          <a:off x="5486403" y="3352800"/>
          <a:ext cx="3352797" cy="3048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5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25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25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5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25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25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25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25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27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22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24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24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22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27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24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24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23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28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28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27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21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29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30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25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29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29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23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24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25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29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29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22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77372" marR="77372" marT="38686" marB="386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TSP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505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1E0236-40DC-43A6-B565-9E50C49D69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1600200"/>
                <a:ext cx="8534400" cy="5257800"/>
              </a:xfrm>
            </p:spPr>
            <p:txBody>
              <a:bodyPr>
                <a:normAutofit/>
              </a:bodyPr>
              <a:lstStyle/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800" dirty="0" err="1"/>
                  <a:t>Biểu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diễn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thể</a:t>
                </a:r>
                <a:r>
                  <a:rPr lang="en-US" altLang="en-US" sz="2800" dirty="0"/>
                  <a:t>: </a:t>
                </a:r>
                <a:r>
                  <a:rPr lang="en-US" altLang="en-US" sz="2800" dirty="0" err="1"/>
                  <a:t>sử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dụng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hóa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hoán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vị</a:t>
                </a:r>
                <a:r>
                  <a:rPr lang="en-US" altLang="en-US" sz="2800" dirty="0"/>
                  <a:t>. </a:t>
                </a:r>
                <a:r>
                  <a:rPr lang="en-US" altLang="en-US" sz="2800" dirty="0" err="1"/>
                  <a:t>Mỗi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thể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hoán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vị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9 </a:t>
                </a:r>
                <a:r>
                  <a:rPr lang="en-US" altLang="en-US" sz="2800" dirty="0" err="1"/>
                  <a:t>phần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tử</a:t>
                </a:r>
                <a:r>
                  <a:rPr lang="en-US" altLang="en-US" sz="2800" dirty="0"/>
                  <a:t>. </a:t>
                </a:r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endParaRPr lang="en-US" altLang="en-US" sz="2800" dirty="0"/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endParaRPr lang="en-US" altLang="en-US" sz="2800" dirty="0"/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800" dirty="0" err="1"/>
                  <a:t>Giá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trị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phần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tử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thứ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r>
                      <a:rPr lang="vi-VN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thành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phố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được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thăm</a:t>
                </a:r>
                <a:r>
                  <a:rPr lang="en-US" altLang="en-US" sz="2800" dirty="0"/>
                  <a:t>, </a:t>
                </a:r>
                <a14:m>
                  <m:oMath xmlns:m="http://schemas.openxmlformats.org/officeDocument/2006/math">
                    <m:r>
                      <a:rPr lang="vi-VN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thứ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tự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thăm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thành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phố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chu </a:t>
                </a:r>
                <a:r>
                  <a:rPr lang="en-US" altLang="en-US" sz="2800" dirty="0" err="1"/>
                  <a:t>trình</a:t>
                </a:r>
                <a:r>
                  <a:rPr lang="en-US" altLang="en-US" sz="28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1E0236-40DC-43A6-B565-9E50C49D69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600200"/>
                <a:ext cx="8534400" cy="5257800"/>
              </a:xfrm>
              <a:blipFill>
                <a:blip r:embed="rId2"/>
                <a:stretch>
                  <a:fillRect l="-1286" t="-2088"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2563749" y="2590800"/>
            <a:ext cx="4629150" cy="533400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 err="1" smtClean="0">
                <a:solidFill>
                  <a:srgbClr val="0070C0"/>
                </a:solidFill>
              </a:rPr>
              <a:t>Mã</a:t>
            </a:r>
            <a:r>
              <a:rPr lang="en-US" sz="3000" dirty="0" smtClean="0">
                <a:solidFill>
                  <a:srgbClr val="0070C0"/>
                </a:solidFill>
              </a:rPr>
              <a:t> </a:t>
            </a:r>
            <a:r>
              <a:rPr lang="en-US" sz="3000" dirty="0" err="1" smtClean="0">
                <a:solidFill>
                  <a:srgbClr val="0070C0"/>
                </a:solidFill>
              </a:rPr>
              <a:t>hoá</a:t>
            </a:r>
            <a:r>
              <a:rPr lang="en-US" sz="3000" dirty="0" smtClean="0">
                <a:solidFill>
                  <a:srgbClr val="0070C0"/>
                </a:solidFill>
              </a:rPr>
              <a:t> </a:t>
            </a:r>
            <a:r>
              <a:rPr lang="en-US" sz="3000" dirty="0" err="1" smtClean="0">
                <a:solidFill>
                  <a:srgbClr val="0070C0"/>
                </a:solidFill>
              </a:rPr>
              <a:t>cá</a:t>
            </a:r>
            <a:r>
              <a:rPr lang="en-US" sz="3000" dirty="0" smtClean="0">
                <a:solidFill>
                  <a:srgbClr val="0070C0"/>
                </a:solidFill>
              </a:rPr>
              <a:t> </a:t>
            </a:r>
            <a:r>
              <a:rPr lang="en-US" sz="3000" dirty="0" err="1" smtClean="0">
                <a:solidFill>
                  <a:srgbClr val="0070C0"/>
                </a:solidFill>
              </a:rPr>
              <a:t>thể</a:t>
            </a:r>
            <a:endParaRPr lang="en-US" sz="3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890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E0236-40DC-43A6-B565-9E50C49D6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0200"/>
            <a:ext cx="8534400" cy="5257800"/>
          </a:xfrm>
        </p:spPr>
        <p:txBody>
          <a:bodyPr>
            <a:norm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altLang="en-US" sz="2800" dirty="0" err="1"/>
              <a:t>Quá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minh </a:t>
            </a:r>
            <a:r>
              <a:rPr lang="en-US" altLang="en-US" sz="2800" dirty="0" err="1"/>
              <a:t>họa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sau</a:t>
            </a:r>
            <a:r>
              <a:rPr lang="en-US" altLang="en-US" sz="2800" dirty="0"/>
              <a:t>: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endParaRPr lang="en-US" altLang="en-US" sz="2800" dirty="0"/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endParaRPr lang="en-US" altLang="en-US" sz="2800" dirty="0"/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endParaRPr lang="en-US" altLang="en-US" sz="2800" dirty="0"/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endParaRPr lang="en-US" altLang="en-US" sz="2800" dirty="0"/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endParaRPr lang="en-US" altLang="en-US" sz="2800" dirty="0"/>
          </a:p>
          <a:p>
            <a:pPr marL="0" indent="0" algn="just">
              <a:spcBef>
                <a:spcPts val="300"/>
              </a:spcBef>
              <a:spcAft>
                <a:spcPts val="300"/>
              </a:spcAft>
              <a:buNone/>
            </a:pPr>
            <a:endParaRPr lang="en-US" altLang="en-US" sz="2800" dirty="0"/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altLang="en-US" sz="2800" dirty="0"/>
              <a:t> </a:t>
            </a:r>
            <a:r>
              <a:rPr lang="en-US" altLang="en-US" sz="2800" dirty="0" err="1"/>
              <a:t>Duyệt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từ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trái</a:t>
            </a:r>
            <a:r>
              <a:rPr lang="en-US" altLang="en-US" sz="2800" dirty="0"/>
              <a:t> qua </a:t>
            </a:r>
            <a:r>
              <a:rPr lang="en-US" altLang="en-US" sz="2800" dirty="0" err="1"/>
              <a:t>phải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mảng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vi-VN" altLang="en-US" sz="2800" dirty="0" err="1"/>
              <a:t>phần</a:t>
            </a:r>
            <a:r>
              <a:rPr lang="vi-VN" altLang="en-US" sz="2800" dirty="0"/>
              <a:t> </a:t>
            </a:r>
            <a:r>
              <a:rPr lang="vi-VN" altLang="en-US" sz="2800" dirty="0" err="1"/>
              <a:t>tử</a:t>
            </a:r>
            <a:r>
              <a:rPr lang="vi-VN" altLang="en-US" sz="2800" dirty="0"/>
              <a:t> đang </a:t>
            </a:r>
            <a:r>
              <a:rPr lang="vi-VN" altLang="en-US" sz="2800" dirty="0" err="1"/>
              <a:t>xét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nhãn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thăm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thứ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thăm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chỉ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vi-VN" altLang="en-US" sz="2800" dirty="0"/>
              <a:t>phần tử trong </a:t>
            </a:r>
            <a:r>
              <a:rPr lang="vi-VN" altLang="en-US" sz="2800" dirty="0" smtClean="0"/>
              <a:t>mảng </a:t>
            </a:r>
            <a:r>
              <a:rPr lang="en-US" altLang="en-US" sz="2800" dirty="0" smtClean="0"/>
              <a:t>+ 1.</a:t>
            </a:r>
            <a:endParaRPr lang="en-US" altLang="en-US" sz="2800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295400" y="2057400"/>
            <a:ext cx="6324600" cy="27432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 err="1" smtClean="0">
                <a:solidFill>
                  <a:srgbClr val="0070C0"/>
                </a:solidFill>
              </a:rPr>
              <a:t>Giải</a:t>
            </a:r>
            <a:r>
              <a:rPr lang="en-US" sz="3000" dirty="0" smtClean="0">
                <a:solidFill>
                  <a:srgbClr val="0070C0"/>
                </a:solidFill>
              </a:rPr>
              <a:t> </a:t>
            </a:r>
            <a:r>
              <a:rPr lang="en-US" sz="3000" dirty="0" err="1" smtClean="0">
                <a:solidFill>
                  <a:srgbClr val="0070C0"/>
                </a:solidFill>
              </a:rPr>
              <a:t>mã</a:t>
            </a:r>
            <a:r>
              <a:rPr lang="en-US" sz="3000" dirty="0" smtClean="0">
                <a:solidFill>
                  <a:srgbClr val="0070C0"/>
                </a:solidFill>
              </a:rPr>
              <a:t> </a:t>
            </a:r>
            <a:r>
              <a:rPr lang="en-US" sz="3000" dirty="0" err="1" smtClean="0">
                <a:solidFill>
                  <a:srgbClr val="0070C0"/>
                </a:solidFill>
              </a:rPr>
              <a:t>cá</a:t>
            </a:r>
            <a:r>
              <a:rPr lang="en-US" sz="3000" dirty="0" smtClean="0">
                <a:solidFill>
                  <a:srgbClr val="0070C0"/>
                </a:solidFill>
              </a:rPr>
              <a:t> </a:t>
            </a:r>
            <a:r>
              <a:rPr lang="en-US" sz="3000" dirty="0" err="1">
                <a:solidFill>
                  <a:srgbClr val="0070C0"/>
                </a:solidFill>
              </a:rPr>
              <a:t>thể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046152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E0236-40DC-43A6-B565-9E50C49D6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0200"/>
            <a:ext cx="8534400" cy="4953000"/>
          </a:xfrm>
        </p:spPr>
        <p:txBody>
          <a:bodyPr>
            <a:norm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altLang="en-US" sz="2800" dirty="0" err="1"/>
              <a:t>Sử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lai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trình</a:t>
            </a:r>
            <a:r>
              <a:rPr lang="en-US" altLang="en-US" sz="2800" dirty="0"/>
              <a:t>: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endParaRPr lang="en-US" altLang="en-US" sz="2800" dirty="0"/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endParaRPr lang="en-US" altLang="en-US" sz="2800" dirty="0"/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endParaRPr lang="en-US" altLang="en-US" sz="2800" dirty="0"/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endParaRPr lang="en-US" altLang="en-US" sz="2800" dirty="0"/>
          </a:p>
          <a:p>
            <a:pPr marL="0" indent="0" algn="just">
              <a:spcBef>
                <a:spcPts val="300"/>
              </a:spcBef>
              <a:spcAft>
                <a:spcPts val="300"/>
              </a:spcAft>
              <a:buNone/>
            </a:pPr>
            <a:endParaRPr lang="en-US" altLang="en-US" sz="2800" dirty="0"/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altLang="en-US" sz="2800" dirty="0" err="1"/>
              <a:t>Hình</a:t>
            </a:r>
            <a:r>
              <a:rPr lang="en-US" altLang="en-US" sz="2800" dirty="0"/>
              <a:t> (a),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4 </a:t>
            </a:r>
            <a:r>
              <a:rPr lang="en-US" altLang="en-US" sz="2800" dirty="0" err="1"/>
              <a:t>chu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tìm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từ</a:t>
            </a:r>
            <a:r>
              <a:rPr lang="en-US" altLang="en-US" sz="2800" dirty="0"/>
              <a:t> 2 </a:t>
            </a:r>
            <a:r>
              <a:rPr lang="en-US" altLang="en-US" sz="2800" dirty="0" err="1"/>
              <a:t>cá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cha </a:t>
            </a:r>
            <a:r>
              <a:rPr lang="en-US" altLang="en-US" sz="2800" dirty="0" err="1"/>
              <a:t>mẹ</a:t>
            </a:r>
            <a:r>
              <a:rPr lang="en-US" altLang="en-US" sz="2800" dirty="0"/>
              <a:t> (</a:t>
            </a:r>
            <a:r>
              <a:rPr lang="en-US" altLang="en-US" sz="2800" dirty="0" err="1"/>
              <a:t>màu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đỏ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tím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xanh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dương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xanh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lá</a:t>
            </a:r>
            <a:r>
              <a:rPr lang="en-US" altLang="en-US" sz="2800" dirty="0"/>
              <a:t>).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altLang="en-US" sz="2800" dirty="0" err="1"/>
              <a:t>Hình</a:t>
            </a:r>
            <a:r>
              <a:rPr lang="en-US" altLang="en-US" sz="2800" dirty="0"/>
              <a:t> (b), 2 </a:t>
            </a:r>
            <a:r>
              <a:rPr lang="en-US" altLang="en-US" sz="2800" dirty="0" err="1"/>
              <a:t>cá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con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tạo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từ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việc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đảo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từ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cha </a:t>
            </a:r>
            <a:r>
              <a:rPr lang="en-US" altLang="en-US" sz="2800" dirty="0" err="1"/>
              <a:t>mẹ</a:t>
            </a:r>
            <a:r>
              <a:rPr lang="en-US" altLang="en-US" sz="2800" dirty="0"/>
              <a:t>.</a:t>
            </a: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066800" y="2514600"/>
            <a:ext cx="7162800" cy="16764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 smtClean="0">
                <a:solidFill>
                  <a:srgbClr val="0070C0"/>
                </a:solidFill>
              </a:rPr>
              <a:t>Lai </a:t>
            </a:r>
            <a:r>
              <a:rPr lang="en-US" sz="3000" dirty="0" err="1" smtClean="0">
                <a:solidFill>
                  <a:srgbClr val="0070C0"/>
                </a:solidFill>
              </a:rPr>
              <a:t>ghép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942800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E0236-40DC-43A6-B565-9E50C49D6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0200"/>
            <a:ext cx="8534400" cy="5257800"/>
          </a:xfrm>
        </p:spPr>
        <p:txBody>
          <a:bodyPr>
            <a:norm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altLang="en-US" sz="2800" dirty="0" err="1"/>
              <a:t>Sử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2 </a:t>
            </a:r>
            <a:r>
              <a:rPr lang="en-US" altLang="en-US" sz="2800" dirty="0" err="1"/>
              <a:t>điểm</a:t>
            </a:r>
            <a:r>
              <a:rPr lang="en-US" altLang="en-US" sz="2800" dirty="0"/>
              <a:t>: </a:t>
            </a:r>
            <a:r>
              <a:rPr lang="en-US" altLang="en-US" sz="2800" dirty="0" err="1"/>
              <a:t>Lựa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chọn</a:t>
            </a:r>
            <a:r>
              <a:rPr lang="en-US" altLang="en-US" sz="2800" dirty="0"/>
              <a:t> 2 </a:t>
            </a:r>
            <a:r>
              <a:rPr lang="en-US" altLang="en-US" sz="2800" dirty="0" err="1"/>
              <a:t>vị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cha, </a:t>
            </a:r>
            <a:r>
              <a:rPr lang="en-US" altLang="en-US" sz="2800" dirty="0" err="1"/>
              <a:t>đổi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chỗ</a:t>
            </a:r>
            <a:r>
              <a:rPr lang="en-US" altLang="en-US" sz="2800" dirty="0"/>
              <a:t> 2 </a:t>
            </a:r>
            <a:r>
              <a:rPr lang="en-US" altLang="en-US" sz="2800" dirty="0" err="1"/>
              <a:t>vị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nhau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con.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altLang="en-US" sz="2800" dirty="0"/>
              <a:t>Minh </a:t>
            </a:r>
            <a:r>
              <a:rPr lang="en-US" altLang="en-US" sz="2800" dirty="0" err="1"/>
              <a:t>họa</a:t>
            </a:r>
            <a:r>
              <a:rPr lang="en-US" altLang="en-US" sz="2800" dirty="0"/>
              <a:t>:</a:t>
            </a:r>
          </a:p>
          <a:p>
            <a:pPr marL="0" indent="0" algn="just">
              <a:spcBef>
                <a:spcPts val="300"/>
              </a:spcBef>
              <a:spcAft>
                <a:spcPts val="300"/>
              </a:spcAft>
              <a:buNone/>
            </a:pPr>
            <a:endParaRPr lang="en-US" alt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581400"/>
            <a:ext cx="5181600" cy="1769509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 smtClean="0">
                <a:solidFill>
                  <a:srgbClr val="0070C0"/>
                </a:solidFill>
              </a:rPr>
              <a:t>Đột</a:t>
            </a:r>
            <a:r>
              <a:rPr lang="en-US" sz="3000" dirty="0" smtClean="0">
                <a:solidFill>
                  <a:srgbClr val="0070C0"/>
                </a:solidFill>
              </a:rPr>
              <a:t> </a:t>
            </a:r>
            <a:r>
              <a:rPr lang="en-US" sz="3000" dirty="0" err="1" smtClean="0">
                <a:solidFill>
                  <a:srgbClr val="0070C0"/>
                </a:solidFill>
              </a:rPr>
              <a:t>biến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316387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E0236-40DC-43A6-B565-9E50C49D6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0200"/>
            <a:ext cx="8229600" cy="5257800"/>
          </a:xfrm>
        </p:spPr>
        <p:txBody>
          <a:bodyPr>
            <a:norm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altLang="en-US" sz="2800" dirty="0" err="1"/>
              <a:t>Chọc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lọc</a:t>
            </a:r>
            <a:r>
              <a:rPr lang="en-US" altLang="en-US" sz="2800" dirty="0"/>
              <a:t> cha </a:t>
            </a:r>
            <a:r>
              <a:rPr lang="en-US" altLang="en-US" sz="2800" dirty="0" err="1"/>
              <a:t>mẹ</a:t>
            </a:r>
            <a:r>
              <a:rPr lang="en-US" altLang="en-US" sz="2800" dirty="0"/>
              <a:t>: </a:t>
            </a:r>
            <a:r>
              <a:rPr lang="en-US" altLang="en-US" sz="2800" dirty="0" err="1"/>
              <a:t>sử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pháp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chọn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lọc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đấu</a:t>
            </a:r>
            <a:r>
              <a:rPr lang="en-US" altLang="en-US" sz="2800" dirty="0"/>
              <a:t> (</a:t>
            </a:r>
            <a:r>
              <a:rPr lang="en-US" altLang="en-US" sz="2800" i="1" dirty="0"/>
              <a:t>tournament</a:t>
            </a:r>
            <a:r>
              <a:rPr lang="en-US" altLang="en-US" sz="2800" dirty="0"/>
              <a:t>).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altLang="en-US" sz="2800" dirty="0" err="1"/>
              <a:t>Chọn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lọc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thế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hệ</a:t>
            </a:r>
            <a:r>
              <a:rPr lang="en-US" altLang="en-US" sz="2800" dirty="0"/>
              <a:t>: </a:t>
            </a:r>
            <a:r>
              <a:rPr lang="en-US" altLang="en-US" sz="2800" dirty="0" err="1"/>
              <a:t>sử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pháp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chọn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lọc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tốt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nhất</a:t>
            </a:r>
            <a:r>
              <a:rPr lang="en-US" altLang="en-US" sz="2800" dirty="0"/>
              <a:t> (</a:t>
            </a:r>
            <a:r>
              <a:rPr lang="en-US" altLang="en-US" sz="2800" i="1" dirty="0"/>
              <a:t>elitism)</a:t>
            </a:r>
            <a:r>
              <a:rPr lang="en-US" altLang="en-US" sz="2800" dirty="0"/>
              <a:t> (</a:t>
            </a:r>
            <a:r>
              <a:rPr lang="en-US" altLang="en-US" sz="2800" dirty="0" err="1"/>
              <a:t>chọn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tốt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tồn</a:t>
            </a:r>
            <a:r>
              <a:rPr lang="en-US" altLang="en-US" sz="2800" dirty="0"/>
              <a:t> ở </a:t>
            </a:r>
            <a:r>
              <a:rPr lang="en-US" altLang="en-US" sz="2800" dirty="0" err="1"/>
              <a:t>thế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hệ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tiếp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theo</a:t>
            </a:r>
            <a:r>
              <a:rPr lang="en-US" altLang="en-US" sz="2800" dirty="0"/>
              <a:t>).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 err="1" smtClean="0">
                <a:solidFill>
                  <a:srgbClr val="0070C0"/>
                </a:solidFill>
              </a:rPr>
              <a:t>Chọn</a:t>
            </a:r>
            <a:r>
              <a:rPr lang="en-US" sz="3000" dirty="0" smtClean="0">
                <a:solidFill>
                  <a:srgbClr val="0070C0"/>
                </a:solidFill>
              </a:rPr>
              <a:t> </a:t>
            </a:r>
            <a:r>
              <a:rPr lang="en-US" sz="3000" dirty="0" err="1" smtClean="0">
                <a:solidFill>
                  <a:srgbClr val="0070C0"/>
                </a:solidFill>
              </a:rPr>
              <a:t>lọc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412266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E0236-40DC-43A6-B565-9E50C49D6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0200"/>
            <a:ext cx="8229600" cy="5257800"/>
          </a:xfrm>
        </p:spPr>
        <p:txBody>
          <a:bodyPr>
            <a:norm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altLang="en-US" sz="2600" dirty="0" err="1"/>
              <a:t>Kích</a:t>
            </a:r>
            <a:r>
              <a:rPr lang="en-US" altLang="en-US" sz="2600" dirty="0"/>
              <a:t> </a:t>
            </a:r>
            <a:r>
              <a:rPr lang="en-US" altLang="en-US" sz="2600" dirty="0" err="1"/>
              <a:t>thước</a:t>
            </a:r>
            <a:r>
              <a:rPr lang="en-US" altLang="en-US" sz="2600" dirty="0"/>
              <a:t> </a:t>
            </a:r>
            <a:r>
              <a:rPr lang="en-US" altLang="en-US" sz="2600" dirty="0" err="1"/>
              <a:t>quần</a:t>
            </a:r>
            <a:r>
              <a:rPr lang="en-US" altLang="en-US" sz="2600" dirty="0"/>
              <a:t> </a:t>
            </a:r>
            <a:r>
              <a:rPr lang="en-US" altLang="en-US" sz="2600" dirty="0" err="1"/>
              <a:t>thể</a:t>
            </a:r>
            <a:r>
              <a:rPr lang="en-US" altLang="en-US" sz="2600" dirty="0"/>
              <a:t>: </a:t>
            </a:r>
            <a:r>
              <a:rPr lang="en-US" altLang="en-US" sz="2600" i="1" dirty="0"/>
              <a:t>N </a:t>
            </a:r>
            <a:r>
              <a:rPr lang="en-US" altLang="en-US" sz="2600" dirty="0"/>
              <a:t>= 10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altLang="en-US" sz="2600" dirty="0" err="1"/>
              <a:t>Số</a:t>
            </a:r>
            <a:r>
              <a:rPr lang="en-US" altLang="en-US" sz="2600" dirty="0"/>
              <a:t> </a:t>
            </a:r>
            <a:r>
              <a:rPr lang="en-US" altLang="en-US" sz="2600" dirty="0" err="1"/>
              <a:t>thế</a:t>
            </a:r>
            <a:r>
              <a:rPr lang="en-US" altLang="en-US" sz="2600" dirty="0"/>
              <a:t> </a:t>
            </a:r>
            <a:r>
              <a:rPr lang="en-US" altLang="en-US" sz="2600" dirty="0" err="1"/>
              <a:t>hệ</a:t>
            </a:r>
            <a:r>
              <a:rPr lang="en-US" altLang="en-US" sz="2600" dirty="0"/>
              <a:t>: </a:t>
            </a:r>
            <a:r>
              <a:rPr lang="en-US" altLang="en-US" sz="2600" i="1" dirty="0"/>
              <a:t>generation</a:t>
            </a:r>
            <a:r>
              <a:rPr lang="en-US" altLang="en-US" sz="2600" dirty="0"/>
              <a:t> = 100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altLang="en-US" sz="2600" dirty="0" err="1"/>
              <a:t>Xác</a:t>
            </a:r>
            <a:r>
              <a:rPr lang="en-US" altLang="en-US" sz="2600" dirty="0"/>
              <a:t> </a:t>
            </a:r>
            <a:r>
              <a:rPr lang="en-US" altLang="en-US" sz="2600" dirty="0" err="1"/>
              <a:t>suất</a:t>
            </a:r>
            <a:r>
              <a:rPr lang="en-US" altLang="en-US" sz="2600" dirty="0"/>
              <a:t> </a:t>
            </a:r>
            <a:r>
              <a:rPr lang="en-US" altLang="en-US" sz="2600" dirty="0" err="1"/>
              <a:t>lai</a:t>
            </a:r>
            <a:r>
              <a:rPr lang="en-US" altLang="en-US" sz="2600" dirty="0"/>
              <a:t> </a:t>
            </a:r>
            <a:r>
              <a:rPr lang="en-US" altLang="en-US" sz="2600" dirty="0" err="1"/>
              <a:t>ghép</a:t>
            </a:r>
            <a:r>
              <a:rPr lang="en-US" altLang="en-US" sz="2600" dirty="0"/>
              <a:t>: </a:t>
            </a:r>
            <a:r>
              <a:rPr lang="en-US" altLang="en-US" sz="2600" i="1" dirty="0"/>
              <a:t>p</a:t>
            </a:r>
            <a:r>
              <a:rPr lang="en-US" altLang="en-US" sz="2600" i="1" baseline="-25000" dirty="0"/>
              <a:t>c</a:t>
            </a:r>
            <a:r>
              <a:rPr lang="en-US" altLang="en-US" sz="2600" dirty="0"/>
              <a:t> = 0.7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altLang="en-US" sz="2600" dirty="0" err="1"/>
              <a:t>Xác</a:t>
            </a:r>
            <a:r>
              <a:rPr lang="en-US" altLang="en-US" sz="2600" dirty="0"/>
              <a:t> </a:t>
            </a:r>
            <a:r>
              <a:rPr lang="en-US" altLang="en-US" sz="2600" dirty="0" err="1"/>
              <a:t>suất</a:t>
            </a:r>
            <a:r>
              <a:rPr lang="en-US" altLang="en-US" sz="2600" dirty="0"/>
              <a:t> </a:t>
            </a:r>
            <a:r>
              <a:rPr lang="en-US" altLang="en-US" sz="2600" dirty="0" err="1"/>
              <a:t>đột</a:t>
            </a:r>
            <a:r>
              <a:rPr lang="en-US" altLang="en-US" sz="2600" dirty="0"/>
              <a:t> </a:t>
            </a:r>
            <a:r>
              <a:rPr lang="en-US" altLang="en-US" sz="2600" dirty="0" err="1"/>
              <a:t>biến</a:t>
            </a:r>
            <a:r>
              <a:rPr lang="en-US" altLang="en-US" sz="2600" dirty="0"/>
              <a:t> : </a:t>
            </a:r>
            <a:r>
              <a:rPr lang="en-US" altLang="en-US" sz="2600" i="1" dirty="0"/>
              <a:t>p</a:t>
            </a:r>
            <a:r>
              <a:rPr lang="en-US" altLang="en-US" sz="2600" i="1" baseline="-25000" dirty="0"/>
              <a:t>m</a:t>
            </a:r>
            <a:r>
              <a:rPr lang="en-US" altLang="en-US" sz="2600" dirty="0"/>
              <a:t> = 0.1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GA</a:t>
            </a:r>
          </a:p>
        </p:txBody>
      </p:sp>
    </p:spTree>
    <p:extLst>
      <p:ext uri="{BB962C8B-B14F-4D97-AF65-F5344CB8AC3E}">
        <p14:creationId xmlns:p14="http://schemas.microsoft.com/office/powerpoint/2010/main" val="1174433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1E0236-40DC-43A6-B565-9E50C49D69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1600200"/>
                <a:ext cx="8229600" cy="5257800"/>
              </a:xfrm>
            </p:spPr>
            <p:txBody>
              <a:bodyPr>
                <a:normAutofit/>
              </a:bodyPr>
              <a:lstStyle/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800" dirty="0"/>
                  <a:t>Bước 1: </a:t>
                </a:r>
                <a:r>
                  <a:rPr lang="en-US" altLang="en-US" sz="2800" dirty="0" err="1"/>
                  <a:t>Khởi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tạo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quần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thể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en-US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0):</m:t>
                    </m:r>
                  </m:oMath>
                </a14:m>
                <a:endParaRPr lang="en-US" altLang="en-US" sz="2800" dirty="0"/>
              </a:p>
              <a:p>
                <a:pPr lvl="1"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400" dirty="0" err="1"/>
                  <a:t>Khởi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tạo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quần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thể</a:t>
                </a: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gồm</a:t>
                </a:r>
                <a:r>
                  <a:rPr lang="en-US" altLang="en-US" sz="2400" dirty="0"/>
                  <a:t> 10 </a:t>
                </a:r>
                <a:r>
                  <a:rPr lang="en-US" altLang="en-US" sz="2400" dirty="0" err="1"/>
                  <a:t>cá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thể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theo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biểu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diễn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hoán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vị</a:t>
                </a:r>
                <a:r>
                  <a:rPr lang="en-US" altLang="en-US" sz="2400" dirty="0"/>
                  <a:t>:</a:t>
                </a:r>
              </a:p>
              <a:p>
                <a:pPr marL="365760" lvl="1" indent="0" algn="just"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en-US" altLang="en-US" sz="25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1E0236-40DC-43A6-B565-9E50C49D69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600200"/>
                <a:ext cx="8229600" cy="5257800"/>
              </a:xfrm>
              <a:blipFill>
                <a:blip r:embed="rId2"/>
                <a:stretch>
                  <a:fillRect l="-1333" t="-2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71800"/>
            <a:ext cx="5498639" cy="28956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GA</a:t>
            </a:r>
          </a:p>
        </p:txBody>
      </p:sp>
    </p:spTree>
    <p:extLst>
      <p:ext uri="{BB962C8B-B14F-4D97-AF65-F5344CB8AC3E}">
        <p14:creationId xmlns:p14="http://schemas.microsoft.com/office/powerpoint/2010/main" val="4251541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1E0236-40DC-43A6-B565-9E50C49D69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50795"/>
                <a:ext cx="8458200" cy="5257800"/>
              </a:xfrm>
            </p:spPr>
            <p:txBody>
              <a:bodyPr>
                <a:normAutofit/>
              </a:bodyPr>
              <a:lstStyle/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800" dirty="0"/>
                  <a:t>Bước 2: </a:t>
                </a:r>
                <a:r>
                  <a:rPr lang="en-US" altLang="en-US" sz="2800" dirty="0" err="1"/>
                  <a:t>Đánh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thể</a:t>
                </a:r>
                <a:endParaRPr lang="en-US" altLang="en-US" sz="2500" dirty="0"/>
              </a:p>
              <a:p>
                <a:pPr lvl="1"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400" dirty="0" err="1"/>
                  <a:t>Với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mỗi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cá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thể</a:t>
                </a: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sz="2400" dirty="0"/>
                  <a:t> trong </a:t>
                </a:r>
                <a:r>
                  <a:rPr lang="en-US" altLang="en-US" sz="2400" dirty="0" err="1"/>
                  <a:t>quần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thể</a:t>
                </a: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en-US" sz="2400" dirty="0"/>
                  <a:t>, </a:t>
                </a:r>
                <a:r>
                  <a:rPr lang="en-US" altLang="en-US" sz="2400" dirty="0" err="1"/>
                  <a:t>đánh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giá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độ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thích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nghi</a:t>
                </a:r>
                <a:r>
                  <a:rPr lang="en-US" altLang="en-US" sz="2400" dirty="0"/>
                  <a:t> (</a:t>
                </a:r>
                <a:r>
                  <a:rPr lang="en-US" altLang="en-US" sz="2400" i="1" dirty="0"/>
                  <a:t>fitness</a:t>
                </a:r>
                <a:r>
                  <a:rPr lang="en-US" altLang="en-US" sz="2400" dirty="0"/>
                  <a:t>) </a:t>
                </a:r>
                <a:r>
                  <a:rPr lang="en-US" altLang="en-US" sz="2400" dirty="0" err="1"/>
                  <a:t>cho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từng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cá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thể</a:t>
                </a:r>
                <a:r>
                  <a:rPr lang="en-US" altLang="en-US" sz="2400" dirty="0"/>
                  <a:t>, </a:t>
                </a:r>
                <a:r>
                  <a:rPr lang="en-US" altLang="en-US" sz="2400" dirty="0" err="1"/>
                  <a:t>theo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công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thức</a:t>
                </a:r>
                <a:r>
                  <a:rPr lang="en-US" altLang="en-US" sz="2400" dirty="0"/>
                  <a:t>:</a:t>
                </a:r>
                <a:endParaRPr lang="en-US" altLang="en-US" sz="2000" dirty="0"/>
              </a:p>
              <a:p>
                <a:pPr marL="365760" lvl="1" indent="0" algn="ctr">
                  <a:spcBef>
                    <a:spcPts val="300"/>
                  </a:spcBef>
                  <a:spcAft>
                    <a:spcPts val="3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𝒇</m:t>
                    </m:r>
                    <m:r>
                      <a:rPr lang="en-US" alt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2400" b="1" dirty="0"/>
                  <a:t> = </a:t>
                </a:r>
                <a14:m>
                  <m:oMath xmlns:m="http://schemas.openxmlformats.org/officeDocument/2006/math">
                    <m:r>
                      <a:rPr lang="en-US" altLang="en-US" sz="24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𝒄𝒐𝒔𝒕</m:t>
                    </m:r>
                    <m:d>
                      <m:dPr>
                        <m:ctrlPr>
                          <a:rPr lang="en-US" alt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4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en-US" sz="24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sz="2400" b="1" dirty="0"/>
                  <a:t> </a:t>
                </a:r>
              </a:p>
              <a:p>
                <a:pPr marL="365760" lvl="1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lang="en-US" altLang="en-US" sz="2400" i="1" dirty="0"/>
                  <a:t>Trong </a:t>
                </a:r>
                <a:r>
                  <a:rPr lang="en-US" altLang="en-US" sz="2400" i="1" dirty="0" err="1"/>
                  <a:t>đó</a:t>
                </a:r>
                <a:r>
                  <a:rPr lang="en-US" altLang="en-US" sz="2400" i="1" dirty="0"/>
                  <a:t>: </a:t>
                </a:r>
                <a14:m>
                  <m:oMath xmlns:m="http://schemas.openxmlformats.org/officeDocument/2006/math">
                    <m:r>
                      <a:rPr lang="en-US" alt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𝑜𝑠𝑡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2400" i="1" dirty="0"/>
                  <a:t> </a:t>
                </a:r>
                <a:r>
                  <a:rPr lang="en-US" altLang="en-US" sz="2400" i="1" dirty="0" err="1"/>
                  <a:t>là</a:t>
                </a:r>
                <a:r>
                  <a:rPr lang="en-US" altLang="en-US" sz="2400" i="1" dirty="0"/>
                  <a:t> chi phi </a:t>
                </a:r>
                <a:r>
                  <a:rPr lang="en-US" altLang="en-US" sz="2400" i="1" dirty="0" err="1"/>
                  <a:t>đi</a:t>
                </a:r>
                <a:r>
                  <a:rPr lang="en-US" altLang="en-US" sz="2400" i="1" dirty="0"/>
                  <a:t> </a:t>
                </a:r>
                <a:r>
                  <a:rPr lang="en-US" altLang="en-US" sz="2400" i="1" dirty="0" err="1"/>
                  <a:t>lại</a:t>
                </a:r>
                <a:r>
                  <a:rPr lang="en-US" altLang="en-US" sz="2400" i="1" dirty="0"/>
                  <a:t> </a:t>
                </a:r>
                <a:r>
                  <a:rPr lang="en-US" altLang="en-US" sz="2400" i="1" dirty="0" err="1"/>
                  <a:t>của</a:t>
                </a:r>
                <a:r>
                  <a:rPr lang="en-US" altLang="en-US" sz="2400" i="1" dirty="0"/>
                  <a:t> </a:t>
                </a:r>
                <a:r>
                  <a:rPr lang="en-US" altLang="en-US" sz="2400" i="1" dirty="0" err="1"/>
                  <a:t>chu</a:t>
                </a:r>
                <a:r>
                  <a:rPr lang="en-US" altLang="en-US" sz="2400" i="1" dirty="0"/>
                  <a:t> </a:t>
                </a:r>
                <a:r>
                  <a:rPr lang="en-US" altLang="en-US" sz="2400" i="1" dirty="0" err="1"/>
                  <a:t>trình</a:t>
                </a:r>
                <a:r>
                  <a:rPr lang="en-US" altLang="en-US" sz="2400" i="1" dirty="0"/>
                  <a:t> </a:t>
                </a:r>
                <a:r>
                  <a:rPr lang="en-US" altLang="en-US" sz="2400" i="1" dirty="0" err="1"/>
                  <a:t>khi</a:t>
                </a:r>
                <a:r>
                  <a:rPr lang="en-US" altLang="en-US" sz="2400" i="1" dirty="0"/>
                  <a:t> </a:t>
                </a:r>
                <a:r>
                  <a:rPr lang="en-US" altLang="en-US" sz="2400" i="1" dirty="0" err="1"/>
                  <a:t>giải</a:t>
                </a:r>
                <a:r>
                  <a:rPr lang="en-US" altLang="en-US" sz="2400" i="1" dirty="0"/>
                  <a:t> </a:t>
                </a:r>
                <a:r>
                  <a:rPr lang="en-US" altLang="en-US" sz="2400" i="1" dirty="0" err="1"/>
                  <a:t>mã</a:t>
                </a:r>
                <a:r>
                  <a:rPr lang="en-US" altLang="en-US" sz="2400" i="1" dirty="0"/>
                  <a:t> </a:t>
                </a:r>
                <a:r>
                  <a:rPr lang="en-US" altLang="en-US" sz="2400" i="1" dirty="0" err="1"/>
                  <a:t>cá</a:t>
                </a:r>
                <a:r>
                  <a:rPr lang="en-US" altLang="en-US" sz="2400" i="1" dirty="0"/>
                  <a:t> </a:t>
                </a:r>
                <a:r>
                  <a:rPr lang="en-US" altLang="en-US" sz="2400" i="1" dirty="0" err="1"/>
                  <a:t>thể</a:t>
                </a:r>
                <a:r>
                  <a:rPr lang="en-US" altLang="en-US" sz="2400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sz="2400" i="1" dirty="0"/>
                  <a:t>.</a:t>
                </a:r>
              </a:p>
              <a:p>
                <a:pPr lvl="1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400" dirty="0" err="1"/>
                  <a:t>Khi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đó</a:t>
                </a:r>
                <a:r>
                  <a:rPr lang="en-US" altLang="en-US" sz="2400" dirty="0"/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[3, 7, </m:t>
                    </m:r>
                  </m:oMath>
                </a14:m>
                <a:r>
                  <a:rPr lang="en-US" altLang="en-US" sz="2400" dirty="0"/>
                  <a:t>1, 2, 6, 5, 4, 9, 8] </a:t>
                </a:r>
              </a:p>
              <a:p>
                <a:pPr lvl="2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200" dirty="0" err="1"/>
                  <a:t>Giải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mã</a:t>
                </a:r>
                <a:r>
                  <a:rPr lang="en-US" altLang="en-US" sz="2200" dirty="0"/>
                  <a:t>: </a:t>
                </a:r>
                <a:r>
                  <a:rPr lang="en-US" altLang="en-US" sz="2200" dirty="0" err="1"/>
                  <a:t>chu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trình</a:t>
                </a:r>
                <a:r>
                  <a:rPr lang="en-US" alt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=3→7→1→2→6→5→4→9→8</m:t>
                    </m:r>
                    <m:r>
                      <a:rPr lang="en-US" altLang="en-US" sz="2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→3.</m:t>
                    </m:r>
                  </m:oMath>
                </a14:m>
                <a:endParaRPr lang="en-US" altLang="en-US" sz="2200" dirty="0"/>
              </a:p>
              <a:p>
                <a:pPr lvl="2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200" dirty="0"/>
                  <a:t>Chi </a:t>
                </a:r>
                <a:r>
                  <a:rPr lang="en-US" altLang="en-US" sz="2200" dirty="0" err="1"/>
                  <a:t>phí</a:t>
                </a:r>
                <a:r>
                  <a:rPr lang="en-US" altLang="en-US" sz="22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𝑐𝑜𝑠𝑡</m:t>
                    </m:r>
                    <m:d>
                      <m:dPr>
                        <m:ctrlP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37</m:t>
                        </m:r>
                      </m:sub>
                    </m:sSub>
                    <m:r>
                      <a:rPr lang="en-US" alt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 </m:t>
                    </m:r>
                    <m:sSub>
                      <m:sSub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71</m:t>
                        </m:r>
                      </m:sub>
                    </m:sSub>
                    <m:r>
                      <a:rPr lang="en-US" alt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12</m:t>
                        </m:r>
                      </m:sub>
                    </m:sSub>
                    <m:r>
                      <a:rPr lang="en-US" altLang="en-US" sz="2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26</m:t>
                        </m:r>
                      </m:sub>
                    </m:sSub>
                    <m:r>
                      <a:rPr lang="en-US" altLang="en-US" sz="2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65</m:t>
                        </m:r>
                      </m:sub>
                    </m:sSub>
                    <m:r>
                      <a:rPr lang="en-US" altLang="en-US" sz="2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54</m:t>
                        </m:r>
                      </m:sub>
                    </m:sSub>
                    <m:r>
                      <a:rPr lang="en-US" altLang="en-US" sz="2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49</m:t>
                        </m:r>
                      </m:sub>
                    </m:sSub>
                    <m:r>
                      <a:rPr lang="en-US" altLang="en-US" sz="2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98</m:t>
                        </m:r>
                      </m:sub>
                    </m:sSub>
                    <m:r>
                      <a:rPr lang="en-US" alt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2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83</m:t>
                        </m:r>
                      </m:sub>
                    </m:sSub>
                    <m:r>
                      <a:rPr lang="en-US" altLang="en-US" sz="2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</m:oMath>
                </a14:m>
                <a:r>
                  <a:rPr lang="en-US" altLang="en-US" sz="2200" dirty="0"/>
                  <a:t>24 + 4 + 3 + 12 + 18 + 9 + 16 + 17 + 9 = 112.</a:t>
                </a:r>
              </a:p>
              <a:p>
                <a:pPr lvl="2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r>
                      <a:rPr lang="en-US" alt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r>
                      <a:rPr lang="en-US" alt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𝑐𝑜𝑠𝑡</m:t>
                    </m:r>
                    <m:d>
                      <m:dPr>
                        <m:ctrlP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=−112</m:t>
                    </m:r>
                    <m:r>
                      <a:rPr lang="en-US" altLang="en-US" sz="2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altLang="en-US" sz="2200" b="0" dirty="0"/>
                  <a:t> </a:t>
                </a:r>
              </a:p>
              <a:p>
                <a:pPr lvl="2">
                  <a:spcBef>
                    <a:spcPts val="300"/>
                  </a:spcBef>
                  <a:spcAft>
                    <a:spcPts val="300"/>
                  </a:spcAft>
                </a:pPr>
                <a:endParaRPr lang="en-US" altLang="en-US" sz="2200" dirty="0"/>
              </a:p>
              <a:p>
                <a:pPr marL="365760" lvl="1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en-US" altLang="en-US" sz="25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1E0236-40DC-43A6-B565-9E50C49D69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50795"/>
                <a:ext cx="8458200" cy="5257800"/>
              </a:xfrm>
              <a:blipFill>
                <a:blip r:embed="rId2"/>
                <a:stretch>
                  <a:fillRect l="-1297" t="-1970" r="-2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GA</a:t>
            </a:r>
          </a:p>
        </p:txBody>
      </p:sp>
    </p:spTree>
    <p:extLst>
      <p:ext uri="{BB962C8B-B14F-4D97-AF65-F5344CB8AC3E}">
        <p14:creationId xmlns:p14="http://schemas.microsoft.com/office/powerpoint/2010/main" val="2902375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1E0236-40DC-43A6-B565-9E50C49D69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1600200"/>
                <a:ext cx="8458200" cy="5257800"/>
              </a:xfrm>
            </p:spPr>
            <p:txBody>
              <a:bodyPr>
                <a:noAutofit/>
              </a:bodyPr>
              <a:lstStyle/>
              <a:p>
                <a:pPr lvl="2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200" dirty="0"/>
                  <a:t>Tương </a:t>
                </a:r>
                <a:r>
                  <a:rPr lang="en-US" altLang="en-US" sz="2200" dirty="0" err="1"/>
                  <a:t>tự</a:t>
                </a:r>
                <a:r>
                  <a:rPr lang="en-US" altLang="en-US" sz="2200" dirty="0"/>
                  <a:t>, ta </a:t>
                </a:r>
                <a:r>
                  <a:rPr lang="en-US" altLang="en-US" sz="2200" dirty="0" err="1"/>
                  <a:t>có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 smtClean="0"/>
                  <a:t>giá</a:t>
                </a:r>
                <a:r>
                  <a:rPr lang="en-US" altLang="en-US" sz="2200" dirty="0" smtClean="0"/>
                  <a:t> </a:t>
                </a:r>
                <a:r>
                  <a:rPr lang="en-US" altLang="en-US" sz="2200" dirty="0" err="1"/>
                  <a:t>trị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thích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nghi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của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các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cá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thể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còn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lại</a:t>
                </a:r>
                <a:r>
                  <a:rPr lang="en-US" altLang="en-US" sz="2200" dirty="0"/>
                  <a:t>:</a:t>
                </a:r>
              </a:p>
              <a:p>
                <a:pPr marL="685800" lvl="2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2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en-US" sz="2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2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en-US" sz="22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n-US" altLang="en-US" sz="22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153</m:t>
                      </m:r>
                      <m:r>
                        <a:rPr lang="en-US" altLang="en-US" sz="22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en-US" sz="22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en-US" sz="2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2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en-US" sz="22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n-US" altLang="en-US" sz="22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166</m:t>
                      </m:r>
                      <m:r>
                        <a:rPr lang="en-US" altLang="en-US" sz="22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en-US" sz="22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en-US" sz="2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2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altLang="en-US" sz="22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n-US" altLang="en-US" sz="22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132</m:t>
                      </m:r>
                      <m:r>
                        <a:rPr lang="en-US" altLang="en-US" sz="22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altLang="en-US" sz="2200" dirty="0"/>
              </a:p>
              <a:p>
                <a:pPr marL="685800" lvl="2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2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en-US" sz="2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2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lang="en-US" altLang="en-US" sz="22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n-US" altLang="en-US" sz="22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155</m:t>
                      </m:r>
                      <m:r>
                        <a:rPr lang="en-US" altLang="en-US" sz="22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en-US" sz="22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en-US" sz="2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2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sub>
                          </m:sSub>
                        </m:e>
                      </m:d>
                      <m:r>
                        <a:rPr lang="en-US" altLang="en-US" sz="22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n-US" altLang="en-US" sz="22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155</m:t>
                      </m:r>
                      <m:r>
                        <a:rPr lang="en-US" altLang="en-US" sz="22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en-US" sz="22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en-US" sz="2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2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7</m:t>
                              </m:r>
                            </m:sub>
                          </m:sSub>
                        </m:e>
                      </m:d>
                      <m:r>
                        <a:rPr lang="en-US" altLang="en-US" sz="22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n-US" altLang="en-US" sz="22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134</m:t>
                      </m:r>
                      <m:r>
                        <a:rPr lang="en-US" altLang="en-US" sz="22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</m:oMath>
                  </m:oMathPara>
                </a14:m>
                <a:endParaRPr lang="en-US" altLang="en-US" sz="2200" dirty="0"/>
              </a:p>
              <a:p>
                <a:pPr marL="685800" lvl="2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2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en-US" sz="2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2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8</m:t>
                              </m:r>
                            </m:sub>
                          </m:sSub>
                        </m:e>
                      </m:d>
                      <m:r>
                        <a:rPr lang="en-US" altLang="en-US" sz="22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n-US" altLang="en-US" sz="22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184</m:t>
                      </m:r>
                      <m:r>
                        <a:rPr lang="en-US" altLang="en-US" sz="22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en-US" sz="22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en-US" sz="2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2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9</m:t>
                              </m:r>
                            </m:sub>
                          </m:sSub>
                        </m:e>
                      </m:d>
                      <m:r>
                        <a:rPr lang="en-US" altLang="en-US" sz="22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n-US" altLang="en-US" sz="22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183</m:t>
                      </m:r>
                      <m:r>
                        <a:rPr lang="en-US" altLang="en-US" sz="22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en-US" sz="22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en-US" sz="2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2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10</m:t>
                              </m:r>
                            </m:sub>
                          </m:sSub>
                        </m:e>
                      </m:d>
                      <m:r>
                        <a:rPr lang="en-US" altLang="en-US" sz="22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n-US" altLang="en-US" sz="22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154</m:t>
                      </m:r>
                      <m:r>
                        <a:rPr lang="en-US" altLang="en-US" sz="22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altLang="en-US" sz="2200" dirty="0"/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800" dirty="0" err="1"/>
                  <a:t>Bước</a:t>
                </a:r>
                <a:r>
                  <a:rPr lang="en-US" altLang="en-US" sz="2800" dirty="0"/>
                  <a:t> 3: t = t+1, </a:t>
                </a:r>
                <a:r>
                  <a:rPr lang="en-US" altLang="en-US" sz="2800" dirty="0" err="1"/>
                  <a:t>Sinh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quần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thể</a:t>
                </a:r>
                <a:r>
                  <a:rPr lang="en-US" altLang="en-US" sz="2800" dirty="0"/>
                  <a:t> 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en-US" sz="2800" dirty="0"/>
              </a:p>
              <a:p>
                <a:pPr lvl="1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400" dirty="0" err="1"/>
                  <a:t>Chọn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cá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thể</a:t>
                </a:r>
                <a:r>
                  <a:rPr lang="en-US" altLang="en-US" sz="2400" dirty="0"/>
                  <a:t> cha </a:t>
                </a:r>
                <a:r>
                  <a:rPr lang="en-US" altLang="en-US" sz="2400" dirty="0" err="1"/>
                  <a:t>mẹ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từ</a:t>
                </a: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en-US" sz="2400" dirty="0"/>
                  <a:t>, </a:t>
                </a:r>
                <a:r>
                  <a:rPr lang="en-US" altLang="en-US" sz="2400" dirty="0" err="1"/>
                  <a:t>theo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hình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thức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giao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đấu</a:t>
                </a:r>
                <a:r>
                  <a:rPr lang="en-US" altLang="en-US" sz="2400" dirty="0"/>
                  <a:t>:</a:t>
                </a:r>
              </a:p>
              <a:p>
                <a:pPr lvl="2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200" dirty="0" err="1"/>
                  <a:t>Chọn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ngẫu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nhiên</a:t>
                </a:r>
                <a:r>
                  <a:rPr lang="en-US" altLang="en-US" sz="2200" dirty="0"/>
                  <a:t> 2 </a:t>
                </a:r>
                <a:r>
                  <a:rPr lang="en-US" altLang="en-US" sz="2200" dirty="0" err="1"/>
                  <a:t>cặp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cá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thể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ngẫu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nhiên</a:t>
                </a:r>
                <a:r>
                  <a:rPr lang="en-US" alt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en-US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 sz="22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  <m:r>
                      <a:rPr lang="en-US" altLang="en-US" sz="22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  <m:r>
                      <a:rPr lang="en-US" altLang="en-US" sz="22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en-US" sz="22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à </m:t>
                    </m:r>
                    <m:d>
                      <m:d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7</m:t>
                            </m:r>
                          </m:sub>
                        </m:sSub>
                        <m:r>
                          <a:rPr lang="en-US" altLang="en-US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sub>
                        </m:sSub>
                      </m:e>
                    </m:d>
                    <m:r>
                      <a:rPr lang="en-US" altLang="en-US" sz="22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  </m:t>
                    </m:r>
                  </m:oMath>
                </a14:m>
                <a:endParaRPr lang="en-US" altLang="en-US" sz="2200" dirty="0"/>
              </a:p>
              <a:p>
                <a:pPr lvl="2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200" dirty="0"/>
                  <a:t>So </a:t>
                </a:r>
                <a:r>
                  <a:rPr lang="en-US" altLang="en-US" sz="2200" dirty="0" err="1"/>
                  <a:t>sánh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giá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trị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thích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nghi</a:t>
                </a:r>
                <a:r>
                  <a:rPr lang="en-US" altLang="en-US" sz="2200" dirty="0"/>
                  <a:t>: </a:t>
                </a:r>
                <a14:m>
                  <m:oMath xmlns:m="http://schemas.openxmlformats.org/officeDocument/2006/math">
                    <m:r>
                      <a:rPr lang="en-US" altLang="en-US" sz="22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en-US" sz="22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en-US" sz="22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sz="2200" dirty="0"/>
                  <a:t>, </a:t>
                </a:r>
                <a14:m>
                  <m:oMath xmlns:m="http://schemas.openxmlformats.org/officeDocument/2006/math">
                    <m:r>
                      <a:rPr lang="en-US" altLang="en-US" sz="22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7</m:t>
                            </m:r>
                          </m:sub>
                        </m:sSub>
                      </m:e>
                    </m:d>
                    <m:r>
                      <a:rPr lang="en-US" altLang="en-US" sz="22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altLang="en-US" sz="22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sz="2200" dirty="0"/>
                  <a:t>.</a:t>
                </a:r>
              </a:p>
              <a:p>
                <a:pPr marL="685800" lvl="2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lang="en-US" altLang="en-US" sz="2200" dirty="0">
                    <a:sym typeface="Wingdings" panose="05000000000000000000" pitchFamily="2" charset="2"/>
                  </a:rPr>
                  <a:t> </a:t>
                </a:r>
                <a:r>
                  <a:rPr lang="en-US" altLang="en-US" sz="2200" dirty="0" err="1">
                    <a:sym typeface="Wingdings" panose="05000000000000000000" pitchFamily="2" charset="2"/>
                  </a:rPr>
                  <a:t>Chọn</a:t>
                </a:r>
                <a:r>
                  <a:rPr lang="en-US" altLang="en-US" sz="2200" dirty="0">
                    <a:sym typeface="Wingdings" panose="05000000000000000000" pitchFamily="2" charset="2"/>
                  </a:rPr>
                  <a:t> </a:t>
                </a:r>
                <a:r>
                  <a:rPr lang="en-US" altLang="en-US" sz="2200" dirty="0" err="1">
                    <a:sym typeface="Wingdings" panose="05000000000000000000" pitchFamily="2" charset="2"/>
                  </a:rPr>
                  <a:t>ra</a:t>
                </a:r>
                <a:r>
                  <a:rPr lang="en-US" altLang="en-US" sz="2200" dirty="0">
                    <a:sym typeface="Wingdings" panose="05000000000000000000" pitchFamily="2" charset="2"/>
                  </a:rPr>
                  <a:t> 2 </a:t>
                </a:r>
                <a:r>
                  <a:rPr lang="en-US" altLang="en-US" sz="2200" dirty="0" err="1">
                    <a:sym typeface="Wingdings" panose="05000000000000000000" pitchFamily="2" charset="2"/>
                  </a:rPr>
                  <a:t>cá</a:t>
                </a:r>
                <a:r>
                  <a:rPr lang="en-US" altLang="en-US" sz="2200" dirty="0">
                    <a:sym typeface="Wingdings" panose="05000000000000000000" pitchFamily="2" charset="2"/>
                  </a:rPr>
                  <a:t> </a:t>
                </a:r>
                <a:r>
                  <a:rPr lang="en-US" altLang="en-US" sz="2200" dirty="0" err="1">
                    <a:sym typeface="Wingdings" panose="05000000000000000000" pitchFamily="2" charset="2"/>
                  </a:rPr>
                  <a:t>thể</a:t>
                </a:r>
                <a:r>
                  <a:rPr lang="en-US" altLang="en-US" sz="2200" dirty="0">
                    <a:sym typeface="Wingdings" panose="05000000000000000000" pitchFamily="2" charset="2"/>
                  </a:rPr>
                  <a:t> cha </a:t>
                </a:r>
                <a:r>
                  <a:rPr lang="en-US" altLang="en-US" sz="2200" dirty="0" err="1">
                    <a:sym typeface="Wingdings" panose="05000000000000000000" pitchFamily="2" charset="2"/>
                  </a:rPr>
                  <a:t>mẹ</a:t>
                </a:r>
                <a:r>
                  <a:rPr lang="en-US" altLang="en-US" sz="2200" dirty="0">
                    <a:sym typeface="Wingdings" panose="05000000000000000000" pitchFamily="2" charset="2"/>
                  </a:rPr>
                  <a:t> </a:t>
                </a:r>
                <a:r>
                  <a:rPr lang="en-US" altLang="en-US" sz="2200" dirty="0" err="1">
                    <a:sym typeface="Wingdings" panose="05000000000000000000" pitchFamily="2" charset="2"/>
                  </a:rPr>
                  <a:t>để</a:t>
                </a:r>
                <a:r>
                  <a:rPr lang="en-US" altLang="en-US" sz="2200" dirty="0">
                    <a:sym typeface="Wingdings" panose="05000000000000000000" pitchFamily="2" charset="2"/>
                  </a:rPr>
                  <a:t> </a:t>
                </a:r>
                <a:r>
                  <a:rPr lang="en-US" altLang="en-US" sz="2200" dirty="0" err="1">
                    <a:sym typeface="Wingdings" panose="05000000000000000000" pitchFamily="2" charset="2"/>
                  </a:rPr>
                  <a:t>sinh</a:t>
                </a:r>
                <a:r>
                  <a:rPr lang="en-US" altLang="en-US" sz="2200" dirty="0">
                    <a:sym typeface="Wingdings" panose="05000000000000000000" pitchFamily="2" charset="2"/>
                  </a:rPr>
                  <a:t> </a:t>
                </a:r>
                <a:r>
                  <a:rPr lang="en-US" altLang="en-US" sz="2200" dirty="0" err="1">
                    <a:sym typeface="Wingdings" panose="05000000000000000000" pitchFamily="2" charset="2"/>
                  </a:rPr>
                  <a:t>sản</a:t>
                </a:r>
                <a:r>
                  <a:rPr lang="en-US" altLang="en-US" sz="2200" dirty="0">
                    <a:sym typeface="Wingdings" panose="05000000000000000000" pitchFamily="2" charset="2"/>
                  </a:rPr>
                  <a:t> </a:t>
                </a:r>
                <a:r>
                  <a:rPr lang="en-US" altLang="en-US" sz="2200" dirty="0" err="1">
                    <a:sym typeface="Wingdings" panose="05000000000000000000" pitchFamily="2" charset="2"/>
                  </a:rPr>
                  <a:t>là</a:t>
                </a:r>
                <a:r>
                  <a:rPr lang="en-US" altLang="en-US" sz="22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en-US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en-US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5</m:t>
                        </m:r>
                      </m:sub>
                    </m:sSub>
                    <m:r>
                      <a:rPr lang="en-US" altLang="en-US" sz="220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, </m:t>
                    </m:r>
                    <m:sSub>
                      <m:sSub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x</m:t>
                        </m:r>
                      </m:e>
                      <m:sub>
                        <m:r>
                          <a:rPr lang="en-US" altLang="en-US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7</m:t>
                        </m:r>
                      </m:sub>
                    </m:sSub>
                    <m:r>
                      <a:rPr lang="en-US" altLang="en-US" sz="220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.</m:t>
                    </m:r>
                  </m:oMath>
                </a14:m>
                <a:endParaRPr lang="en-US" altLang="en-US" sz="2200" dirty="0"/>
              </a:p>
              <a:p>
                <a:pPr marL="685800" lvl="2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en-US" altLang="en-US" sz="1800" dirty="0"/>
              </a:p>
              <a:p>
                <a:pPr marL="685800" lvl="2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en-US" altLang="en-US" sz="1800" dirty="0"/>
              </a:p>
              <a:p>
                <a:pPr marL="685800" lvl="2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altLang="en-US" sz="1800" dirty="0"/>
              </a:p>
              <a:p>
                <a:pPr marL="685800" lvl="2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en-US" altLang="en-US" sz="1800" dirty="0"/>
              </a:p>
              <a:p>
                <a:pPr marL="685800" lvl="2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en-US" altLang="en-US" sz="1800" dirty="0"/>
              </a:p>
              <a:p>
                <a:pPr marL="685800" lvl="2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en-US" altLang="en-US" sz="1800" dirty="0"/>
              </a:p>
              <a:p>
                <a:pPr lvl="2">
                  <a:spcBef>
                    <a:spcPts val="300"/>
                  </a:spcBef>
                  <a:spcAft>
                    <a:spcPts val="300"/>
                  </a:spcAft>
                </a:pPr>
                <a:endParaRPr lang="en-US" altLang="en-US" sz="1800" dirty="0"/>
              </a:p>
              <a:p>
                <a:pPr marL="365760" lvl="1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en-US" alt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1E0236-40DC-43A6-B565-9E50C49D69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600200"/>
                <a:ext cx="8458200" cy="5257800"/>
              </a:xfrm>
              <a:blipFill>
                <a:blip r:embed="rId2"/>
                <a:stretch>
                  <a:fillRect l="-1298" t="-1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GA</a:t>
            </a:r>
          </a:p>
        </p:txBody>
      </p:sp>
    </p:spTree>
    <p:extLst>
      <p:ext uri="{BB962C8B-B14F-4D97-AF65-F5344CB8AC3E}">
        <p14:creationId xmlns:p14="http://schemas.microsoft.com/office/powerpoint/2010/main" val="4165217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1E0236-40DC-43A6-B565-9E50C49D69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1588655"/>
                <a:ext cx="8382000" cy="5257800"/>
              </a:xfrm>
            </p:spPr>
            <p:txBody>
              <a:bodyPr>
                <a:noAutofit/>
              </a:bodyPr>
              <a:lstStyle/>
              <a:p>
                <a:pPr lvl="1"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400" dirty="0"/>
                  <a:t>Lai </a:t>
                </a:r>
                <a:r>
                  <a:rPr lang="en-US" altLang="en-US" sz="2400" dirty="0" err="1"/>
                  <a:t>ghép</a:t>
                </a:r>
                <a:r>
                  <a:rPr lang="en-US" altLang="en-US" sz="2400" dirty="0"/>
                  <a:t>: </a:t>
                </a:r>
              </a:p>
              <a:p>
                <a:pPr lvl="2"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200" dirty="0" err="1"/>
                  <a:t>Sinh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số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ngẫu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nhiên</a:t>
                </a:r>
                <a:r>
                  <a:rPr lang="en-US" alt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en-US" sz="2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alt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en-US" sz="2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  <m:d>
                      <m:d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0,1</m:t>
                        </m:r>
                      </m:e>
                    </m:d>
                    <m:r>
                      <a:rPr lang="en-US" altLang="en-US" sz="2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∈[0,1]</m:t>
                    </m:r>
                  </m:oMath>
                </a14:m>
                <a:r>
                  <a:rPr lang="en-US" altLang="en-US" sz="2200" dirty="0"/>
                  <a:t>.</a:t>
                </a:r>
              </a:p>
              <a:p>
                <a:pPr lvl="2"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200" dirty="0"/>
                  <a:t>Nếu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en-US" sz="2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en-US" sz="2200" dirty="0"/>
                  <a:t>: </a:t>
                </a:r>
                <a:r>
                  <a:rPr lang="en-US" altLang="en-US" sz="2200" dirty="0" err="1"/>
                  <a:t>lai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ghép</a:t>
                </a:r>
                <a:r>
                  <a:rPr lang="en-US" altLang="en-US" sz="2200" dirty="0"/>
                  <a:t> 2 </a:t>
                </a:r>
                <a:r>
                  <a:rPr lang="en-US" altLang="en-US" sz="2200" dirty="0" err="1"/>
                  <a:t>cá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thể</a:t>
                </a:r>
                <a:r>
                  <a:rPr lang="en-US" alt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  <m:r>
                      <a:rPr lang="en-US" altLang="en-US" sz="2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tạo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ra</a:t>
                </a:r>
                <a:r>
                  <a:rPr lang="en-US" altLang="en-US" sz="2200" dirty="0"/>
                  <a:t> con </a:t>
                </a:r>
                <a:r>
                  <a:rPr lang="en-US" altLang="en-US" sz="2200" dirty="0" err="1"/>
                  <a:t>cái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là</a:t>
                </a:r>
                <a:r>
                  <a:rPr lang="en-US" alt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en-US" sz="2200" dirty="0"/>
                  <a:t>.</a:t>
                </a:r>
              </a:p>
              <a:p>
                <a:pPr lvl="1"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400" dirty="0" err="1"/>
                  <a:t>Đột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biến</a:t>
                </a:r>
                <a:r>
                  <a:rPr lang="en-US" altLang="en-US" sz="2400" dirty="0"/>
                  <a:t>:</a:t>
                </a:r>
              </a:p>
              <a:p>
                <a:pPr lvl="2"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200" dirty="0"/>
                  <a:t>Với </a:t>
                </a:r>
                <a:r>
                  <a:rPr lang="en-US" altLang="en-US" sz="2200" dirty="0" err="1"/>
                  <a:t>mỗi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cá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thể</a:t>
                </a:r>
                <a:r>
                  <a:rPr lang="en-US" altLang="en-US" sz="2200" dirty="0"/>
                  <a:t>, </a:t>
                </a:r>
                <a:r>
                  <a:rPr lang="en-US" altLang="en-US" sz="2200" dirty="0" err="1"/>
                  <a:t>sinh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số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ngẫu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nhiên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en-US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en-US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en-US" sz="22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~ </m:t>
                    </m:r>
                    <m:r>
                      <a:rPr lang="en-US" altLang="en-US" sz="22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  <m:d>
                      <m:d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0,1</m:t>
                        </m:r>
                      </m:e>
                    </m:d>
                    <m:r>
                      <a:rPr lang="en-US" altLang="en-US" sz="22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en-US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en-US" sz="22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0,1</m:t>
                        </m:r>
                      </m:e>
                    </m:d>
                    <m:r>
                      <a:rPr lang="en-US" altLang="en-US" sz="22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altLang="en-US" sz="2200" dirty="0"/>
              </a:p>
              <a:p>
                <a:pPr lvl="2"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200" dirty="0" err="1"/>
                  <a:t>Nếu</a:t>
                </a:r>
                <a:r>
                  <a:rPr lang="en-US" alt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en-US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en-US" sz="22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en-US" sz="2200" dirty="0"/>
                  <a:t>: </a:t>
                </a:r>
                <a:r>
                  <a:rPr lang="en-US" altLang="en-US" sz="2200" dirty="0" err="1"/>
                  <a:t>đột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biến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cá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thể</a:t>
                </a:r>
                <a:r>
                  <a:rPr lang="en-US" altLang="en-US" sz="2200" dirty="0"/>
                  <a:t> cha (</a:t>
                </a:r>
                <a:r>
                  <a:rPr lang="en-US" altLang="en-US" sz="2200" dirty="0" err="1"/>
                  <a:t>mẹ</a:t>
                </a:r>
                <a:r>
                  <a:rPr lang="en-US" altLang="en-US" sz="2200" dirty="0"/>
                  <a:t>).</a:t>
                </a:r>
              </a:p>
              <a:p>
                <a:pPr lvl="2"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200" dirty="0" err="1"/>
                  <a:t>Giả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sử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cả</a:t>
                </a:r>
                <a:r>
                  <a:rPr lang="en-US" alt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  <m:r>
                      <a:rPr lang="en-US" altLang="en-US" sz="22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,</m:t>
                    </m:r>
                    <m:sSub>
                      <m:sSub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đều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được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đem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đột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biến</a:t>
                </a:r>
                <a:r>
                  <a:rPr lang="en-US" altLang="en-US" sz="2200" dirty="0"/>
                  <a:t> </a:t>
                </a:r>
                <a:r>
                  <a:rPr lang="en-US" altLang="en-US" sz="2200" dirty="0" err="1"/>
                  <a:t>tạo</a:t>
                </a:r>
                <a:r>
                  <a:rPr lang="en-US" altLang="en-US" sz="2200" dirty="0"/>
                  <a:t> ra con </a:t>
                </a:r>
                <a:r>
                  <a:rPr lang="en-US" altLang="en-US" sz="2200" dirty="0" err="1"/>
                  <a:t>là</a:t>
                </a:r>
                <a:r>
                  <a:rPr lang="en-US" alt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 sz="22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US" altLang="en-US" sz="22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altLang="en-US" sz="2200" dirty="0"/>
              </a:p>
              <a:p>
                <a:pPr lvl="1"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400" dirty="0" err="1"/>
                  <a:t>Nạp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các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cá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thể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mới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vào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quần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thể</a:t>
                </a:r>
                <a:r>
                  <a:rPr lang="en-US" altLang="en-US" sz="2400" dirty="0"/>
                  <a:t> con :</a:t>
                </a:r>
              </a:p>
              <a:p>
                <a:pPr marL="365760" lvl="1" indent="0" algn="ctr"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en-US" sz="2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en-US" sz="2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∪</m:t>
                    </m:r>
                    <m:r>
                      <a:rPr lang="en-US" altLang="en-US" sz="2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US" altLang="en-US" sz="2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endParaRPr lang="en-US" altLang="en-US" sz="2200" dirty="0"/>
              </a:p>
              <a:p>
                <a:pPr lvl="1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400" dirty="0"/>
                  <a:t>Lặp </a:t>
                </a:r>
                <a:r>
                  <a:rPr lang="en-US" altLang="en-US" sz="2400" dirty="0" err="1"/>
                  <a:t>lại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quá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trình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từ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đầu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bước</a:t>
                </a:r>
                <a:r>
                  <a:rPr lang="en-US" altLang="en-US" sz="2400" dirty="0"/>
                  <a:t> 3 </a:t>
                </a:r>
                <a:r>
                  <a:rPr lang="en-US" altLang="en-US" sz="2400" dirty="0" err="1"/>
                  <a:t>cho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tới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khi</a:t>
                </a: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en-US" sz="24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en-US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altLang="en-US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en-US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2400" dirty="0" err="1"/>
                  <a:t>thì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dừng</a:t>
                </a:r>
                <a:r>
                  <a:rPr lang="en-US" altLang="en-US" sz="2400" dirty="0"/>
                  <a:t>, </a:t>
                </a:r>
                <a:r>
                  <a:rPr lang="en-US" altLang="en-US" sz="2400" dirty="0" err="1"/>
                  <a:t>thu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được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quần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thể</a:t>
                </a:r>
                <a:r>
                  <a:rPr lang="en-US" altLang="en-US" sz="2400" dirty="0"/>
                  <a:t> 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en-US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altLang="en-US" sz="2400" dirty="0"/>
              </a:p>
              <a:p>
                <a:pPr lvl="1">
                  <a:spcBef>
                    <a:spcPts val="300"/>
                  </a:spcBef>
                  <a:spcAft>
                    <a:spcPts val="300"/>
                  </a:spcAft>
                </a:pPr>
                <a:endParaRPr lang="en-US" altLang="en-US" sz="2200" dirty="0"/>
              </a:p>
              <a:p>
                <a:pPr marL="365760" lvl="1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en-US" alt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1E0236-40DC-43A6-B565-9E50C49D69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588655"/>
                <a:ext cx="8382000" cy="5257800"/>
              </a:xfrm>
              <a:blipFill>
                <a:blip r:embed="rId2"/>
                <a:stretch>
                  <a:fillRect t="-1624" r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GA</a:t>
            </a:r>
          </a:p>
        </p:txBody>
      </p:sp>
    </p:spTree>
    <p:extLst>
      <p:ext uri="{BB962C8B-B14F-4D97-AF65-F5344CB8AC3E}">
        <p14:creationId xmlns:p14="http://schemas.microsoft.com/office/powerpoint/2010/main" val="441587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1E0236-40DC-43A6-B565-9E50C49D69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1591235"/>
                <a:ext cx="8382000" cy="5257800"/>
              </a:xfrm>
            </p:spPr>
            <p:txBody>
              <a:bodyPr>
                <a:noAutofit/>
              </a:bodyPr>
              <a:lstStyle/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800" dirty="0"/>
                  <a:t>Bước 4: </a:t>
                </a:r>
                <a:r>
                  <a:rPr lang="en-US" altLang="en-US" sz="2800" dirty="0" err="1"/>
                  <a:t>Chọn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lọc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sinh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tồn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theo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chế</a:t>
                </a:r>
                <a:r>
                  <a:rPr lang="en-US" altLang="en-US" sz="2800" dirty="0"/>
                  <a:t>:</a:t>
                </a:r>
              </a:p>
              <a:p>
                <a:pPr marL="0" indent="0" algn="ctr">
                  <a:spcBef>
                    <a:spcPts val="300"/>
                  </a:spcBef>
                  <a:spcAft>
                    <a:spcPts val="3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en-US" sz="2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en-US" sz="2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en-US" sz="2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en-US" sz="2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𝑐h</m:t>
                      </m:r>
                      <m:r>
                        <a:rPr lang="en-US" altLang="en-US" sz="2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ọ</m:t>
                      </m:r>
                      <m:r>
                        <a:rPr lang="en-US" altLang="en-US" sz="2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n-US" altLang="en-US" sz="2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en-US" sz="2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𝑙</m:t>
                      </m:r>
                      <m:r>
                        <a:rPr lang="en-US" altLang="en-US" sz="2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ọ</m:t>
                      </m:r>
                      <m:r>
                        <a:rPr lang="en-US" altLang="en-US" sz="2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altLang="en-US" sz="2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en-US" sz="2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𝑒𝑙𝑖𝑡𝑖𝑠𝑚</m:t>
                      </m:r>
                      <m:r>
                        <a:rPr lang="en-US" altLang="en-US" sz="2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en-US" sz="2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en-US" sz="2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en-US" sz="2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en-US" sz="2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en-US" sz="2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en-US" sz="2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en-US" sz="2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en-US" sz="2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2500" dirty="0"/>
              </a:p>
              <a:p>
                <a:pPr lvl="1"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400" dirty="0" err="1"/>
                  <a:t>Giả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sử</a:t>
                </a: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en-US" sz="2400" i="1" dirty="0"/>
                  <a:t> </a:t>
                </a:r>
                <a:r>
                  <a:rPr lang="en-US" altLang="en-US" sz="2400" dirty="0" err="1"/>
                  <a:t>gồm</a:t>
                </a:r>
                <a:r>
                  <a:rPr lang="en-US" altLang="en-US" sz="2400" dirty="0"/>
                  <a:t> 10 </a:t>
                </a:r>
                <a:r>
                  <a:rPr lang="en-US" altLang="en-US" sz="2400" dirty="0" err="1"/>
                  <a:t>cá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thể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được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tạo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ra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như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sau</a:t>
                </a:r>
                <a:r>
                  <a:rPr lang="en-US" altLang="en-US" sz="2400" dirty="0"/>
                  <a:t>:</a:t>
                </a:r>
              </a:p>
              <a:p>
                <a:pPr marL="365760" lvl="1" indent="0" algn="just"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en-US" altLang="en-US" sz="2500" i="1" dirty="0"/>
              </a:p>
              <a:p>
                <a:pPr marL="365760" lvl="1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en-US" alt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1E0236-40DC-43A6-B565-9E50C49D69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591235"/>
                <a:ext cx="8382000" cy="5257800"/>
              </a:xfrm>
              <a:blipFill>
                <a:blip r:embed="rId2"/>
                <a:stretch>
                  <a:fillRect l="-1309" t="-1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962" y="3124200"/>
            <a:ext cx="5172075" cy="283845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GA</a:t>
            </a:r>
          </a:p>
        </p:txBody>
      </p:sp>
    </p:spTree>
    <p:extLst>
      <p:ext uri="{BB962C8B-B14F-4D97-AF65-F5344CB8AC3E}">
        <p14:creationId xmlns:p14="http://schemas.microsoft.com/office/powerpoint/2010/main" val="46446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1E0236-40DC-43A6-B565-9E50C49D69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1600200"/>
                <a:ext cx="8458200" cy="5181600"/>
              </a:xfrm>
            </p:spPr>
            <p:txBody>
              <a:bodyPr>
                <a:noAutofit/>
              </a:bodyPr>
              <a:lstStyle/>
              <a:p>
                <a:pPr lvl="1"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400" dirty="0"/>
                  <a:t>Đánh </a:t>
                </a:r>
                <a:r>
                  <a:rPr lang="en-US" altLang="en-US" sz="2400" dirty="0" err="1"/>
                  <a:t>giá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các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cá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thể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trong</a:t>
                </a: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en-US" sz="2400" dirty="0"/>
                  <a:t>, </a:t>
                </a:r>
                <a:r>
                  <a:rPr lang="en-US" altLang="en-US" sz="2400" dirty="0" err="1"/>
                  <a:t>quần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thể</a:t>
                </a: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gồm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các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cá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thể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và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độ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thích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nghi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như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sau</a:t>
                </a:r>
                <a:r>
                  <a:rPr lang="en-US" altLang="en-US" sz="2400" dirty="0"/>
                  <a:t>:</a:t>
                </a:r>
              </a:p>
              <a:p>
                <a:pPr marL="365760" lvl="1" indent="0" algn="just"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en-US" altLang="en-US" sz="2500" dirty="0"/>
              </a:p>
              <a:p>
                <a:pPr lvl="2">
                  <a:spcBef>
                    <a:spcPts val="300"/>
                  </a:spcBef>
                  <a:spcAft>
                    <a:spcPts val="300"/>
                  </a:spcAft>
                </a:pPr>
                <a:endParaRPr lang="en-US" altLang="en-US" sz="2500" dirty="0"/>
              </a:p>
              <a:p>
                <a:pPr marL="365760" lvl="1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en-US" altLang="en-US" sz="25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1E0236-40DC-43A6-B565-9E50C49D69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600200"/>
                <a:ext cx="8458200" cy="5181600"/>
              </a:xfrm>
              <a:blipFill>
                <a:blip r:embed="rId2"/>
                <a:stretch>
                  <a:fillRect t="-1647" r="-2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209" y="2362200"/>
            <a:ext cx="5869782" cy="3859591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GA</a:t>
            </a:r>
          </a:p>
        </p:txBody>
      </p:sp>
    </p:spTree>
    <p:extLst>
      <p:ext uri="{BB962C8B-B14F-4D97-AF65-F5344CB8AC3E}">
        <p14:creationId xmlns:p14="http://schemas.microsoft.com/office/powerpoint/2010/main" val="3527391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1E0236-40DC-43A6-B565-9E50C49D69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1591235"/>
                <a:ext cx="8458200" cy="5257800"/>
              </a:xfrm>
            </p:spPr>
            <p:txBody>
              <a:bodyPr>
                <a:noAutofit/>
              </a:bodyPr>
              <a:lstStyle/>
              <a:p>
                <a:pPr lvl="1"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400" dirty="0"/>
                  <a:t>Sử </a:t>
                </a:r>
                <a:r>
                  <a:rPr lang="en-US" altLang="en-US" sz="2400" dirty="0" err="1"/>
                  <a:t>dụng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phép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chọn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lọc</a:t>
                </a:r>
                <a:r>
                  <a:rPr lang="en-US" altLang="en-US" sz="2400" dirty="0"/>
                  <a:t> </a:t>
                </a:r>
                <a:r>
                  <a:rPr lang="en-US" altLang="en-US" sz="2400" i="1" dirty="0"/>
                  <a:t>elitism </a:t>
                </a:r>
                <a:r>
                  <a:rPr lang="en-US" altLang="en-US" sz="2400" dirty="0" err="1"/>
                  <a:t>chọn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ra</a:t>
                </a: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10 </m:t>
                    </m:r>
                  </m:oMath>
                </a14:m>
                <a:r>
                  <a:rPr lang="en-US" altLang="en-US" sz="2400" dirty="0" err="1"/>
                  <a:t>cá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thể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tốt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nhất</a:t>
                </a:r>
                <a:r>
                  <a:rPr lang="en-US" altLang="en-US" sz="2400" dirty="0"/>
                  <a:t> (</a:t>
                </a:r>
                <a:r>
                  <a:rPr lang="en-US" altLang="en-US" sz="2400" dirty="0" err="1"/>
                  <a:t>khoanh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đỏ</a:t>
                </a:r>
                <a:r>
                  <a:rPr lang="en-US" altLang="en-US" sz="2400" dirty="0"/>
                  <a:t>) </a:t>
                </a:r>
                <a:r>
                  <a:rPr lang="en-US" altLang="en-US" sz="2400" dirty="0" err="1"/>
                  <a:t>từ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quần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thể</a:t>
                </a: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en-US" sz="2400" i="1" dirty="0"/>
                  <a:t>, </a:t>
                </a:r>
                <a:r>
                  <a:rPr lang="en-US" altLang="en-US" sz="2400" dirty="0" err="1"/>
                  <a:t>thu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được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quần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thể</a:t>
                </a: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en-US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en-US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+1 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en-US" sz="25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g</m:t>
                    </m:r>
                    <m:r>
                      <a:rPr lang="en-US" altLang="en-US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ồ</m:t>
                    </m:r>
                    <m:r>
                      <a:rPr lang="en-US" altLang="en-US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en-US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10 </m:t>
                    </m:r>
                    <m:r>
                      <m:rPr>
                        <m:sty m:val="p"/>
                      </m:rPr>
                      <a:rPr lang="en-US" altLang="en-US" sz="25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altLang="en-US" sz="25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á </m:t>
                    </m:r>
                    <m:r>
                      <m:rPr>
                        <m:sty m:val="p"/>
                      </m:rPr>
                      <a:rPr lang="en-US" altLang="en-US" sz="25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th</m:t>
                    </m:r>
                    <m:r>
                      <a:rPr lang="en-US" altLang="en-US" sz="25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ể </m:t>
                    </m:r>
                    <m:d>
                      <m:dPr>
                        <m:begChr m:val="{"/>
                        <m:endChr m:val="}"/>
                        <m:ctrlPr>
                          <a:rPr lang="en-US" altLang="en-US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en-US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5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en-US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en-US" sz="2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en-US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5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altLang="en-US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5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7</m:t>
                            </m:r>
                          </m:sub>
                        </m:sSub>
                        <m:r>
                          <a:rPr lang="en-US" altLang="en-US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5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sub>
                        </m:sSub>
                        <m:r>
                          <a:rPr lang="en-US" altLang="en-US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en-US" sz="2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en-US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en-US" sz="25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US" altLang="en-US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en-US" sz="25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7</m:t>
                            </m:r>
                          </m:sub>
                        </m:sSub>
                        <m:r>
                          <a:rPr lang="en-US" altLang="en-US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en-US" sz="25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sub>
                        </m:sSub>
                      </m:e>
                    </m:d>
                    <m:r>
                      <a:rPr lang="en-US" altLang="en-US" sz="25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altLang="en-US" sz="2500" dirty="0"/>
              </a:p>
              <a:p>
                <a:pPr lvl="1" algn="just">
                  <a:spcBef>
                    <a:spcPts val="300"/>
                  </a:spcBef>
                  <a:spcAft>
                    <a:spcPts val="300"/>
                  </a:spcAft>
                </a:pPr>
                <a:endParaRPr lang="en-US" altLang="en-US" sz="2500" i="1" dirty="0"/>
              </a:p>
              <a:p>
                <a:pPr marL="365760" lvl="1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en-US" alt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1E0236-40DC-43A6-B565-9E50C49D69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591235"/>
                <a:ext cx="8458200" cy="5257800"/>
              </a:xfrm>
              <a:blipFill>
                <a:blip r:embed="rId2"/>
                <a:stretch>
                  <a:fillRect t="-1622" r="-1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374" y="2743199"/>
            <a:ext cx="6057900" cy="3886201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GA</a:t>
            </a:r>
          </a:p>
        </p:txBody>
      </p:sp>
    </p:spTree>
    <p:extLst>
      <p:ext uri="{BB962C8B-B14F-4D97-AF65-F5344CB8AC3E}">
        <p14:creationId xmlns:p14="http://schemas.microsoft.com/office/powerpoint/2010/main" val="394971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1E0236-40DC-43A6-B565-9E50C49D69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1600200"/>
                <a:ext cx="8458200" cy="5257800"/>
              </a:xfrm>
            </p:spPr>
            <p:txBody>
              <a:bodyPr>
                <a:noAutofit/>
              </a:bodyPr>
              <a:lstStyle/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800" dirty="0" err="1"/>
                  <a:t>Bước</a:t>
                </a:r>
                <a:r>
                  <a:rPr lang="en-US" altLang="en-US" sz="2800" dirty="0"/>
                  <a:t> 5: </a:t>
                </a:r>
                <a:r>
                  <a:rPr lang="en-US" altLang="en-US" sz="2800" dirty="0" err="1"/>
                  <a:t>Kiểm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điều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kiện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dừng</a:t>
                </a:r>
                <a:endParaRPr lang="en-US" altLang="en-US" sz="2800" dirty="0"/>
              </a:p>
              <a:p>
                <a:pPr lvl="1"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400" dirty="0" err="1"/>
                  <a:t>Nếu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thỏa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mãn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điều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kiện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dừng</a:t>
                </a:r>
                <a:r>
                  <a:rPr lang="en-US" altLang="en-US" sz="2400" dirty="0"/>
                  <a:t>, </a:t>
                </a:r>
                <a:r>
                  <a:rPr lang="en-US" altLang="en-US" sz="2400" dirty="0" err="1"/>
                  <a:t>trả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về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lời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giải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của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bài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toán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là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cá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thể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tốt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nhất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của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quần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thể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cuối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cùng</a:t>
                </a:r>
                <a:r>
                  <a:rPr lang="en-US" altLang="en-US" sz="2400" dirty="0"/>
                  <a:t>.</a:t>
                </a:r>
              </a:p>
              <a:p>
                <a:pPr lvl="1"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400" dirty="0" err="1"/>
                  <a:t>Ngược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lại</a:t>
                </a:r>
                <a:r>
                  <a:rPr lang="en-US" altLang="en-US" sz="2400" dirty="0"/>
                  <a:t>, quay </a:t>
                </a:r>
                <a:r>
                  <a:rPr lang="en-US" altLang="en-US" sz="2400" dirty="0" err="1"/>
                  <a:t>lại</a:t>
                </a:r>
                <a:r>
                  <a:rPr lang="en-US" altLang="en-US" sz="2400" dirty="0"/>
                  <a:t> </a:t>
                </a:r>
                <a:r>
                  <a:rPr lang="en-US" altLang="en-US" sz="2400" dirty="0" err="1"/>
                  <a:t>bước</a:t>
                </a:r>
                <a:r>
                  <a:rPr lang="en-US" altLang="en-US" sz="2400" dirty="0"/>
                  <a:t> 3.</a:t>
                </a:r>
              </a:p>
              <a:p>
                <a:pPr marL="685800" lvl="2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en-US" altLang="en-US" sz="1800" dirty="0"/>
              </a:p>
              <a:p>
                <a:pPr marL="685800" lvl="2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altLang="en-US" sz="1800" dirty="0"/>
              </a:p>
              <a:p>
                <a:pPr marL="685800" lvl="2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en-US" altLang="en-US" sz="1800" dirty="0"/>
              </a:p>
              <a:p>
                <a:pPr marL="685800" lvl="2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en-US" altLang="en-US" sz="1800" dirty="0"/>
              </a:p>
              <a:p>
                <a:pPr marL="685800" lvl="2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en-US" altLang="en-US" sz="1800" dirty="0"/>
              </a:p>
              <a:p>
                <a:pPr lvl="2">
                  <a:spcBef>
                    <a:spcPts val="300"/>
                  </a:spcBef>
                  <a:spcAft>
                    <a:spcPts val="300"/>
                  </a:spcAft>
                </a:pPr>
                <a:endParaRPr lang="en-US" altLang="en-US" sz="1800" dirty="0"/>
              </a:p>
              <a:p>
                <a:pPr marL="365760" lvl="1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en-US" alt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1E0236-40DC-43A6-B565-9E50C49D69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600200"/>
                <a:ext cx="8458200" cy="5257800"/>
              </a:xfrm>
              <a:blipFill>
                <a:blip r:embed="rId2"/>
                <a:stretch>
                  <a:fillRect l="-1298" t="-2088" r="-2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GA</a:t>
            </a:r>
          </a:p>
        </p:txBody>
      </p:sp>
    </p:spTree>
    <p:extLst>
      <p:ext uri="{BB962C8B-B14F-4D97-AF65-F5344CB8AC3E}">
        <p14:creationId xmlns:p14="http://schemas.microsoft.com/office/powerpoint/2010/main" val="378673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1E0236-40DC-43A6-B565-9E50C49D69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2151" y="1243361"/>
                <a:ext cx="8458200" cy="5257800"/>
              </a:xfrm>
            </p:spPr>
            <p:txBody>
              <a:bodyPr>
                <a:noAutofit/>
              </a:bodyPr>
              <a:lstStyle/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en-US" sz="2800" dirty="0"/>
                  <a:t>Sau 100 </a:t>
                </a:r>
                <a:r>
                  <a:rPr lang="en-US" altLang="en-US" sz="2800" dirty="0" err="1"/>
                  <a:t>thế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hệ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lời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giải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được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thể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tốt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nhất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tại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quần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thể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𝑃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100</m:t>
                        </m:r>
                      </m:sub>
                    </m:sSub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.</m:t>
                    </m:r>
                  </m:oMath>
                </a14:m>
                <a:endParaRPr lang="en-US" altLang="en-US" sz="2400" dirty="0"/>
              </a:p>
              <a:p>
                <a:pPr marL="685800" lvl="2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en-US" altLang="en-US" sz="1800" dirty="0"/>
              </a:p>
              <a:p>
                <a:pPr marL="685800" lvl="2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altLang="en-US" sz="1800" dirty="0"/>
              </a:p>
              <a:p>
                <a:pPr marL="685800" lvl="2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en-US" altLang="en-US" sz="1800" dirty="0"/>
              </a:p>
              <a:p>
                <a:pPr marL="685800" lvl="2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en-US" altLang="en-US" sz="1800" dirty="0"/>
              </a:p>
              <a:p>
                <a:pPr marL="685800" lvl="2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en-US" altLang="en-US" sz="1800" dirty="0"/>
              </a:p>
              <a:p>
                <a:pPr lvl="2">
                  <a:spcBef>
                    <a:spcPts val="300"/>
                  </a:spcBef>
                  <a:spcAft>
                    <a:spcPts val="300"/>
                  </a:spcAft>
                </a:pPr>
                <a:endParaRPr lang="en-US" altLang="en-US" sz="1800" dirty="0"/>
              </a:p>
              <a:p>
                <a:pPr marL="365760" lvl="1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en-US" alt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1E0236-40DC-43A6-B565-9E50C49D69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2151" y="1243361"/>
                <a:ext cx="8458200" cy="5257800"/>
              </a:xfrm>
              <a:blipFill>
                <a:blip r:embed="rId2"/>
                <a:stretch>
                  <a:fillRect l="-1297" t="-2088" r="-1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4926346" y="5767112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</a:rPr>
              <a:t>Lời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</a:rPr>
              <a:t>giải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</a:rPr>
              <a:t>ghi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</a:rPr>
              <a:t>lại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</a:rPr>
              <a:t>tại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</a:rPr>
              <a:t>thế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</a:rPr>
              <a:t> 100.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17" y="2325725"/>
            <a:ext cx="4291612" cy="344138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5296" y="5767112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</a:rPr>
              <a:t>Xu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</a:rPr>
              <a:t>hướng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</a:rPr>
              <a:t>hội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</a:rPr>
              <a:t>tụ</a:t>
            </a:r>
            <a:r>
              <a:rPr lang="en-US" dirty="0">
                <a:latin typeface="Times New Roman" panose="02020603050405020304" pitchFamily="18" charset="0"/>
              </a:rPr>
              <a:t> qua 100 </a:t>
            </a:r>
            <a:r>
              <a:rPr lang="en-US" dirty="0" err="1">
                <a:latin typeface="Times New Roman" panose="02020603050405020304" pitchFamily="18" charset="0"/>
              </a:rPr>
              <a:t>thế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</a:rPr>
              <a:t>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502" y="2362200"/>
            <a:ext cx="3815698" cy="3100254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221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oICT-PPT-template-hoi-thao-onlin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SoICT-PPT-template-hoi-thao-online</Template>
  <TotalTime>6667</TotalTime>
  <Words>682</Words>
  <Application>Microsoft Office PowerPoint</Application>
  <PresentationFormat>On-screen Show (4:3)</PresentationFormat>
  <Paragraphs>205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Cambria Math</vt:lpstr>
      <vt:lpstr>等线</vt:lpstr>
      <vt:lpstr>等线 Light</vt:lpstr>
      <vt:lpstr>Segoe UI</vt:lpstr>
      <vt:lpstr>Times New Roman</vt:lpstr>
      <vt:lpstr>Wingdings</vt:lpstr>
      <vt:lpstr>SoICT-PPT-template-hoi-thao-online</vt:lpstr>
      <vt:lpstr>Minh hoạ GA cho bài toán TSP</vt:lpstr>
      <vt:lpstr>Bài toán TSP </vt:lpstr>
      <vt:lpstr>Bài toán TSP</vt:lpstr>
      <vt:lpstr>Mã hoá cá thể</vt:lpstr>
      <vt:lpstr>Giải mã cá thể</vt:lpstr>
      <vt:lpstr>Lai ghép</vt:lpstr>
      <vt:lpstr>Đột biến</vt:lpstr>
      <vt:lpstr>Chọn lọc</vt:lpstr>
      <vt:lpstr>Tham số cài đặt thuật toán GA</vt:lpstr>
      <vt:lpstr>Các bước của thuật toán GA</vt:lpstr>
      <vt:lpstr>Các bước của thuật toán GA</vt:lpstr>
      <vt:lpstr>Các bước của thuật toán GA</vt:lpstr>
      <vt:lpstr>Các bước của thuật toán GA</vt:lpstr>
      <vt:lpstr>Các bước của thuật toán GA</vt:lpstr>
      <vt:lpstr>Các bước của thuật toán GA</vt:lpstr>
      <vt:lpstr>Các bước của thuật toán GA</vt:lpstr>
      <vt:lpstr>Các bước của thuật toán GA</vt:lpstr>
      <vt:lpstr>Kết quả</vt:lpstr>
    </vt:vector>
  </TitlesOfParts>
  <Company>karaco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Particle Swarm Optimization (PSO)</dc:title>
  <dc:creator>Mansoor Nejati</dc:creator>
  <cp:lastModifiedBy>Admin</cp:lastModifiedBy>
  <cp:revision>540</cp:revision>
  <dcterms:created xsi:type="dcterms:W3CDTF">2011-12-06T18:21:43Z</dcterms:created>
  <dcterms:modified xsi:type="dcterms:W3CDTF">2023-10-19T07:53:40Z</dcterms:modified>
</cp:coreProperties>
</file>